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notesMasterIdLst>
    <p:notesMasterId r:id="rId39"/>
  </p:notesMaster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  <Relationship Id="rId3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隐性同质化？中国鸟类群落 25 年的检测校正评估</a:t>
            </a:r>
          </a:p>
          <a:p>
            <a:endParaRPr lang="zh-CN" dirty="0"/>
          </a:p>
          <a:p>
            <a:r>
              <a:rPr lang="zh-CN" dirty="0"/>
              <a:t>开场：这个报告要回答一个看似简单、其实很难的问题——中国的鸟真的变多了吗？还是我们只是看得更多了？</a:t>
            </a:r>
          </a:p>
          <a:p>
            <a:endParaRPr lang="zh-CN" dirty="0"/>
          </a:p>
          <a:p>
            <a:r>
              <a:rPr lang="zh-CN" dirty="0"/>
              <a:t>要点：以检测校正的公民科学数据，检验物种数增长背后是否存在功能同质化。</a:t>
            </a:r>
          </a:p>
          <a:p>
            <a:r>
              <a:rPr lang="zh-CN" dirty="0"/>
              <a:t>证据来源：MANUSCRIPT_GCB_v6_20260602.md、PROPOSAL_HIGH_IMPACT_REWRITE_20260602.md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四个部分：问题、方法、发现、意义</a:t>
            </a:r>
          </a:p>
          <a:p>
            <a:endParaRPr lang="zh-CN" dirty="0"/>
          </a:p>
          <a:p>
            <a:r>
              <a:rPr lang="zh-CN" dirty="0"/>
              <a:t>全程约 30 分钟，结果部分占一半以上时间。</a:t>
            </a:r>
          </a:p>
          <a:p>
            <a:endParaRPr lang="zh-CN" dirty="0"/>
          </a:p>
          <a:p>
            <a:r>
              <a:rPr lang="zh-CN" dirty="0"/>
              <a:t>要点：报告按背景与科学问题、数据与方法、核心发现、机制与启示四部分展开。</a:t>
            </a:r>
          </a:p>
          <a:p>
            <a:r>
              <a:rPr lang="zh-CN" dirty="0"/>
              <a:t>证据来源：MANUSCRIPT_GCB_v6_20260602.md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一、背景与科学问题</a:t>
            </a:r>
          </a:p>
          <a:p>
            <a:endParaRPr lang="zh-CN" dirty="0"/>
          </a:p>
          <a:p>
            <a:r>
              <a:rPr lang="zh-CN" dirty="0"/>
              <a:t>第一部分讲清楚：为什么这个问题现在必须回答。</a:t>
            </a:r>
          </a:p>
          <a:p>
            <a:endParaRPr lang="zh-CN" dirty="0"/>
          </a:p>
          <a:p>
            <a:r>
              <a:rPr lang="zh-CN" dirty="0"/>
              <a:t>要点：公民科学在扩张，而观测扩张本身会伪装成生物多样性增长。</a:t>
            </a:r>
          </a:p>
          <a:p>
            <a:r>
              <a:rPr lang="zh-CN" dirty="0"/>
              <a:t>证据来源：MANUSCRIPT_GCB_v6_20260602.md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文献脉络一：生物多样性在丧失，还是在重组？</a:t>
            </a:r>
          </a:p>
          <a:p>
            <a:endParaRPr lang="zh-CN" dirty="0"/>
          </a:p>
          <a:p>
            <a:r>
              <a:rPr lang="zh-CN" dirty="0"/>
              <a:t>这一页把全球争论摆出来。关键不是站队，而是指出：如果群落丢的是独特性而不是物种数，那么只报物种数的研究注定看不到退化。这为后面'该测哪个维度'埋下伏笔。</a:t>
            </a:r>
          </a:p>
          <a:p>
            <a:endParaRPr lang="zh-CN" dirty="0"/>
          </a:p>
          <a:p>
            <a:r>
              <a:rPr lang="zh-CN" dirty="0"/>
              <a:t>要点：全球尺度证据分为两派——灭绝与退化加剧（Pimm 2014；Díaz 2019；Daskalova 2020）vs 局域物种数无系统性损失（Dornelas 2014；Blowes 2019）；McGill 2015 与 Jarzyna &amp; Jetz 指出生物多样性变化有多种互不等价的形式，提示两派可能在测量不同维度。</a:t>
            </a:r>
          </a:p>
          <a:p>
            <a:r>
              <a:rPr lang="zh-CN" dirty="0"/>
              <a:t>证据来源：MANUSCRIPT_GCB_v6_20260602.md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公民科学已成为大尺度生物多样性评估的数据主体</a:t>
            </a:r>
          </a:p>
          <a:p>
            <a:endParaRPr lang="zh-CN" dirty="0"/>
          </a:p>
          <a:p>
            <a:r>
              <a:rPr lang="zh-CN" dirty="0"/>
              <a:t>Sullivan 2009、Callaghan 2020：eBird 等平台把生物多样性数据从稀缺变成海量。中国近 25 年观鸟人数增长数个量级。</a:t>
            </a:r>
          </a:p>
          <a:p>
            <a:endParaRPr lang="zh-CN" dirty="0"/>
          </a:p>
          <a:p>
            <a:r>
              <a:rPr lang="zh-CN" dirty="0"/>
              <a:t>要点：志愿者观测网络贡献了洲际生物多样性评估所依赖的大部分分布记录。</a:t>
            </a:r>
          </a:p>
          <a:p>
            <a:r>
              <a:rPr lang="zh-CN" dirty="0"/>
              <a:t>证据来源：MANUSCRIPT_GCB_v6_20260602.md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但记录会继承观测者的行为，观测扩张可伪装成生态增长</a:t>
            </a:r>
          </a:p>
          <a:p>
            <a:endParaRPr lang="zh-CN" dirty="0"/>
          </a:p>
          <a:p>
            <a:r>
              <a:rPr lang="zh-CN" dirty="0"/>
              <a:t>Boakes 2010、Bird 2014。这就是本研究要拆解的混淆：观测过程本身在随时间变化。</a:t>
            </a:r>
          </a:p>
          <a:p>
            <a:endParaRPr lang="zh-CN" dirty="0"/>
          </a:p>
          <a:p>
            <a:r>
              <a:rPr lang="zh-CN" dirty="0"/>
              <a:t>要点：努力随参与增长、观测者聚集于城市与道路、平台协议不同、物种可探测性各异，这些都会让每格记录到的物种数上升，而与生态无关。</a:t>
            </a:r>
          </a:p>
          <a:p>
            <a:r>
              <a:rPr lang="zh-CN" dirty="0"/>
              <a:t>证据来源：MANUSCRIPT_GCB_v6_20260602.md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文献脉络三：占域模型——从『看到了什么』到『存在什么』</a:t>
            </a:r>
          </a:p>
          <a:p>
            <a:endParaRPr lang="zh-CN" dirty="0"/>
          </a:p>
          <a:p>
            <a:r>
              <a:rPr lang="zh-CN" dirty="0"/>
              <a:t>用时间轴讲方法学发展。落点在最后一句：工具已经有了，但后验不确定性很少被传播到功能、系统发育与 beta 维度——这正是本研究要补的。</a:t>
            </a:r>
          </a:p>
          <a:p>
            <a:endParaRPr lang="zh-CN" dirty="0"/>
          </a:p>
          <a:p>
            <a:r>
              <a:rPr lang="zh-CN" dirty="0"/>
              <a:t>要点：自 MacKenzie 2003 动态占域模型起，经 Dorazio &amp; Royle 2005 多物种层级模型、Isaac 2014 公民科学统计方法、Guillera-Arroita 2017、Devarajan 2020 综述，至 Doser 2022 的 spOccupancy，检测校正方法学已成熟；但绝大多数应用仍止步于报告校正后的物种数。</a:t>
            </a:r>
          </a:p>
          <a:p>
            <a:r>
              <a:rPr lang="zh-CN" dirty="0"/>
              <a:t>证据来源：MANUSCRIPT_GCB_v6_20260602.md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文献脉络四：生物同质化——少数赢家取代多数输家</a:t>
            </a:r>
          </a:p>
          <a:p>
            <a:endParaRPr lang="zh-CN" dirty="0"/>
          </a:p>
          <a:p>
            <a:r>
              <a:rPr lang="zh-CN" dirty="0"/>
              <a:t>这页回答脉络一遗留的问题：该测哪个维度。核心洞察是冗余泛化种可以补上特化种的空位，于是物种数稳定甚至上升，但功能独特性在流失——这就是'物种数看不见的退化'。</a:t>
            </a:r>
          </a:p>
          <a:p>
            <a:endParaRPr lang="zh-CN" dirty="0"/>
          </a:p>
          <a:p>
            <a:r>
              <a:rPr lang="zh-CN" dirty="0"/>
              <a:t>要点：从 McKinney &amp; Lockwood 1999 提出概念、Olden &amp; Rooney 2006 给出量化判据，到 Devictor 2007 与 Clavel 2010 的鸟类功能同质化证据、Le Viol 2012 的欧洲泛化种增加趋势，这条脉络指明同质化是功能性的，需要功能、系统发育与 beta 维度才能被观测到。</a:t>
            </a:r>
          </a:p>
          <a:p>
            <a:r>
              <a:rPr lang="zh-CN" dirty="0"/>
              <a:t>证据来源：MANUSCRIPT_GCB_v6_20260602.md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四条脉络汇合：一个尚未被填补的交叉空缺</a:t>
            </a:r>
          </a:p>
          <a:p>
            <a:endParaRPr lang="zh-CN" dirty="0"/>
          </a:p>
          <a:p>
            <a:r>
              <a:rPr lang="zh-CN" dirty="0"/>
              <a:t>用表格把四条脉络的'已解决/留下的问题'并排呈现，最后一栏收到研究空缺。这是从文献综述过渡到科学问题的枢纽页，讲慢一点。</a:t>
            </a:r>
          </a:p>
          <a:p>
            <a:endParaRPr lang="zh-CN" dirty="0"/>
          </a:p>
          <a:p>
            <a:r>
              <a:rPr lang="zh-CN" dirty="0"/>
              <a:t>要点：四条脉络各自解决了一部分问题，也各自留下缺口：争论仍围绕物种数展开、观测扩张与生态变化难分离、检测校正止步于物种数、同质化证据大多未做检测校正。其交叉处即本研究定位——国家尺度上把检测校正同时传播到分类、功能、系统发育与 beta 维度的研究仍很少。</a:t>
            </a:r>
          </a:p>
          <a:p>
            <a:r>
              <a:rPr lang="zh-CN" dirty="0"/>
              <a:t>证据来源：MANUSCRIPT_GCB_v6_20260602.md、PROPOSAL_HIGH_IMPACT_REWRITE_20260602.md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核心问题：物种数上升，是恢复，还是隐性同质化？</a:t>
            </a:r>
          </a:p>
          <a:p>
            <a:endParaRPr lang="zh-CN" dirty="0"/>
          </a:p>
          <a:p>
            <a:r>
              <a:rPr lang="zh-CN" dirty="0"/>
              <a:t>把 H2 讲成对立假设：恢复 vs 同质化，这是全篇的转折点。</a:t>
            </a:r>
          </a:p>
          <a:p>
            <a:endParaRPr lang="zh-CN" dirty="0"/>
          </a:p>
          <a:p>
            <a:r>
              <a:rPr lang="zh-CN" dirty="0"/>
              <a:t>要点：当检测校正后的物种数在全国上升时，群落是获得了功能与组成的独特性（恢复），还是积累了冗余的广栖息地泛化种并趋同（同质化）？由此提出 H1-H5。</a:t>
            </a:r>
          </a:p>
          <a:p>
            <a:r>
              <a:rPr lang="zh-CN" dirty="0"/>
              <a:t>证据来源：MANUSCRIPT_GCB_v6_20260602.md、PROPOSAL_HIGH_IMPACT_REWRITE_20260602.md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二、数据与方法</a:t>
            </a:r>
          </a:p>
          <a:p>
            <a:endParaRPr lang="zh-CN" dirty="0"/>
          </a:p>
          <a:p>
            <a:r>
              <a:rPr lang="zh-CN" dirty="0"/>
              <a:t>方法部分控制在 6 分钟左右。</a:t>
            </a:r>
          </a:p>
          <a:p>
            <a:endParaRPr lang="zh-CN" dirty="0"/>
          </a:p>
          <a:p>
            <a:r>
              <a:rPr lang="zh-CN" dirty="0"/>
              <a:t>要点：用空间多物种动态占域模型分离潜在占域与检测概率，并把后验传播到多个多样性维度。</a:t>
            </a:r>
          </a:p>
          <a:p>
            <a:r>
              <a:rPr lang="zh-CN" dirty="0"/>
              <a:t>证据来源：MANUSCRIPT_GCB_v6_20260602.md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25 年、全国 1247 个网格、两套物种池的证据基础</a:t>
            </a:r>
          </a:p>
          <a:p>
            <a:endParaRPr lang="zh-CN" dirty="0"/>
          </a:p>
          <a:p>
            <a:r>
              <a:rPr lang="zh-CN" dirty="0"/>
              <a:t>source-aware 去重：按物种、日期、取整坐标、来源、观测者，去除同源重复而不合并跨平台真实记录。</a:t>
            </a:r>
          </a:p>
          <a:p>
            <a:endParaRPr lang="zh-CN" dirty="0"/>
          </a:p>
          <a:p>
            <a:r>
              <a:rPr lang="zh-CN" dirty="0"/>
              <a:t>要点：整合中国观鸟记录中心与 eBird 记录（未使用 GBIF），2000-2024 年，100 km 等积网格 1247 个有数据格点，5 个 5 年期。</a:t>
            </a:r>
          </a:p>
          <a:p>
            <a:r>
              <a:rPr lang="zh-CN" dirty="0"/>
              <a:t>证据来源：MANUSCRIPT_GCB_v6_20260602.md、RESEARCH_SYSTEMATIC_AUDIT_20260602.md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推断框架：把观测过程显式建模，再把不确定性向下传播</a:t>
            </a:r>
          </a:p>
          <a:p>
            <a:endParaRPr lang="zh-CN" dirty="0"/>
          </a:p>
          <a:p>
            <a:r>
              <a:rPr lang="zh-CN" dirty="0"/>
              <a:t>指着 Fig1 讲：关键不是画物种趋势图，而是把占域后验的不确定性一路带进所有下游指标。</a:t>
            </a:r>
          </a:p>
          <a:p>
            <a:endParaRPr lang="zh-CN" dirty="0"/>
          </a:p>
          <a:p>
            <a:r>
              <a:rPr lang="zh-CN" dirty="0"/>
              <a:t>要点：记录整合与去重 → 空间多物种动态占域校正 → 后验传播到分类/功能/系统发育/beta 维度 → 性状与驱动分析 → 朴素与校正对比。</a:t>
            </a:r>
          </a:p>
          <a:p>
            <a:r>
              <a:rPr lang="zh-CN" dirty="0"/>
              <a:t>证据来源：Fig1_inference_architecture.png、MANUSCRIPT_GCB_v6_20260602.md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主模型 stMsPGOcc 做空间推断，500 种 tMsPGOcc 只做广度检验</a:t>
            </a:r>
          </a:p>
          <a:p>
            <a:endParaRPr lang="zh-CN" dirty="0"/>
          </a:p>
          <a:p>
            <a:r>
              <a:rPr lang="zh-CN" dirty="0"/>
              <a:t>必须强调：500 种模型是 temporal、非空间，任何空间结论都不能用它。检测子模型含 log_events、log_duration、has_duration 与数据来源项。</a:t>
            </a:r>
          </a:p>
          <a:p>
            <a:endParaRPr lang="zh-CN" dirty="0"/>
          </a:p>
          <a:p>
            <a:r>
              <a:rPr lang="zh-CN" dirty="0"/>
              <a:t>要点：200 种空间模型含 NNGP 空间随机效应与 AR(1)，为唯一空间推断依据；500 种时间模型无空间结构，仅检验结论的物种池普适性。</a:t>
            </a:r>
          </a:p>
          <a:p>
            <a:r>
              <a:rPr lang="zh-CN" dirty="0"/>
              <a:t>证据来源：MANUSCRIPT_GCB_v6_20260602.md、RESEARCH_SYSTEMATIC_AUDIT_20260602.md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三、核心发现</a:t>
            </a:r>
          </a:p>
          <a:p>
            <a:endParaRPr lang="zh-CN" dirty="0"/>
          </a:p>
          <a:p>
            <a:r>
              <a:rPr lang="zh-CN" dirty="0"/>
              <a:t>结果部分是重头戏，约 12 分钟。</a:t>
            </a:r>
          </a:p>
          <a:p>
            <a:endParaRPr lang="zh-CN" dirty="0"/>
          </a:p>
          <a:p>
            <a:r>
              <a:rPr lang="zh-CN" dirty="0"/>
              <a:t>要点：物种数上升是真实的，但功能维度没有跟上，群落正在趋同。</a:t>
            </a:r>
          </a:p>
          <a:p>
            <a:r>
              <a:rPr lang="zh-CN" dirty="0"/>
              <a:t>证据来源：MANUSCRIPT_GCB_v6_20260602.md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H1 成立：检测校正后物种数仍上升约四分之一</a:t>
            </a:r>
          </a:p>
          <a:p>
            <a:endParaRPr lang="zh-CN" dirty="0"/>
          </a:p>
          <a:p>
            <a:r>
              <a:rPr lang="zh-CN" dirty="0"/>
              <a:t>4 链收敛：max R-hat 1.039（全部&lt;1.05），min ESS 70。这个上升经受住了检测校正。</a:t>
            </a:r>
          </a:p>
          <a:p>
            <a:endParaRPr lang="zh-CN" dirty="0"/>
          </a:p>
          <a:p>
            <a:r>
              <a:rPr lang="zh-CN" dirty="0"/>
              <a:t>要点：200 种空间模型中，每格校正后物种数从 79.2 单调升至 100.8（+27%）；Shannon 4.74→4.88，inverse Simpson 106.4→126.6；500 种模型重现同向且幅度更大（155.0→195.6）。</a:t>
            </a:r>
          </a:p>
          <a:p>
            <a:r>
              <a:rPr lang="zh-CN" dirty="0"/>
              <a:t>证据来源：MANUSCRIPT_GCB_v6_20260602.md、RESEARCH_SYSTEMATIC_AUDIT_20260602.md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多维多样性的空间格局在全国高度异质</a:t>
            </a:r>
          </a:p>
          <a:p>
            <a:endParaRPr lang="zh-CN" dirty="0"/>
          </a:p>
          <a:p>
            <a:r>
              <a:rPr lang="zh-CN" dirty="0"/>
              <a:t>指图：东部与湿地系统的格点值最高；所有地图统一 bbox，缺值格点显式显示为灰色而非伪装成无数据。</a:t>
            </a:r>
          </a:p>
          <a:p>
            <a:endParaRPr lang="zh-CN" dirty="0"/>
          </a:p>
          <a:p>
            <a:r>
              <a:rPr lang="zh-CN" dirty="0"/>
              <a:t>要点：校正后物种数、Shannon、功能与系统发育指标在全国呈现结构化的空间分异。</a:t>
            </a:r>
          </a:p>
          <a:p>
            <a:r>
              <a:rPr lang="zh-CN" dirty="0"/>
              <a:t>证据来源：Fig2_spatial_multidiversity.png、MANUSCRIPT_GCB_v6_20260602.md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趋势地理指纹显示分类增益与功能停滞并存</a:t>
            </a:r>
          </a:p>
          <a:p>
            <a:endParaRPr lang="zh-CN" dirty="0"/>
          </a:p>
          <a:p>
            <a:r>
              <a:rPr lang="zh-CN" dirty="0"/>
              <a:t>这一页是从量到形的过渡：不只是全国均值，空间上也看得到解耦。</a:t>
            </a:r>
          </a:p>
          <a:p>
            <a:endParaRPr lang="zh-CN" dirty="0"/>
          </a:p>
          <a:p>
            <a:r>
              <a:rPr lang="zh-CN" dirty="0"/>
              <a:t>要点：校正物种数趋势 z 分数与功能体积趋势 z 分数在空间上并不重合，功能维度普遍缺乏同等增长。</a:t>
            </a:r>
          </a:p>
          <a:p>
            <a:r>
              <a:rPr lang="zh-CN" dirty="0"/>
              <a:t>证据来源：Fig3_spatial_trend_fingerprints.png、MANUSCRIPT_GCB_v6_20260602.md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核心发现：分类维度上升，功能维度反向——多维解耦</a:t>
            </a:r>
          </a:p>
          <a:p>
            <a:endParaRPr lang="zh-CN" dirty="0"/>
          </a:p>
          <a:p>
            <a:r>
              <a:rPr lang="zh-CN" dirty="0"/>
              <a:t>全场最重要一页。功能体积 1.383→1.365、Rao's Q 1.705→1.680，5 期单调下降；幅度虽小但方向稳定。这否证了 H2 的恢复假设。</a:t>
            </a:r>
          </a:p>
          <a:p>
            <a:endParaRPr lang="zh-CN" dirty="0"/>
          </a:p>
          <a:p>
            <a:r>
              <a:rPr lang="zh-CN" dirty="0"/>
              <a:t>要点：物种数、Shannon 与 inverse Simpson 同步上升，而功能体积与 Rao's Q 未上升且逐期小幅下降（系统发育多样性因估计量有误暂不报告）；两套物种池给出一致方向。</a:t>
            </a:r>
          </a:p>
          <a:p>
            <a:r>
              <a:rPr lang="zh-CN" dirty="0"/>
              <a:t>证据来源：Fig4_multidiversity_decoupling.png、MANUSCRIPT_GCB_v6_20260602.md、RESEARCH_SYSTEMATIC_AUDIT_20260602.md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H3 成立：晚期群落变化由 turnover 转为 nestedness 主导</a:t>
            </a:r>
          </a:p>
          <a:p>
            <a:endParaRPr lang="zh-CN" dirty="0"/>
          </a:p>
          <a:p>
            <a:r>
              <a:rPr lang="zh-CN" dirty="0"/>
              <a:t>关键推理：物种数在升而 nestedness 主导，说明不是局域灭绝造成的贫化子集，而是广布种到处累积形成的嵌套超集。</a:t>
            </a:r>
          </a:p>
          <a:p>
            <a:endParaRPr lang="zh-CN" dirty="0"/>
          </a:p>
          <a:p>
            <a:r>
              <a:rPr lang="zh-CN" dirty="0"/>
              <a:t>要点：200 种模型 turnover 占比从 65.9% 降至 11.3%（95% CrI 上界仅 0.166），500 种模型从 75.7% 降至 19.5%，且同期物种数在上升。</a:t>
            </a:r>
          </a:p>
          <a:p>
            <a:r>
              <a:rPr lang="zh-CN" dirty="0"/>
              <a:t>证据来源：MANUSCRIPT_GCB_v6_20260602.md、RESEARCH_SYSTEMATIC_AUDIT_20260602.md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赢家是广栖息地泛化种，输家是山地林特化种</a:t>
            </a:r>
          </a:p>
          <a:p>
            <a:endParaRPr lang="zh-CN" dirty="0"/>
          </a:p>
          <a:p>
            <a:r>
              <a:rPr lang="zh-CN" dirty="0"/>
              <a:t>物种身份是描述性证据：赢家以水鸟和开阔生境种为主，200 种模型只有原鸽、黑冠山雀两个收缩种，山地森林鸟多见于 500 种模型的收缩种。性状关联的正式检验在下一页，而且是关联、不是已证实的机制。</a:t>
            </a:r>
          </a:p>
          <a:p>
            <a:endParaRPr lang="zh-CN" dirty="0"/>
          </a:p>
          <a:p>
            <a:r>
              <a:rPr lang="zh-CN" dirty="0"/>
              <a:t>要点：200 种模型中 136 种扩张、62 稳定、2 收缩；扩张种以水鸟、开阔地与人伴生类群为主，收缩种富集于狭域山地森林特化种。</a:t>
            </a:r>
          </a:p>
          <a:p>
            <a:r>
              <a:rPr lang="zh-CN" dirty="0"/>
              <a:t>证据来源：Fig5_reorganization_and_winners.png、MANUSCRIPT_GCB_v6_20260602.md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H5 成立：检测校正实质改变生态推断</a:t>
            </a:r>
          </a:p>
          <a:p>
            <a:endParaRPr lang="zh-CN" dirty="0"/>
          </a:p>
          <a:p>
            <a:r>
              <a:rPr lang="zh-CN" dirty="0"/>
              <a:t>朴素与校正趋势不一致的格点，正是未校正数据最会误导监测的地方，应优先地面验证。</a:t>
            </a:r>
          </a:p>
          <a:p>
            <a:endParaRPr lang="zh-CN" dirty="0"/>
          </a:p>
          <a:p>
            <a:r>
              <a:rPr lang="zh-CN" dirty="0"/>
              <a:t>要点：校正主要改变趋势幅度，并在 200 种模型 1247 格中的 37 格（3.0%）、500 种模型 25 格（2.0%）逆转趋势方向。</a:t>
            </a:r>
          </a:p>
          <a:p>
            <a:r>
              <a:rPr lang="zh-CN" dirty="0"/>
              <a:t>证据来源：Fig6_detection_bias_and_drivers.png、MANUSCRIPT_GCB_v6_20260602.md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四项检验削弱但未排除观测扩张这一替代解释</a:t>
            </a:r>
          </a:p>
          <a:p>
            <a:endParaRPr lang="zh-CN" dirty="0"/>
          </a:p>
          <a:p>
            <a:r>
              <a:rPr lang="zh-CN" dirty="0"/>
              <a:t>这是审稿人最会攻击的点，必须正面回答。另有两个结构性证据：校正只在少数格点逆转方向而非普遍抬高；功能维度与物种数反向，纯努力假象无法预测这一点。</a:t>
            </a:r>
          </a:p>
          <a:p>
            <a:endParaRPr lang="zh-CN" dirty="0"/>
          </a:p>
          <a:p>
            <a:r>
              <a:rPr lang="zh-CN" dirty="0"/>
              <a:t>要点：检测层吸收了努力增长（log_events 斜率 0.93）、努力饱和格点中物种数仍升（中位 4.1 种/期，n=30）、努力增长使检测概率升 0.32；来源检测项尚待补算（ΔWAIC），故只能说削弱、不能说排除。</a:t>
            </a:r>
          </a:p>
          <a:p>
            <a:r>
              <a:rPr lang="zh-CN" dirty="0"/>
              <a:t>证据来源：RESEARCH_SYSTEMATIC_AUDIT_20260602.md、MANUSCRIPT_GCB_v6_20260602.md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四、机制、意义与展望</a:t>
            </a:r>
          </a:p>
          <a:p>
            <a:endParaRPr lang="zh-CN" dirty="0"/>
          </a:p>
          <a:p>
            <a:r>
              <a:rPr lang="zh-CN" dirty="0"/>
              <a:t>最后一部分约 8 分钟。</a:t>
            </a:r>
          </a:p>
          <a:p>
            <a:endParaRPr lang="zh-CN" dirty="0"/>
          </a:p>
          <a:p>
            <a:r>
              <a:rPr lang="zh-CN" dirty="0"/>
              <a:t>要点：广栖息地是主导性状过滤，结论对全球生物多样性监测有普适含义。</a:t>
            </a:r>
          </a:p>
          <a:p>
            <a:r>
              <a:rPr lang="zh-CN" dirty="0"/>
              <a:t>证据来源：MANUSCRIPT_GCB_v6_20260602.md</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机制：广栖息地宽度是最强的单一性状预测因子</a:t>
            </a:r>
          </a:p>
          <a:p>
            <a:endParaRPr lang="zh-CN" dirty="0"/>
          </a:p>
          <a:p>
            <a:r>
              <a:rPr lang="zh-CN" dirty="0"/>
              <a:t>变差分解显示基线空间结构解释最多（adj R²=0.14），气候变化 0.04、土地利用 0.01，残差 0.66。必须表述为空间结构化关联而非因果。</a:t>
            </a:r>
          </a:p>
          <a:p>
            <a:endParaRPr lang="zh-CN" dirty="0"/>
          </a:p>
          <a:p>
            <a:r>
              <a:rPr lang="zh-CN" dirty="0"/>
              <a:t>要点：200 种主模型中栖息地宽度与趋势斜率正相关（后验 ρ=0.34，0.27–0.40；500 种模型点估计 0.38），食性特化弱负相关；加入系统发育随机效应后栖息地宽度系数的 95% CrI 跨零，属关联而非已证实机制；趋势与农田、海拔、温度季节性、人类足迹正相关。</a:t>
            </a:r>
          </a:p>
          <a:p>
            <a:r>
              <a:rPr lang="zh-CN" dirty="0"/>
              <a:t>证据来源：MANUSCRIPT_GCB_v6_20260602.md、RESEARCH_SYSTEMATIC_AUDIT_20260602.md</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增长从何而来：湿地类群的定殖，而非气候追踪</a:t>
            </a:r>
          </a:p>
          <a:p>
            <a:endParaRPr lang="zh-CN" dirty="0"/>
          </a:p>
          <a:p>
            <a:r>
              <a:rPr lang="zh-CN" dirty="0"/>
              <a:t>这一页回答全场最常被问的问题：物种数为什么会增长。三步递进：先说明各期定殖都多于灭绝，末期定殖最多、灭绝也最少，是二者共同推动；再说明至少 47% 是范围外扩张（三个阈值都报）；最后指出增量集中在湿地类群。气候方面要讲准：纬度没有北移、CTI 末期反低，但海拔有小幅、可检出的上移，所以结论是气候追踪信号弱、不是主导，而不是完全排除。增益构成可能解释功能停滞，这是合理机制，仍待检验。</a:t>
            </a:r>
          </a:p>
          <a:p>
            <a:endParaRPr lang="zh-CN" dirty="0"/>
          </a:p>
          <a:p>
            <a:r>
              <a:rPr lang="zh-CN" dirty="0"/>
              <a:t>要点：各期期望定殖均多于灭绝（比值 1.16、1.25、1.18、1.63），末期定殖最多（33,261）、灭绝最少（20,417），净增长由二者共同推动；至少 47% 的增量发生在原核心分布区之外；湿地类群以 21.5% 的物种贡献 38.0% 的增量。纬度无北移、CTI 末期反低、海拔仅小幅上移（中位 +5.6 m，p = 0.012），不符合气候追踪的组合特征。增益集中于单一生境类群，是性状空间未随物种数扩张的一个合理机制。</a:t>
            </a:r>
          </a:p>
          <a:p>
            <a:r>
              <a:rPr lang="zh-CN" dirty="0"/>
              <a:t>证据来源：MANUSCRIPT_v7_TOPJOURNAL_20260728.md、RESULTS_VERIFICATION_20260728.md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保护区做到了什么：抑制趋同，但未改变功能轨迹</a:t>
            </a:r>
          </a:p>
          <a:p>
            <a:endParaRPr lang="zh-CN" dirty="0"/>
          </a:p>
          <a:p>
            <a:r>
              <a:rPr lang="zh-CN" dirty="0"/>
              <a:t>分寸很重要：一个正向结果、两个零结果，都要讲。正向的是群落趋同速率——唯一 CI 不含 0 的结果，但它是非匹配比较，只能算关联。匹配设计只有 76 对（152 格）。零结果要讲清是检验力与数据覆盖所限，不是断言保护无效。最后的陷阱一定要讲：高保护网格基线物种数低 20%、功能体积却最高，保护区建在偏远高海拔；未控基线的交互项看着显著，控了基线的匹配设计就归零——这是选址差异不是保护效应。</a:t>
            </a:r>
          </a:p>
          <a:p>
            <a:endParaRPr lang="zh-CN" dirty="0"/>
          </a:p>
          <a:p>
            <a:r>
              <a:rPr lang="zh-CN" dirty="0"/>
              <a:t>要点：保护地内空间 beta 的下降速率显著慢于区外（−0.0146 vs −0.0225，差值 +0.0079，95% bootstrap 区间 [0.0005, 0.0164] 不含 0），说明保护抑制了群落趋同；但匹配处理效应在所有多样性趋势上均为零，保护年限的剂量-反应亦无实质关系（r = +0.08）。看似显著的 period×保护交互实为选址偏倚。</a:t>
            </a:r>
          </a:p>
          <a:p>
            <a:r>
              <a:rPr lang="zh-CN" dirty="0"/>
              <a:t>证据来源：MANUSCRIPT_v7_TOPJOURNAL_20260728.md、RESULTS_VERIFICATION_20260728.md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调和全球争论：局域物种数上升与群落退化可以并存</a:t>
            </a:r>
          </a:p>
          <a:p>
            <a:endParaRPr lang="zh-CN" dirty="0"/>
          </a:p>
          <a:p>
            <a:r>
              <a:rPr lang="zh-CN" dirty="0"/>
              <a:t>Dornelas 2014、Blowes 2019、McGill 2015、Jarzyna &amp; Jetz 2018。这是本研究对全球变化生态学的概念贡献。</a:t>
            </a:r>
          </a:p>
          <a:p>
            <a:endParaRPr lang="zh-CN" dirty="0"/>
          </a:p>
          <a:p>
            <a:r>
              <a:rPr lang="zh-CN" dirty="0"/>
              <a:t>要点：群落时间序列常显示组成变化而无系统性物种数损失；本研究给出第三种解读——局域物种数可上升而功能空间并未随之扩张，两者描述同一重组过程的不同侧面。</a:t>
            </a:r>
          </a:p>
          <a:p>
            <a:r>
              <a:rPr lang="zh-CN" dirty="0"/>
              <a:t>证据来源：MANUSCRIPT_GCB_v6_20260602.md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对生物多样性监测的启示：校正物种数还不够</a:t>
            </a:r>
          </a:p>
          <a:p>
            <a:endParaRPr lang="zh-CN" dirty="0"/>
          </a:p>
          <a:p>
            <a:r>
              <a:rPr lang="zh-CN" dirty="0"/>
              <a:t>Isaac 2014、Jetz 2019 EBV、Outhwaite 2020。三条保护启示：优先地面验证朴素-校正不一致格点；关注被总量增益掩盖的山地林特化种；生物多样性目标需补充功能与组成指标。</a:t>
            </a:r>
          </a:p>
          <a:p>
            <a:endParaRPr lang="zh-CN" dirty="0"/>
          </a:p>
          <a:p>
            <a:r>
              <a:rPr lang="zh-CN" dirty="0"/>
              <a:t>要点：检测校正是必要但不充分的；必须把校正传播到功能与组成维度，否则监测系统可能把功能停滞误读为恢复。</a:t>
            </a:r>
          </a:p>
          <a:p>
            <a:r>
              <a:rPr lang="zh-CN" dirty="0"/>
              <a:t>证据来源：MANUSCRIPT_GCB_v6_20260602.md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局限与正在推进的三项工作</a:t>
            </a:r>
          </a:p>
          <a:p>
            <a:endParaRPr lang="zh-CN" dirty="0"/>
          </a:p>
          <a:p>
            <a:r>
              <a:rPr lang="zh-CN" dirty="0"/>
              <a:t>诚实交代：主模型存在已知设定问题（经纬度坐标与空间先验、约 62% 网格协变量中位数填补、13/38 个参数未达 R̂ 1.01），计划重拟合，今天的数字是当前最佳估计。三年窗口重拟合、全国空间 beta 趋势、功能斜率后验概率、来源项 ΔWAIC 与修正后的系统发育指标都待完成，完成后再锁定最终表述。</a:t>
            </a:r>
          </a:p>
          <a:p>
            <a:endParaRPr lang="zh-CN" dirty="0"/>
          </a:p>
          <a:p>
            <a:r>
              <a:rPr lang="zh-CN" dirty="0"/>
              <a:t>要点：500 种模型非空间、性状机制为完备样本 n=200、5 年期为松弛闭合近似；正在补算空间 beta、功能斜率后验概率与来源检测项。</a:t>
            </a:r>
          </a:p>
          <a:p>
            <a:r>
              <a:rPr lang="zh-CN" dirty="0"/>
              <a:t>证据来源：RESEARCH_SYSTEMATIC_AUDIT_20260602.md、PROPOSAL_HIGH_IMPACT_REWRITE_20260602.md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数据、代码与文献可追溯</a:t>
            </a:r>
          </a:p>
          <a:p>
            <a:endParaRPr lang="zh-CN" dirty="0"/>
          </a:p>
          <a:p>
            <a:r>
              <a:rPr lang="zh-CN" dirty="0"/>
              <a:t>开源仓库 github.com/dingchenchen6/china-bird-community-dynamics；原始记录受数据提供方条款约束。</a:t>
            </a:r>
          </a:p>
          <a:p>
            <a:endParaRPr lang="zh-CN" dirty="0"/>
          </a:p>
          <a:p>
            <a:r>
              <a:rPr lang="zh-CN" dirty="0"/>
              <a:t>要点：分析代码、结果表与图件已开源归档，GCB 版稿件 114 条参考文献中 113 条 DOI 经 Crossref/DataCite 核验（1 本专著无 DOI）。</a:t>
            </a:r>
          </a:p>
          <a:p>
            <a:r>
              <a:rPr lang="zh-CN" dirty="0"/>
              <a:t>证据来源：MANUSCRIPT_GCB_v6_20260602.md、RESEARCH_SYSTEMATIC_AUDIT_20260602.md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结论：物种数在增长，功能空间却未扩张</a:t>
            </a:r>
          </a:p>
          <a:p>
            <a:endParaRPr lang="zh-CN" dirty="0"/>
          </a:p>
          <a:p>
            <a:r>
              <a:rPr lang="zh-CN" dirty="0"/>
              <a:t>落板结论页收尾，不用泛泛的致谢页。最后一句：不要在还没看功能维度之前，就把变化叫作恢复。</a:t>
            </a:r>
          </a:p>
          <a:p>
            <a:endParaRPr lang="zh-CN" dirty="0"/>
          </a:p>
          <a:p>
            <a:r>
              <a:rPr lang="zh-CN" dirty="0"/>
              <a:t>要点：检测校正后中国鸟类物种数上升约四分之一，但功能空间未同步扩张、群落趋于嵌套、扩张由广栖息地泛化种主导；公民科学时代的生物多样性推断必须先建模可探测性，再越过物种数看多维结构。</a:t>
            </a:r>
          </a:p>
          <a:p>
            <a:r>
              <a:rPr lang="zh-CN" dirty="0"/>
              <a:t>证据来源：MANUSCRIPT_GCB_v6_20260602.md、Fig4_multidiversity_decoupling.png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3c8224d8c682778.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60e36e0183169fa.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c86f2bc0dce06689.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fdc97bcd6ce09a1.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f58c88fa062f88d.pn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c6eda84791e22a3.png"/>
  <Relationship Id="rId3"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12395E"/>
          </a:solidFill>
          <a:ln>
            <a:noFill/>
          </a:ln>
        </p:spPr>
      </p:sp>
      <p:sp>
        <p:nvSpPr>
          <p:cNvPr id="3" name="Rectangle 3"/>
          <p:cNvSpPr/>
          <p:nvPr/>
        </p:nvSpPr>
        <p:spPr>
          <a:xfrm>
            <a:off x="0" y="0"/>
            <a:ext cx="12192000" cy="6858000"/>
          </a:xfrm>
          <a:prstGeom prst="rect">
            <a:avLst/>
          </a:prstGeom>
          <a:solidFill>
            <a:srgbClr val="0F2740">
              <a:alpha val="35000"/>
            </a:srgbClr>
          </a:solidFill>
          <a:ln>
            <a:noFill/>
          </a:ln>
        </p:spPr>
      </p:sp>
      <p:grpSp>
        <p:nvGrpSpPr>
          <p:cNvPr id="9" name="Group 9"/>
          <p:cNvGrpSpPr/>
          <p:nvPr/>
        </p:nvGrpSpPr>
        <p:grpSpPr>
          <a:xfrm>
            <a:off x="9334500" y="1123950"/>
            <a:ext cx="1428750" cy="1447800"/>
            <a:chOff x="9334500" y="1123950"/>
            <a:chExt cx="1428750" cy="1447800"/>
          </a:xfrm>
        </p:grpSpPr>
        <p:sp>
          <p:nvSpPr>
            <p:cNvPr id="4" name="Rectangle 4"/>
            <p:cNvSpPr/>
            <p:nvPr/>
          </p:nvSpPr>
          <p:spPr>
            <a:xfrm>
              <a:off x="9334500" y="1428750"/>
              <a:ext cx="133350" cy="1143000"/>
            </a:xfrm>
            <a:prstGeom prst="roundRect">
              <a:avLst>
                <a:gd name="adj" fmla="val 50000"/>
              </a:avLst>
            </a:prstGeom>
            <a:solidFill>
              <a:srgbClr val="2E75B6">
                <a:alpha val="30000"/>
              </a:srgbClr>
            </a:solidFill>
            <a:ln>
              <a:noFill/>
            </a:ln>
          </p:spPr>
        </p:sp>
        <p:sp>
          <p:nvSpPr>
            <p:cNvPr id="5" name="Rectangle 5"/>
            <p:cNvSpPr/>
            <p:nvPr/>
          </p:nvSpPr>
          <p:spPr>
            <a:xfrm>
              <a:off x="9658350" y="1123950"/>
              <a:ext cx="133350" cy="1447800"/>
            </a:xfrm>
            <a:prstGeom prst="roundRect">
              <a:avLst>
                <a:gd name="adj" fmla="val 50000"/>
              </a:avLst>
            </a:prstGeom>
            <a:solidFill>
              <a:srgbClr val="2E75B6">
                <a:alpha val="30000"/>
              </a:srgbClr>
            </a:solidFill>
            <a:ln>
              <a:noFill/>
            </a:ln>
          </p:spPr>
        </p:sp>
        <p:sp>
          <p:nvSpPr>
            <p:cNvPr id="6" name="Rectangle 6"/>
            <p:cNvSpPr/>
            <p:nvPr/>
          </p:nvSpPr>
          <p:spPr>
            <a:xfrm>
              <a:off x="9982200" y="1676400"/>
              <a:ext cx="133350" cy="895350"/>
            </a:xfrm>
            <a:prstGeom prst="roundRect">
              <a:avLst>
                <a:gd name="adj" fmla="val 50000"/>
              </a:avLst>
            </a:prstGeom>
            <a:solidFill>
              <a:srgbClr val="C9709A">
                <a:alpha val="30000"/>
              </a:srgbClr>
            </a:solidFill>
            <a:ln>
              <a:noFill/>
            </a:ln>
          </p:spPr>
        </p:sp>
        <p:sp>
          <p:nvSpPr>
            <p:cNvPr id="7" name="Rectangle 7"/>
            <p:cNvSpPr/>
            <p:nvPr/>
          </p:nvSpPr>
          <p:spPr>
            <a:xfrm>
              <a:off x="10306050" y="2019300"/>
              <a:ext cx="133350" cy="552450"/>
            </a:xfrm>
            <a:prstGeom prst="roundRect">
              <a:avLst>
                <a:gd name="adj" fmla="val 50000"/>
              </a:avLst>
            </a:prstGeom>
            <a:solidFill>
              <a:srgbClr val="D97A34">
                <a:alpha val="30000"/>
              </a:srgbClr>
            </a:solidFill>
            <a:ln>
              <a:noFill/>
            </a:ln>
          </p:spPr>
        </p:sp>
        <p:sp>
          <p:nvSpPr>
            <p:cNvPr id="8" name="Rectangle 8"/>
            <p:cNvSpPr/>
            <p:nvPr/>
          </p:nvSpPr>
          <p:spPr>
            <a:xfrm>
              <a:off x="10629900" y="2171700"/>
              <a:ext cx="133350" cy="400050"/>
            </a:xfrm>
            <a:prstGeom prst="roundRect">
              <a:avLst>
                <a:gd name="adj" fmla="val 50000"/>
              </a:avLst>
            </a:prstGeom>
            <a:solidFill>
              <a:srgbClr val="D97A34">
                <a:alpha val="30000"/>
              </a:srgbClr>
            </a:solidFill>
            <a:ln>
              <a:noFill/>
            </a:ln>
          </p:spPr>
        </p:sp>
      </p:grpSp>
      <p:grpSp>
        <p:nvGrpSpPr>
          <p:cNvPr id="12" name="Group 12"/>
          <p:cNvGrpSpPr/>
          <p:nvPr/>
        </p:nvGrpSpPr>
        <p:grpSpPr>
          <a:xfrm>
            <a:off x="9322118" y="2752249"/>
            <a:ext cx="1565910" cy="198120"/>
            <a:chOff x="9322118" y="2752249"/>
            <a:chExt cx="1565910" cy="198120"/>
          </a:xfrm>
        </p:grpSpPr>
        <p:sp>
          <p:nvSpPr>
            <p:cNvPr id="10" name="TextBox 10"/>
            <p:cNvSpPr txBox="1"/>
            <p:nvPr/>
          </p:nvSpPr>
          <p:spPr>
            <a:xfrm>
              <a:off x="9322118" y="2752249"/>
              <a:ext cx="594360" cy="198120"/>
            </a:xfrm>
            <a:prstGeom prst="rect">
              <a:avLst/>
            </a:prstGeom>
            <a:noFill/>
            <a:ln>
              <a:noFill/>
            </a:ln>
          </p:spPr>
          <p:txBody>
            <a:bodyPr wrap="none" lIns="0" tIns="0" rIns="0" bIns="0" anchor="t" anchorCtr="0">
              <a:spAutoFit/>
            </a:bodyPr>
            <a:lstStyle/>
            <a:p>
              <a:pPr algn="l"/>
              <a:r>
                <a:rPr lang="zh-CN" sz="975" dirty="0">
                  <a:solidFill>
                    <a:srgbClr val="9FB6CC">
                      <a:alphaMod val="55000"/>
                    </a:srgbClr>
                  </a:solidFill>
                  <a:latin typeface="Segoe UI"/>
                  <a:ea typeface="Microsoft YaHei"/>
                  <a:cs typeface="Segoe UI"/>
                </a:rPr>
                <a:t>分类维度</a:t>
              </a:r>
            </a:p>
          </p:txBody>
        </p:sp>
        <p:sp>
          <p:nvSpPr>
            <p:cNvPr id="11" name="TextBox 11"/>
            <p:cNvSpPr txBox="1"/>
            <p:nvPr/>
          </p:nvSpPr>
          <p:spPr>
            <a:xfrm>
              <a:off x="10293668" y="2752249"/>
              <a:ext cx="594360" cy="198120"/>
            </a:xfrm>
            <a:prstGeom prst="rect">
              <a:avLst/>
            </a:prstGeom>
            <a:noFill/>
            <a:ln>
              <a:noFill/>
            </a:ln>
          </p:spPr>
          <p:txBody>
            <a:bodyPr wrap="none" lIns="0" tIns="0" rIns="0" bIns="0" anchor="t" anchorCtr="0">
              <a:spAutoFit/>
            </a:bodyPr>
            <a:lstStyle/>
            <a:p>
              <a:pPr algn="l"/>
              <a:r>
                <a:rPr lang="zh-CN" sz="975" dirty="0">
                  <a:solidFill>
                    <a:srgbClr val="E3A877">
                      <a:alphaMod val="55000"/>
                    </a:srgbClr>
                  </a:solidFill>
                  <a:latin typeface="Segoe UI"/>
                  <a:ea typeface="Microsoft YaHei"/>
                  <a:cs typeface="Segoe UI"/>
                </a:rPr>
                <a:t>功能维度</a:t>
              </a:r>
            </a:p>
          </p:txBody>
        </p:sp>
      </p:grpSp>
      <p:sp>
        <p:nvSpPr>
          <p:cNvPr id="13" name="Rectangle 13"/>
          <p:cNvSpPr/>
          <p:nvPr/>
        </p:nvSpPr>
        <p:spPr>
          <a:xfrm>
            <a:off x="685800" y="1866900"/>
            <a:ext cx="819150" cy="57150"/>
          </a:xfrm>
          <a:prstGeom prst="roundRect">
            <a:avLst>
              <a:gd name="adj" fmla="val 50000"/>
            </a:avLst>
          </a:prstGeom>
          <a:solidFill>
            <a:srgbClr val="D97A34"/>
          </a:solidFill>
          <a:ln>
            <a:noFill/>
          </a:ln>
        </p:spPr>
      </p:sp>
      <p:sp>
        <p:nvSpPr>
          <p:cNvPr id="14" name="TextBox 14"/>
          <p:cNvSpPr txBox="1"/>
          <p:nvPr/>
        </p:nvSpPr>
        <p:spPr>
          <a:xfrm>
            <a:off x="668655" y="1530668"/>
            <a:ext cx="2920822" cy="274320"/>
          </a:xfrm>
          <a:prstGeom prst="rect">
            <a:avLst/>
          </a:prstGeom>
          <a:noFill/>
          <a:ln>
            <a:noFill/>
          </a:ln>
        </p:spPr>
        <p:txBody>
          <a:bodyPr wrap="none" lIns="0" tIns="0" rIns="0" bIns="0" anchor="t" anchorCtr="0">
            <a:spAutoFit/>
          </a:bodyPr>
          <a:lstStyle/>
          <a:p>
            <a:pPr algn="l"/>
            <a:r>
              <a:rPr lang="zh-CN" sz="1350" dirty="0">
                <a:solidFill>
                  <a:srgbClr val="8FB0CC"/>
                </a:solidFill>
                <a:latin typeface="Segoe UI"/>
                <a:ea typeface="Microsoft YaHei"/>
                <a:cs typeface="Segoe UI"/>
              </a:rPr>
              <a:t>检测校正 · 多维生物多样性评估</a:t>
            </a:r>
          </a:p>
        </p:txBody>
      </p:sp>
      <p:sp>
        <p:nvSpPr>
          <p:cNvPr id="15" name="TextBox 15"/>
          <p:cNvSpPr txBox="1"/>
          <p:nvPr/>
        </p:nvSpPr>
        <p:spPr>
          <a:xfrm>
            <a:off x="634365" y="2286952"/>
            <a:ext cx="3864826" cy="822960"/>
          </a:xfrm>
          <a:prstGeom prst="rect">
            <a:avLst/>
          </a:prstGeom>
          <a:noFill/>
          <a:ln>
            <a:noFill/>
          </a:ln>
        </p:spPr>
        <p:txBody>
          <a:bodyPr wrap="none" lIns="0" tIns="0" rIns="0" bIns="0" anchor="t" anchorCtr="0">
            <a:spAutoFit/>
          </a:bodyPr>
          <a:lstStyle/>
          <a:p>
            <a:pPr algn="l"/>
            <a:r>
              <a:rPr lang="zh-CN" sz="4050" b="1" dirty="0">
                <a:solidFill>
                  <a:srgbClr val="FFFFFF"/>
                </a:solidFill>
                <a:latin typeface="Segoe UI"/>
                <a:ea typeface="Microsoft YaHei"/>
                <a:cs typeface="Segoe UI"/>
              </a:rPr>
              <a:t>隐性同质化？</a:t>
            </a:r>
          </a:p>
        </p:txBody>
      </p:sp>
      <p:sp>
        <p:nvSpPr>
          <p:cNvPr id="16" name="TextBox 16"/>
          <p:cNvSpPr txBox="1"/>
          <p:nvPr/>
        </p:nvSpPr>
        <p:spPr>
          <a:xfrm>
            <a:off x="653415" y="3077528"/>
            <a:ext cx="6278499" cy="518160"/>
          </a:xfrm>
          <a:prstGeom prst="rect">
            <a:avLst/>
          </a:prstGeom>
          <a:noFill/>
          <a:ln>
            <a:noFill/>
          </a:ln>
        </p:spPr>
        <p:txBody>
          <a:bodyPr wrap="none" lIns="0" tIns="0" rIns="0" bIns="0" anchor="t" anchorCtr="0">
            <a:spAutoFit/>
          </a:bodyPr>
          <a:lstStyle/>
          <a:p>
            <a:pPr algn="l"/>
            <a:r>
              <a:rPr lang="zh-CN" sz="2550" b="1" dirty="0">
                <a:solidFill>
                  <a:srgbClr val="9FC7EA"/>
                </a:solidFill>
                <a:latin typeface="Segoe UI"/>
                <a:ea typeface="Microsoft YaHei"/>
                <a:cs typeface="Segoe UI"/>
              </a:rPr>
              <a:t>中国鸟类群落 25 年的检测校正评估</a:t>
            </a:r>
          </a:p>
        </p:txBody>
      </p:sp>
      <p:sp>
        <p:nvSpPr>
          <p:cNvPr id="17" name="TextBox 17"/>
          <p:cNvSpPr txBox="1"/>
          <p:nvPr/>
        </p:nvSpPr>
        <p:spPr>
          <a:xfrm>
            <a:off x="666750" y="3819525"/>
            <a:ext cx="3762375" cy="304800"/>
          </a:xfrm>
          <a:prstGeom prst="rect">
            <a:avLst/>
          </a:prstGeom>
          <a:noFill/>
          <a:ln>
            <a:noFill/>
          </a:ln>
        </p:spPr>
        <p:txBody>
          <a:bodyPr wrap="none" lIns="0" tIns="0" rIns="0" bIns="0" anchor="t" anchorCtr="0">
            <a:spAutoFit/>
          </a:bodyPr>
          <a:lstStyle/>
          <a:p>
            <a:pPr algn="l"/>
            <a:r>
              <a:rPr lang="zh-CN" sz="1500" dirty="0">
                <a:solidFill>
                  <a:srgbClr val="C6D8E8"/>
                </a:solidFill>
                <a:latin typeface="Segoe UI"/>
                <a:ea typeface="Microsoft YaHei"/>
                <a:cs typeface="Segoe UI"/>
              </a:rPr>
              <a:t>物种数在增长，功能空间却未扩张——</a:t>
            </a:r>
          </a:p>
        </p:txBody>
      </p:sp>
      <p:sp>
        <p:nvSpPr>
          <p:cNvPr id="18" name="TextBox 18"/>
          <p:cNvSpPr txBox="1"/>
          <p:nvPr/>
        </p:nvSpPr>
        <p:spPr>
          <a:xfrm>
            <a:off x="666750" y="4143375"/>
            <a:ext cx="3762375" cy="304800"/>
          </a:xfrm>
          <a:prstGeom prst="rect">
            <a:avLst/>
          </a:prstGeom>
          <a:noFill/>
          <a:ln>
            <a:noFill/>
          </a:ln>
        </p:spPr>
        <p:txBody>
          <a:bodyPr wrap="none" lIns="0" tIns="0" rIns="0" bIns="0" anchor="t" anchorCtr="0">
            <a:spAutoFit/>
          </a:bodyPr>
          <a:lstStyle/>
          <a:p>
            <a:pPr algn="l"/>
            <a:r>
              <a:rPr lang="zh-CN" sz="1500" dirty="0">
                <a:solidFill>
                  <a:srgbClr val="C6D8E8"/>
                </a:solidFill>
                <a:latin typeface="Segoe UI"/>
                <a:ea typeface="Microsoft YaHei"/>
                <a:cs typeface="Segoe UI"/>
              </a:rPr>
              <a:t>当公民科学的观测扩张被显式建模之后</a:t>
            </a:r>
          </a:p>
        </p:txBody>
      </p:sp>
      <p:sp>
        <p:nvSpPr>
          <p:cNvPr id="19" name="Rectangle 19"/>
          <p:cNvSpPr/>
          <p:nvPr/>
        </p:nvSpPr>
        <p:spPr>
          <a:xfrm>
            <a:off x="685800" y="4629150"/>
            <a:ext cx="5334000" cy="9525"/>
          </a:xfrm>
          <a:prstGeom prst="rect">
            <a:avLst/>
          </a:prstGeom>
          <a:solidFill>
            <a:srgbClr val="3D5F80"/>
          </a:solidFill>
          <a:ln>
            <a:noFill/>
          </a:ln>
        </p:spPr>
      </p:sp>
      <p:sp>
        <p:nvSpPr>
          <p:cNvPr id="20" name="TextBox 20"/>
          <p:cNvSpPr txBox="1"/>
          <p:nvPr/>
        </p:nvSpPr>
        <p:spPr>
          <a:xfrm>
            <a:off x="664845" y="4851082"/>
            <a:ext cx="2616760"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Segoe UI"/>
                <a:ea typeface="Microsoft YaHei"/>
                <a:cs typeface="Segoe UI"/>
              </a:rPr>
              <a:t>丁晨晨 Chenchen Ding</a:t>
            </a:r>
          </a:p>
        </p:txBody>
      </p:sp>
      <p:sp>
        <p:nvSpPr>
          <p:cNvPr id="21" name="TextBox 21"/>
          <p:cNvSpPr txBox="1"/>
          <p:nvPr/>
        </p:nvSpPr>
        <p:spPr>
          <a:xfrm>
            <a:off x="668655" y="5207318"/>
            <a:ext cx="2550147" cy="274320"/>
          </a:xfrm>
          <a:prstGeom prst="rect">
            <a:avLst/>
          </a:prstGeom>
          <a:noFill/>
          <a:ln>
            <a:noFill/>
          </a:ln>
        </p:spPr>
        <p:txBody>
          <a:bodyPr wrap="none" lIns="0" tIns="0" rIns="0" bIns="0" anchor="t" anchorCtr="0">
            <a:spAutoFit/>
          </a:bodyPr>
          <a:lstStyle/>
          <a:p>
            <a:pPr algn="l"/>
            <a:r>
              <a:rPr lang="zh-CN" sz="1350" dirty="0">
                <a:solidFill>
                  <a:srgbClr val="A8C0D6"/>
                </a:solidFill>
                <a:latin typeface="Segoe UI"/>
                <a:ea typeface="Microsoft YaHei"/>
                <a:cs typeface="Segoe UI"/>
              </a:rPr>
              <a:t>北京大学 Peking University</a:t>
            </a:r>
          </a:p>
        </p:txBody>
      </p:sp>
      <p:sp>
        <p:nvSpPr>
          <p:cNvPr id="22" name="TextBox 22"/>
          <p:cNvSpPr txBox="1"/>
          <p:nvPr/>
        </p:nvSpPr>
        <p:spPr>
          <a:xfrm>
            <a:off x="671512" y="5974556"/>
            <a:ext cx="5126998" cy="228600"/>
          </a:xfrm>
          <a:prstGeom prst="rect">
            <a:avLst/>
          </a:prstGeom>
          <a:noFill/>
          <a:ln>
            <a:noFill/>
          </a:ln>
        </p:spPr>
        <p:txBody>
          <a:bodyPr wrap="none" lIns="0" tIns="0" rIns="0" bIns="0" anchor="t" anchorCtr="0">
            <a:spAutoFit/>
          </a:bodyPr>
          <a:lstStyle/>
          <a:p>
            <a:pPr algn="l"/>
            <a:r>
              <a:rPr lang="zh-CN" sz="1125" dirty="0">
                <a:solidFill>
                  <a:srgbClr val="7E9BB5"/>
                </a:solidFill>
                <a:latin typeface="Segoe UI"/>
                <a:ea typeface="Microsoft YaHei"/>
                <a:cs typeface="Segoe UI"/>
              </a:rPr>
              <a:t>2000–2024 · 100 km 网格 1,247 格 · 200 / 500 物种动态占域模型</a:t>
            </a:r>
          </a:p>
        </p:txBody>
      </p:sp>
      <p:sp>
        <p:nvSpPr>
          <p:cNvPr id="23" name="TextBox 23"/>
          <p:cNvSpPr txBox="1"/>
          <p:nvPr/>
        </p:nvSpPr>
        <p:spPr>
          <a:xfrm>
            <a:off x="11155489" y="6192202"/>
            <a:ext cx="364046" cy="213360"/>
          </a:xfrm>
          <a:prstGeom prst="rect">
            <a:avLst/>
          </a:prstGeom>
          <a:noFill/>
          <a:ln>
            <a:noFill/>
          </a:ln>
        </p:spPr>
        <p:txBody>
          <a:bodyPr wrap="none" lIns="0" tIns="0" rIns="0" bIns="0" anchor="t" anchorCtr="0">
            <a:spAutoFit/>
          </a:bodyPr>
          <a:lstStyle/>
          <a:p>
            <a:pPr algn="r"/>
            <a:r>
              <a:rPr lang="zh-CN" sz="1050" dirty="0">
                <a:solidFill>
                  <a:srgbClr val="6E8CA8"/>
                </a:solidFill>
                <a:latin typeface="Segoe UI"/>
                <a:ea typeface="Microsoft YaHei"/>
                <a:cs typeface="Segoe UI"/>
              </a:rPr>
              <a:t>2026</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6381140"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四个部分：问题、方法、发现、意义</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879455" y="801052"/>
            <a:ext cx="640080"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报告提纲</a:t>
            </a:r>
          </a:p>
        </p:txBody>
      </p:sp>
      <p:grpSp>
        <p:nvGrpSpPr>
          <p:cNvPr id="11" name="Group 11"/>
          <p:cNvGrpSpPr/>
          <p:nvPr/>
        </p:nvGrpSpPr>
        <p:grpSpPr>
          <a:xfrm>
            <a:off x="685800" y="1600200"/>
            <a:ext cx="5181600" cy="1066800"/>
            <a:chOff x="685800" y="1600200"/>
            <a:chExt cx="5181600" cy="1066800"/>
          </a:xfrm>
        </p:grpSpPr>
        <p:sp>
          <p:nvSpPr>
            <p:cNvPr id="6" name="Rectangle 6"/>
            <p:cNvSpPr/>
            <p:nvPr/>
          </p:nvSpPr>
          <p:spPr>
            <a:xfrm>
              <a:off x="685800" y="1600200"/>
              <a:ext cx="5181600" cy="1066800"/>
            </a:xfrm>
            <a:prstGeom prst="roundRect">
              <a:avLst>
                <a:gd name="adj" fmla="val 7143"/>
              </a:avLst>
            </a:prstGeom>
            <a:solidFill>
              <a:srgbClr val="F4F7FA"/>
            </a:solidFill>
            <a:ln>
              <a:noFill/>
            </a:ln>
          </p:spPr>
        </p:sp>
        <p:sp>
          <p:nvSpPr>
            <p:cNvPr id="7" name="Rectangle 7"/>
            <p:cNvSpPr/>
            <p:nvPr/>
          </p:nvSpPr>
          <p:spPr>
            <a:xfrm>
              <a:off x="685800" y="1600200"/>
              <a:ext cx="47625" cy="1066800"/>
            </a:xfrm>
            <a:prstGeom prst="roundRect">
              <a:avLst>
                <a:gd name="adj" fmla="val 50000"/>
              </a:avLst>
            </a:prstGeom>
            <a:solidFill>
              <a:srgbClr val="12395E"/>
            </a:solidFill>
            <a:ln>
              <a:noFill/>
            </a:ln>
          </p:spPr>
        </p:sp>
        <p:sp>
          <p:nvSpPr>
            <p:cNvPr id="8" name="TextBox 8"/>
            <p:cNvSpPr txBox="1"/>
            <p:nvPr/>
          </p:nvSpPr>
          <p:spPr>
            <a:xfrm>
              <a:off x="976312" y="1840706"/>
              <a:ext cx="629936"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PART 01</a:t>
              </a:r>
            </a:p>
          </p:txBody>
        </p:sp>
        <p:sp>
          <p:nvSpPr>
            <p:cNvPr id="9" name="TextBox 9"/>
            <p:cNvSpPr txBox="1"/>
            <p:nvPr/>
          </p:nvSpPr>
          <p:spPr>
            <a:xfrm>
              <a:off x="969645" y="2107882"/>
              <a:ext cx="1830000" cy="335280"/>
            </a:xfrm>
            <a:prstGeom prst="rect">
              <a:avLst/>
            </a:prstGeom>
            <a:noFill/>
            <a:ln>
              <a:noFill/>
            </a:ln>
          </p:spPr>
          <p:txBody>
            <a:bodyPr wrap="none" lIns="0" tIns="0" rIns="0" bIns="0" anchor="t" anchorCtr="0">
              <a:spAutoFit/>
            </a:bodyPr>
            <a:lstStyle/>
            <a:p>
              <a:pPr algn="l"/>
              <a:r>
                <a:rPr lang="zh-CN" sz="1650" b="1" dirty="0">
                  <a:solidFill>
                    <a:srgbClr val="0F2740"/>
                  </a:solidFill>
                  <a:latin typeface="Segoe UI"/>
                  <a:ea typeface="Microsoft YaHei"/>
                  <a:cs typeface="Segoe UI"/>
                </a:rPr>
                <a:t>背景与科学问题</a:t>
              </a:r>
            </a:p>
          </p:txBody>
        </p:sp>
        <p:sp>
          <p:nvSpPr>
            <p:cNvPr id="10" name="TextBox 10"/>
            <p:cNvSpPr txBox="1"/>
            <p:nvPr/>
          </p:nvSpPr>
          <p:spPr>
            <a:xfrm>
              <a:off x="975360" y="2404110"/>
              <a:ext cx="265938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四条文献脉络汇合，引出研究空缺</a:t>
              </a:r>
            </a:p>
          </p:txBody>
        </p:sp>
      </p:grpSp>
      <p:grpSp>
        <p:nvGrpSpPr>
          <p:cNvPr id="17" name="Group 17"/>
          <p:cNvGrpSpPr/>
          <p:nvPr/>
        </p:nvGrpSpPr>
        <p:grpSpPr>
          <a:xfrm>
            <a:off x="6324600" y="1600200"/>
            <a:ext cx="5181600" cy="1066800"/>
            <a:chOff x="6324600" y="1600200"/>
            <a:chExt cx="5181600" cy="1066800"/>
          </a:xfrm>
        </p:grpSpPr>
        <p:sp>
          <p:nvSpPr>
            <p:cNvPr id="12" name="Rectangle 12"/>
            <p:cNvSpPr/>
            <p:nvPr/>
          </p:nvSpPr>
          <p:spPr>
            <a:xfrm>
              <a:off x="6324600" y="1600200"/>
              <a:ext cx="5181600" cy="1066800"/>
            </a:xfrm>
            <a:prstGeom prst="roundRect">
              <a:avLst>
                <a:gd name="adj" fmla="val 7143"/>
              </a:avLst>
            </a:prstGeom>
            <a:solidFill>
              <a:srgbClr val="F4F7FA"/>
            </a:solidFill>
            <a:ln>
              <a:noFill/>
            </a:ln>
          </p:spPr>
        </p:sp>
        <p:sp>
          <p:nvSpPr>
            <p:cNvPr id="13" name="Rectangle 13"/>
            <p:cNvSpPr/>
            <p:nvPr/>
          </p:nvSpPr>
          <p:spPr>
            <a:xfrm>
              <a:off x="6324600" y="1600200"/>
              <a:ext cx="47625" cy="1066800"/>
            </a:xfrm>
            <a:prstGeom prst="roundRect">
              <a:avLst>
                <a:gd name="adj" fmla="val 50000"/>
              </a:avLst>
            </a:prstGeom>
            <a:solidFill>
              <a:srgbClr val="2E75B6"/>
            </a:solidFill>
            <a:ln>
              <a:noFill/>
            </a:ln>
          </p:spPr>
        </p:sp>
        <p:sp>
          <p:nvSpPr>
            <p:cNvPr id="14" name="TextBox 14"/>
            <p:cNvSpPr txBox="1"/>
            <p:nvPr/>
          </p:nvSpPr>
          <p:spPr>
            <a:xfrm>
              <a:off x="6615112" y="1840706"/>
              <a:ext cx="629936"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PART 02</a:t>
              </a:r>
            </a:p>
          </p:txBody>
        </p:sp>
        <p:sp>
          <p:nvSpPr>
            <p:cNvPr id="15" name="TextBox 15"/>
            <p:cNvSpPr txBox="1"/>
            <p:nvPr/>
          </p:nvSpPr>
          <p:spPr>
            <a:xfrm>
              <a:off x="6608445" y="2107882"/>
              <a:ext cx="1319117" cy="335280"/>
            </a:xfrm>
            <a:prstGeom prst="rect">
              <a:avLst/>
            </a:prstGeom>
            <a:noFill/>
            <a:ln>
              <a:noFill/>
            </a:ln>
          </p:spPr>
          <p:txBody>
            <a:bodyPr wrap="none" lIns="0" tIns="0" rIns="0" bIns="0" anchor="t" anchorCtr="0">
              <a:spAutoFit/>
            </a:bodyPr>
            <a:lstStyle/>
            <a:p>
              <a:pPr algn="l"/>
              <a:r>
                <a:rPr lang="zh-CN" sz="1650" b="1" dirty="0">
                  <a:solidFill>
                    <a:srgbClr val="0F2740"/>
                  </a:solidFill>
                  <a:latin typeface="Segoe UI"/>
                  <a:ea typeface="Microsoft YaHei"/>
                  <a:cs typeface="Segoe UI"/>
                </a:rPr>
                <a:t>数据与方法</a:t>
              </a:r>
            </a:p>
          </p:txBody>
        </p:sp>
        <p:sp>
          <p:nvSpPr>
            <p:cNvPr id="16" name="TextBox 16"/>
            <p:cNvSpPr txBox="1"/>
            <p:nvPr/>
          </p:nvSpPr>
          <p:spPr>
            <a:xfrm>
              <a:off x="6614160" y="2404110"/>
              <a:ext cx="230886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动态占域校正与后验传播框架</a:t>
              </a:r>
            </a:p>
          </p:txBody>
        </p:sp>
      </p:grpSp>
      <p:grpSp>
        <p:nvGrpSpPr>
          <p:cNvPr id="24" name="Group 24"/>
          <p:cNvGrpSpPr/>
          <p:nvPr/>
        </p:nvGrpSpPr>
        <p:grpSpPr>
          <a:xfrm>
            <a:off x="685800" y="2895600"/>
            <a:ext cx="5181600" cy="1333500"/>
            <a:chOff x="685800" y="2895600"/>
            <a:chExt cx="5181600" cy="1333500"/>
          </a:xfrm>
        </p:grpSpPr>
        <p:sp>
          <p:nvSpPr>
            <p:cNvPr id="18" name="Rectangle 18"/>
            <p:cNvSpPr/>
            <p:nvPr/>
          </p:nvSpPr>
          <p:spPr>
            <a:xfrm>
              <a:off x="685800" y="2895600"/>
              <a:ext cx="5181600" cy="1333500"/>
            </a:xfrm>
            <a:prstGeom prst="roundRect">
              <a:avLst>
                <a:gd name="adj" fmla="val 5714"/>
              </a:avLst>
            </a:prstGeom>
            <a:solidFill>
              <a:srgbClr val="12395E"/>
            </a:solidFill>
            <a:ln>
              <a:noFill/>
            </a:ln>
          </p:spPr>
        </p:sp>
        <p:sp>
          <p:nvSpPr>
            <p:cNvPr id="19" name="Rectangle 19"/>
            <p:cNvSpPr/>
            <p:nvPr/>
          </p:nvSpPr>
          <p:spPr>
            <a:xfrm>
              <a:off x="685800" y="2895600"/>
              <a:ext cx="47625" cy="1333500"/>
            </a:xfrm>
            <a:prstGeom prst="roundRect">
              <a:avLst>
                <a:gd name="adj" fmla="val 50000"/>
              </a:avLst>
            </a:prstGeom>
            <a:solidFill>
              <a:srgbClr val="D97A34"/>
            </a:solidFill>
            <a:ln>
              <a:noFill/>
            </a:ln>
          </p:spPr>
        </p:sp>
        <p:sp>
          <p:nvSpPr>
            <p:cNvPr id="20" name="TextBox 20"/>
            <p:cNvSpPr txBox="1"/>
            <p:nvPr/>
          </p:nvSpPr>
          <p:spPr>
            <a:xfrm>
              <a:off x="976312" y="3136106"/>
              <a:ext cx="1011126" cy="228600"/>
            </a:xfrm>
            <a:prstGeom prst="rect">
              <a:avLst/>
            </a:prstGeom>
            <a:noFill/>
            <a:ln>
              <a:noFill/>
            </a:ln>
          </p:spPr>
          <p:txBody>
            <a:bodyPr wrap="none" lIns="0" tIns="0" rIns="0" bIns="0" anchor="t" anchorCtr="0">
              <a:spAutoFit/>
            </a:bodyPr>
            <a:lstStyle/>
            <a:p>
              <a:pPr algn="l"/>
              <a:r>
                <a:rPr lang="zh-CN" sz="1125" dirty="0">
                  <a:solidFill>
                    <a:srgbClr val="9FC7EA"/>
                  </a:solidFill>
                  <a:latin typeface="Segoe UI"/>
                  <a:ea typeface="Microsoft YaHei"/>
                  <a:cs typeface="Segoe UI"/>
                </a:rPr>
                <a:t>PART 03 核心</a:t>
              </a:r>
            </a:p>
          </p:txBody>
        </p:sp>
        <p:sp>
          <p:nvSpPr>
            <p:cNvPr id="21" name="TextBox 21"/>
            <p:cNvSpPr txBox="1"/>
            <p:nvPr/>
          </p:nvSpPr>
          <p:spPr>
            <a:xfrm>
              <a:off x="969645" y="3422332"/>
              <a:ext cx="1063676"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Segoe UI"/>
                  <a:ea typeface="Microsoft YaHei"/>
                  <a:cs typeface="Segoe UI"/>
                </a:rPr>
                <a:t>核心发现</a:t>
              </a:r>
            </a:p>
          </p:txBody>
        </p:sp>
        <p:sp>
          <p:nvSpPr>
            <p:cNvPr id="22" name="TextBox 22"/>
            <p:cNvSpPr txBox="1"/>
            <p:nvPr/>
          </p:nvSpPr>
          <p:spPr>
            <a:xfrm>
              <a:off x="975360" y="3737610"/>
              <a:ext cx="2308860"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分类维度上升，功能维度反向</a:t>
              </a:r>
            </a:p>
          </p:txBody>
        </p:sp>
        <p:sp>
          <p:nvSpPr>
            <p:cNvPr id="23" name="TextBox 23"/>
            <p:cNvSpPr txBox="1"/>
            <p:nvPr/>
          </p:nvSpPr>
          <p:spPr>
            <a:xfrm>
              <a:off x="975360" y="3966210"/>
              <a:ext cx="1607820"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群落从替换转向嵌套</a:t>
              </a:r>
            </a:p>
          </p:txBody>
        </p:sp>
      </p:grpSp>
      <p:grpSp>
        <p:nvGrpSpPr>
          <p:cNvPr id="31" name="Group 31"/>
          <p:cNvGrpSpPr/>
          <p:nvPr/>
        </p:nvGrpSpPr>
        <p:grpSpPr>
          <a:xfrm>
            <a:off x="6324600" y="2895600"/>
            <a:ext cx="5181600" cy="1333500"/>
            <a:chOff x="6324600" y="2895600"/>
            <a:chExt cx="5181600" cy="1333500"/>
          </a:xfrm>
        </p:grpSpPr>
        <p:sp>
          <p:nvSpPr>
            <p:cNvPr id="25" name="Rectangle 25"/>
            <p:cNvSpPr/>
            <p:nvPr/>
          </p:nvSpPr>
          <p:spPr>
            <a:xfrm>
              <a:off x="6324600" y="2895600"/>
              <a:ext cx="5181600" cy="1333500"/>
            </a:xfrm>
            <a:prstGeom prst="roundRect">
              <a:avLst>
                <a:gd name="adj" fmla="val 5714"/>
              </a:avLst>
            </a:prstGeom>
            <a:solidFill>
              <a:srgbClr val="F4F7FA"/>
            </a:solidFill>
            <a:ln>
              <a:noFill/>
            </a:ln>
          </p:spPr>
        </p:sp>
        <p:sp>
          <p:nvSpPr>
            <p:cNvPr id="26" name="Rectangle 26"/>
            <p:cNvSpPr/>
            <p:nvPr/>
          </p:nvSpPr>
          <p:spPr>
            <a:xfrm>
              <a:off x="6324600" y="2895600"/>
              <a:ext cx="47625" cy="1333500"/>
            </a:xfrm>
            <a:prstGeom prst="roundRect">
              <a:avLst>
                <a:gd name="adj" fmla="val 50000"/>
              </a:avLst>
            </a:prstGeom>
            <a:solidFill>
              <a:srgbClr val="D97A34"/>
            </a:solidFill>
            <a:ln>
              <a:noFill/>
            </a:ln>
          </p:spPr>
        </p:sp>
        <p:sp>
          <p:nvSpPr>
            <p:cNvPr id="27" name="TextBox 27"/>
            <p:cNvSpPr txBox="1"/>
            <p:nvPr/>
          </p:nvSpPr>
          <p:spPr>
            <a:xfrm>
              <a:off x="6615112" y="3136106"/>
              <a:ext cx="629936"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PART 04</a:t>
              </a:r>
            </a:p>
          </p:txBody>
        </p:sp>
        <p:sp>
          <p:nvSpPr>
            <p:cNvPr id="28" name="TextBox 28"/>
            <p:cNvSpPr txBox="1"/>
            <p:nvPr/>
          </p:nvSpPr>
          <p:spPr>
            <a:xfrm>
              <a:off x="6608445" y="3422332"/>
              <a:ext cx="2085442" cy="335280"/>
            </a:xfrm>
            <a:prstGeom prst="rect">
              <a:avLst/>
            </a:prstGeom>
            <a:noFill/>
            <a:ln>
              <a:noFill/>
            </a:ln>
          </p:spPr>
          <p:txBody>
            <a:bodyPr wrap="none" lIns="0" tIns="0" rIns="0" bIns="0" anchor="t" anchorCtr="0">
              <a:spAutoFit/>
            </a:bodyPr>
            <a:lstStyle/>
            <a:p>
              <a:pPr algn="l"/>
              <a:r>
                <a:rPr lang="zh-CN" sz="1650" b="1" dirty="0">
                  <a:solidFill>
                    <a:srgbClr val="0F2740"/>
                  </a:solidFill>
                  <a:latin typeface="Segoe UI"/>
                  <a:ea typeface="Microsoft YaHei"/>
                  <a:cs typeface="Segoe UI"/>
                </a:rPr>
                <a:t>机制、意义与展望</a:t>
              </a:r>
            </a:p>
          </p:txBody>
        </p:sp>
        <p:sp>
          <p:nvSpPr>
            <p:cNvPr id="29" name="TextBox 29"/>
            <p:cNvSpPr txBox="1"/>
            <p:nvPr/>
          </p:nvSpPr>
          <p:spPr>
            <a:xfrm>
              <a:off x="6614160" y="3737610"/>
              <a:ext cx="300990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增长集中于湿地类群，气候追踪信号弱</a:t>
              </a:r>
            </a:p>
          </p:txBody>
        </p:sp>
        <p:sp>
          <p:nvSpPr>
            <p:cNvPr id="30" name="TextBox 30"/>
            <p:cNvSpPr txBox="1"/>
            <p:nvPr/>
          </p:nvSpPr>
          <p:spPr>
            <a:xfrm>
              <a:off x="6614160" y="3966210"/>
              <a:ext cx="248412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保护成效、全球争论与监测启示</a:t>
              </a:r>
            </a:p>
          </p:txBody>
        </p:sp>
      </p:grpSp>
      <p:sp>
        <p:nvSpPr>
          <p:cNvPr id="32" name="Rectangle 32"/>
          <p:cNvSpPr/>
          <p:nvPr/>
        </p:nvSpPr>
        <p:spPr>
          <a:xfrm>
            <a:off x="685800" y="4762500"/>
            <a:ext cx="10820400" cy="9525"/>
          </a:xfrm>
          <a:prstGeom prst="rect">
            <a:avLst/>
          </a:prstGeom>
          <a:solidFill>
            <a:srgbClr val="D8DFE7"/>
          </a:solidFill>
          <a:ln>
            <a:noFill/>
          </a:ln>
        </p:spPr>
      </p:sp>
      <p:sp>
        <p:nvSpPr>
          <p:cNvPr id="33" name="TextBox 33"/>
          <p:cNvSpPr txBox="1"/>
          <p:nvPr/>
        </p:nvSpPr>
        <p:spPr>
          <a:xfrm>
            <a:off x="667702" y="5046821"/>
            <a:ext cx="8843886" cy="289560"/>
          </a:xfrm>
          <a:prstGeom prst="rect">
            <a:avLst/>
          </a:prstGeom>
          <a:noFill/>
          <a:ln>
            <a:noFill/>
          </a:ln>
        </p:spPr>
        <p:txBody>
          <a:bodyPr wrap="none" lIns="0" tIns="0" rIns="0" bIns="0" anchor="t" anchorCtr="0">
            <a:spAutoFit/>
          </a:bodyPr>
          <a:lstStyle/>
          <a:p>
            <a:pPr algn="l"/>
            <a:r>
              <a:rPr lang="zh-CN" sz="1425" b="1" dirty="0">
                <a:solidFill>
                  <a:srgbClr val="12395E"/>
                </a:solidFill>
                <a:latin typeface="Segoe UI"/>
                <a:ea typeface="Microsoft YaHei"/>
                <a:cs typeface="Segoe UI"/>
              </a:rPr>
              <a:t>贯穿全场的一个问题：</a:t>
            </a:r>
            <a:r>
              <a:rPr lang="zh-CN" sz="1425" dirty="0">
                <a:solidFill>
                  <a:srgbClr val="0F2740"/>
                </a:solidFill>
                <a:latin typeface="Segoe UI"/>
                <a:ea typeface="Microsoft YaHei"/>
                <a:cs typeface="Segoe UI"/>
              </a:rPr>
              <a:t xml:space="preserve"> </a:t>
            </a:r>
            <a:r>
              <a:rPr lang="zh-CN" sz="1425" dirty="0">
                <a:solidFill>
                  <a:srgbClr val="0F2740"/>
                </a:solidFill>
                <a:latin typeface="Segoe UI"/>
                <a:ea typeface="Microsoft YaHei"/>
                <a:cs typeface="Segoe UI"/>
              </a:rPr>
              <a:t>当校正后的物种数上升时，这是生态恢复，还是被物种数掩盖的同质化？</a:t>
            </a:r>
          </a:p>
        </p:txBody>
      </p:sp>
      <p:sp>
        <p:nvSpPr>
          <p:cNvPr id="34" name="TextBox 34"/>
          <p:cNvSpPr txBox="1"/>
          <p:nvPr/>
        </p:nvSpPr>
        <p:spPr>
          <a:xfrm>
            <a:off x="670560" y="5585460"/>
            <a:ext cx="3251759"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全程约 30 分钟 · 结果部分约占一半时间</a:t>
            </a:r>
          </a:p>
        </p:txBody>
      </p:sp>
      <p:sp>
        <p:nvSpPr>
          <p:cNvPr id="35" name="TextBox 35"/>
          <p:cNvSpPr txBox="1"/>
          <p:nvPr/>
        </p:nvSpPr>
        <p:spPr>
          <a:xfrm>
            <a:off x="11408521" y="6458902"/>
            <a:ext cx="111014"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12395E"/>
          </a:solidFill>
          <a:ln>
            <a:noFill/>
          </a:ln>
        </p:spPr>
      </p:sp>
      <p:sp>
        <p:nvSpPr>
          <p:cNvPr id="3" name="Rectangle 3"/>
          <p:cNvSpPr/>
          <p:nvPr/>
        </p:nvSpPr>
        <p:spPr>
          <a:xfrm>
            <a:off x="0" y="0"/>
            <a:ext cx="12192000" cy="6858000"/>
          </a:xfrm>
          <a:prstGeom prst="rect">
            <a:avLst/>
          </a:prstGeom>
          <a:solidFill>
            <a:srgbClr val="0F2740">
              <a:alpha val="25000"/>
            </a:srgbClr>
          </a:solidFill>
          <a:ln>
            <a:noFill/>
          </a:ln>
        </p:spPr>
      </p:sp>
      <p:grpSp>
        <p:nvGrpSpPr>
          <p:cNvPr id="7" name="Group 7"/>
          <p:cNvGrpSpPr/>
          <p:nvPr/>
        </p:nvGrpSpPr>
        <p:grpSpPr>
          <a:xfrm>
            <a:off x="8572500" y="1714500"/>
            <a:ext cx="3429000" cy="3429000"/>
            <a:chOff x="8572500" y="1714500"/>
            <a:chExt cx="3429000" cy="3429000"/>
          </a:xfrm>
        </p:grpSpPr>
        <p:sp>
          <p:nvSpPr>
            <p:cNvPr id="4" name="Ellipse 4"/>
            <p:cNvSpPr/>
            <p:nvPr/>
          </p:nvSpPr>
          <p:spPr>
            <a:xfrm>
              <a:off x="8572500" y="1714500"/>
              <a:ext cx="3429000" cy="3429000"/>
            </a:xfrm>
            <a:prstGeom prst="ellipse">
              <a:avLst/>
            </a:prstGeom>
            <a:noFill/>
            <a:ln w="14288">
              <a:solidFill>
                <a:srgbClr val="9FC7EA">
                  <a:alpha val="18000"/>
                </a:srgbClr>
              </a:solidFill>
            </a:ln>
          </p:spPr>
        </p:sp>
        <p:sp>
          <p:nvSpPr>
            <p:cNvPr id="5" name="Ellipse 5"/>
            <p:cNvSpPr/>
            <p:nvPr/>
          </p:nvSpPr>
          <p:spPr>
            <a:xfrm>
              <a:off x="9144000" y="2286000"/>
              <a:ext cx="2286000" cy="2286000"/>
            </a:xfrm>
            <a:prstGeom prst="ellipse">
              <a:avLst/>
            </a:prstGeom>
            <a:noFill/>
            <a:ln w="14288">
              <a:solidFill>
                <a:srgbClr val="9FC7EA">
                  <a:alpha val="18000"/>
                </a:srgbClr>
              </a:solidFill>
            </a:ln>
          </p:spPr>
        </p:sp>
        <p:sp>
          <p:nvSpPr>
            <p:cNvPr id="6" name="Ellipse 6"/>
            <p:cNvSpPr/>
            <p:nvPr/>
          </p:nvSpPr>
          <p:spPr>
            <a:xfrm>
              <a:off x="9715500" y="2857500"/>
              <a:ext cx="1143000" cy="1143000"/>
            </a:xfrm>
            <a:prstGeom prst="ellipse">
              <a:avLst/>
            </a:prstGeom>
            <a:noFill/>
            <a:ln w="19050">
              <a:solidFill>
                <a:srgbClr val="D97A34">
                  <a:alpha val="18000"/>
                </a:srgbClr>
              </a:solidFill>
            </a:ln>
          </p:spPr>
        </p:sp>
      </p:grpSp>
      <p:sp>
        <p:nvSpPr>
          <p:cNvPr id="8" name="TextBox 8"/>
          <p:cNvSpPr txBox="1"/>
          <p:nvPr/>
        </p:nvSpPr>
        <p:spPr>
          <a:xfrm>
            <a:off x="571500" y="2076450"/>
            <a:ext cx="1761249" cy="1828800"/>
          </a:xfrm>
          <a:prstGeom prst="rect">
            <a:avLst/>
          </a:prstGeom>
          <a:noFill/>
          <a:ln>
            <a:noFill/>
          </a:ln>
        </p:spPr>
        <p:txBody>
          <a:bodyPr wrap="none" lIns="0" tIns="0" rIns="0" bIns="0" anchor="t" anchorCtr="0">
            <a:spAutoFit/>
          </a:bodyPr>
          <a:lstStyle/>
          <a:p>
            <a:pPr algn="l"/>
            <a:r>
              <a:rPr lang="zh-CN" sz="9000" b="1" dirty="0">
                <a:solidFill>
                  <a:srgbClr val="1E4E7A"/>
                </a:solidFill>
                <a:latin typeface="Segoe UI"/>
                <a:ea typeface="Microsoft YaHei"/>
                <a:cs typeface="Segoe UI"/>
              </a:rPr>
              <a:t>01</a:t>
            </a:r>
          </a:p>
        </p:txBody>
      </p:sp>
      <p:sp>
        <p:nvSpPr>
          <p:cNvPr id="9" name="Rectangle 9"/>
          <p:cNvSpPr/>
          <p:nvPr/>
        </p:nvSpPr>
        <p:spPr>
          <a:xfrm>
            <a:off x="685800" y="3390900"/>
            <a:ext cx="723900" cy="57150"/>
          </a:xfrm>
          <a:prstGeom prst="roundRect">
            <a:avLst>
              <a:gd name="adj" fmla="val 50000"/>
            </a:avLst>
          </a:prstGeom>
          <a:solidFill>
            <a:srgbClr val="D97A34"/>
          </a:solidFill>
          <a:ln>
            <a:noFill/>
          </a:ln>
        </p:spPr>
      </p:sp>
      <p:sp>
        <p:nvSpPr>
          <p:cNvPr id="10" name="TextBox 10"/>
          <p:cNvSpPr txBox="1"/>
          <p:nvPr/>
        </p:nvSpPr>
        <p:spPr>
          <a:xfrm>
            <a:off x="641985" y="3723322"/>
            <a:ext cx="3826364" cy="701040"/>
          </a:xfrm>
          <a:prstGeom prst="rect">
            <a:avLst/>
          </a:prstGeom>
          <a:noFill/>
          <a:ln>
            <a:noFill/>
          </a:ln>
        </p:spPr>
        <p:txBody>
          <a:bodyPr wrap="none" lIns="0" tIns="0" rIns="0" bIns="0" anchor="t" anchorCtr="0">
            <a:spAutoFit/>
          </a:bodyPr>
          <a:lstStyle/>
          <a:p>
            <a:pPr algn="l"/>
            <a:r>
              <a:rPr lang="zh-CN" sz="3450" b="1" dirty="0">
                <a:solidFill>
                  <a:srgbClr val="FFFFFF"/>
                </a:solidFill>
                <a:latin typeface="Segoe UI"/>
                <a:ea typeface="Microsoft YaHei"/>
                <a:cs typeface="Segoe UI"/>
              </a:rPr>
              <a:t>背景与科学问题</a:t>
            </a:r>
          </a:p>
        </p:txBody>
      </p:sp>
      <p:sp>
        <p:nvSpPr>
          <p:cNvPr id="11" name="TextBox 11"/>
          <p:cNvSpPr txBox="1"/>
          <p:nvPr/>
        </p:nvSpPr>
        <p:spPr>
          <a:xfrm>
            <a:off x="666750" y="4467225"/>
            <a:ext cx="5734050" cy="304800"/>
          </a:xfrm>
          <a:prstGeom prst="rect">
            <a:avLst/>
          </a:prstGeom>
          <a:noFill/>
          <a:ln>
            <a:noFill/>
          </a:ln>
        </p:spPr>
        <p:txBody>
          <a:bodyPr wrap="none" lIns="0" tIns="0" rIns="0" bIns="0" anchor="t" anchorCtr="0">
            <a:spAutoFit/>
          </a:bodyPr>
          <a:lstStyle/>
          <a:p>
            <a:pPr algn="l"/>
            <a:r>
              <a:rPr lang="zh-CN" sz="1500" dirty="0">
                <a:solidFill>
                  <a:srgbClr val="9FC7EA"/>
                </a:solidFill>
                <a:latin typeface="Segoe UI"/>
                <a:ea typeface="Microsoft YaHei"/>
                <a:cs typeface="Segoe UI"/>
              </a:rPr>
              <a:t>公民科学在扩张，而观测扩张本身会伪装成生物多样性增长</a:t>
            </a:r>
          </a:p>
        </p:txBody>
      </p:sp>
      <p:sp>
        <p:nvSpPr>
          <p:cNvPr id="12" name="TextBox 12"/>
          <p:cNvSpPr txBox="1"/>
          <p:nvPr/>
        </p:nvSpPr>
        <p:spPr>
          <a:xfrm>
            <a:off x="11408521" y="6458902"/>
            <a:ext cx="111014" cy="213360"/>
          </a:xfrm>
          <a:prstGeom prst="rect">
            <a:avLst/>
          </a:prstGeom>
          <a:noFill/>
          <a:ln>
            <a:noFill/>
          </a:ln>
        </p:spPr>
        <p:txBody>
          <a:bodyPr wrap="none" lIns="0" tIns="0" rIns="0" bIns="0" anchor="t" anchorCtr="0">
            <a:spAutoFit/>
          </a:bodyPr>
          <a:lstStyle/>
          <a:p>
            <a:pPr algn="r"/>
            <a:r>
              <a:rPr lang="zh-CN" sz="1050" dirty="0">
                <a:solidFill>
                  <a:srgbClr val="6E8CA8"/>
                </a:solidFill>
                <a:latin typeface="Segoe UI"/>
                <a:ea typeface="Microsoft YaHei"/>
                <a:cs typeface="Segoe UI"/>
              </a:rPr>
              <a:t>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400"/>
                                        <p:tgtEl>
                                          <p:spTgt spid="3"/>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checkerboard(across)">
                                      <p:cBhvr>
                                        <p:cTn id="15" dur="400"/>
                                        <p:tgtEl>
                                          <p:spTgt spid="7"/>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400"/>
                                        <p:tgtEl>
                                          <p:spTgt spid="8"/>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slide(fromBottom)">
                                      <p:cBhvr>
                                        <p:cTn id="23" dur="400"/>
                                        <p:tgtEl>
                                          <p:spTgt spid="9"/>
                                        </p:tgtEl>
                                      </p:cBhvr>
                                    </p:animEffect>
                                  </p:childTnLst>
                                </p:cTn>
                              </p:par>
                            </p:childTnLst>
                          </p:cTn>
                        </p:par>
                        <p:par>
                          <p:cTn id="24" fill="hold">
                            <p:stCondLst>
                              <p:cond delay="4500"/>
                            </p:stCondLst>
                            <p:childTnLst>
                              <p:par>
                                <p:cTn id="25" presetID="42" presetClass="entr" presetSubtype="8"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slide(fromLeft)">
                                      <p:cBhvr>
                                        <p:cTn id="27" dur="400"/>
                                        <p:tgtEl>
                                          <p:spTgt spid="10"/>
                                        </p:tgtEl>
                                      </p:cBhvr>
                                    </p:animEffect>
                                  </p:childTnLst>
                                </p:cTn>
                              </p:par>
                            </p:childTnLst>
                          </p:cTn>
                        </p:par>
                        <p:par>
                          <p:cTn id="28" fill="hold">
                            <p:stCondLst>
                              <p:cond delay="5400"/>
                            </p:stCondLst>
                            <p:childTnLst>
                              <p:par>
                                <p:cTn id="29" presetID="14" presetClass="entr" presetSubtype="10"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randombar(horizontal)">
                                      <p:cBhvr>
                                        <p:cTn id="31" dur="400"/>
                                        <p:tgtEl>
                                          <p:spTgt spid="11"/>
                                        </p:tgtEl>
                                      </p:cBhvr>
                                    </p:animEffect>
                                  </p:childTnLst>
                                </p:cTn>
                              </p:par>
                            </p:childTnLst>
                          </p:cTn>
                        </p:par>
                        <p:par>
                          <p:cTn id="32" fill="hold">
                            <p:stCondLst>
                              <p:cond delay="6300"/>
                            </p:stCondLst>
                            <p:childTnLst>
                              <p:par>
                                <p:cTn id="33" presetID="4" presetClass="entr" presetSubtype="0"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ox(in)">
                                      <p:cBhvr>
                                        <p:cTn id="3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P spid="8" grpId="0"/>
      <p:bldP spid="9" grpId="0"/>
      <p:bldP spid="10" grpId="0"/>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8355006"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文献脉络一：生物多样性在丧失，还是在重组？</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112692" y="801052"/>
            <a:ext cx="1406842"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一、背景与科学问题</a:t>
            </a:r>
          </a:p>
        </p:txBody>
      </p:sp>
      <p:sp>
        <p:nvSpPr>
          <p:cNvPr id="6" name="TextBox 6"/>
          <p:cNvSpPr txBox="1"/>
          <p:nvPr/>
        </p:nvSpPr>
        <p:spPr>
          <a:xfrm>
            <a:off x="668655" y="1378268"/>
            <a:ext cx="4766310" cy="274320"/>
          </a:xfrm>
          <a:prstGeom prst="rect">
            <a:avLst/>
          </a:prstGeom>
          <a:noFill/>
          <a:ln>
            <a:noFill/>
          </a:ln>
        </p:spPr>
        <p:txBody>
          <a:bodyPr wrap="none" lIns="0" tIns="0" rIns="0" bIns="0" anchor="t" anchorCtr="0">
            <a:spAutoFit/>
          </a:bodyPr>
          <a:lstStyle/>
          <a:p>
            <a:pPr algn="l"/>
            <a:r>
              <a:rPr lang="zh-CN" sz="1350" dirty="0">
                <a:solidFill>
                  <a:srgbClr val="5A6B7C"/>
                </a:solidFill>
                <a:latin typeface="Segoe UI"/>
                <a:ea typeface="Microsoft YaHei"/>
                <a:cs typeface="Segoe UI"/>
              </a:rPr>
              <a:t>这是全球变化生态学近十年最核心、也最未解的争论。</a:t>
            </a:r>
          </a:p>
        </p:txBody>
      </p:sp>
      <p:sp>
        <p:nvSpPr>
          <p:cNvPr id="7" name="Rectangle 7"/>
          <p:cNvSpPr/>
          <p:nvPr/>
        </p:nvSpPr>
        <p:spPr>
          <a:xfrm>
            <a:off x="685800" y="1752600"/>
            <a:ext cx="3429000" cy="2533650"/>
          </a:xfrm>
          <a:prstGeom prst="roundRect">
            <a:avLst>
              <a:gd name="adj" fmla="val 3759"/>
            </a:avLst>
          </a:prstGeom>
          <a:solidFill>
            <a:srgbClr val="F4F7FA"/>
          </a:solidFill>
          <a:ln>
            <a:noFill/>
          </a:ln>
        </p:spPr>
      </p:sp>
      <p:sp>
        <p:nvSpPr>
          <p:cNvPr id="8" name="Rectangle 8"/>
          <p:cNvSpPr/>
          <p:nvPr/>
        </p:nvSpPr>
        <p:spPr>
          <a:xfrm>
            <a:off x="685800" y="1752600"/>
            <a:ext cx="3429000" cy="38100"/>
          </a:xfrm>
          <a:prstGeom prst="roundRect">
            <a:avLst>
              <a:gd name="adj" fmla="val 50000"/>
            </a:avLst>
          </a:prstGeom>
          <a:solidFill>
            <a:srgbClr val="D97A34"/>
          </a:solidFill>
          <a:ln>
            <a:noFill/>
          </a:ln>
        </p:spPr>
      </p:sp>
      <p:sp>
        <p:nvSpPr>
          <p:cNvPr id="9" name="TextBox 9"/>
          <p:cNvSpPr txBox="1"/>
          <p:nvPr/>
        </p:nvSpPr>
        <p:spPr>
          <a:xfrm>
            <a:off x="938212" y="2012156"/>
            <a:ext cx="666083"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证据线 A</a:t>
            </a:r>
          </a:p>
        </p:txBody>
      </p:sp>
      <p:sp>
        <p:nvSpPr>
          <p:cNvPr id="10" name="TextBox 10"/>
          <p:cNvSpPr txBox="1"/>
          <p:nvPr/>
        </p:nvSpPr>
        <p:spPr>
          <a:xfrm>
            <a:off x="932498" y="2268379"/>
            <a:ext cx="1990649" cy="320040"/>
          </a:xfrm>
          <a:prstGeom prst="rect">
            <a:avLst/>
          </a:prstGeom>
          <a:noFill/>
          <a:ln>
            <a:noFill/>
          </a:ln>
        </p:spPr>
        <p:txBody>
          <a:bodyPr wrap="none" lIns="0" tIns="0" rIns="0" bIns="0" anchor="t" anchorCtr="0">
            <a:spAutoFit/>
          </a:bodyPr>
          <a:lstStyle/>
          <a:p>
            <a:pPr algn="l"/>
            <a:r>
              <a:rPr lang="zh-CN" sz="1575" b="1" dirty="0">
                <a:solidFill>
                  <a:srgbClr val="B3611F"/>
                </a:solidFill>
                <a:latin typeface="Segoe UI"/>
                <a:ea typeface="Microsoft YaHei"/>
                <a:cs typeface="Segoe UI"/>
              </a:rPr>
              <a:t>全球性丧失与退化</a:t>
            </a:r>
          </a:p>
        </p:txBody>
      </p:sp>
      <p:sp>
        <p:nvSpPr>
          <p:cNvPr id="11" name="TextBox 11"/>
          <p:cNvSpPr txBox="1"/>
          <p:nvPr/>
        </p:nvSpPr>
        <p:spPr>
          <a:xfrm>
            <a:off x="937260" y="2689860"/>
            <a:ext cx="2341528" cy="243840"/>
          </a:xfrm>
          <a:prstGeom prst="rect">
            <a:avLst/>
          </a:prstGeom>
          <a:noFill/>
          <a:ln>
            <a:noFill/>
          </a:ln>
        </p:spPr>
        <p:txBody>
          <a:bodyPr wrap="none" lIns="0" tIns="0" rIns="0" bIns="0" anchor="t" anchorCtr="0">
            <a:spAutoFit/>
          </a:bodyPr>
          <a:lstStyle/>
          <a:p>
            <a:pPr algn="l"/>
            <a:r>
              <a:rPr lang="zh-CN" sz="1200" b="1" dirty="0">
                <a:solidFill>
                  <a:srgbClr val="0F2740"/>
                </a:solidFill>
                <a:latin typeface="Segoe UI"/>
                <a:ea typeface="Microsoft YaHei"/>
                <a:cs typeface="Segoe UI"/>
              </a:rPr>
              <a:t>Pimm et al. 2014 (Science)</a:t>
            </a:r>
          </a:p>
        </p:txBody>
      </p:sp>
      <p:sp>
        <p:nvSpPr>
          <p:cNvPr id="12" name="TextBox 12"/>
          <p:cNvSpPr txBox="1"/>
          <p:nvPr/>
        </p:nvSpPr>
        <p:spPr>
          <a:xfrm>
            <a:off x="937260" y="2918460"/>
            <a:ext cx="213360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灭绝速率高出背景值约千倍</a:t>
            </a:r>
          </a:p>
        </p:txBody>
      </p:sp>
      <p:sp>
        <p:nvSpPr>
          <p:cNvPr id="13" name="TextBox 13"/>
          <p:cNvSpPr txBox="1"/>
          <p:nvPr/>
        </p:nvSpPr>
        <p:spPr>
          <a:xfrm>
            <a:off x="937260" y="3261360"/>
            <a:ext cx="2475287" cy="243840"/>
          </a:xfrm>
          <a:prstGeom prst="rect">
            <a:avLst/>
          </a:prstGeom>
          <a:noFill/>
          <a:ln>
            <a:noFill/>
          </a:ln>
        </p:spPr>
        <p:txBody>
          <a:bodyPr wrap="none" lIns="0" tIns="0" rIns="0" bIns="0" anchor="t" anchorCtr="0">
            <a:spAutoFit/>
          </a:bodyPr>
          <a:lstStyle/>
          <a:p>
            <a:pPr algn="l"/>
            <a:r>
              <a:rPr lang="zh-CN" sz="1200" b="1" dirty="0">
                <a:solidFill>
                  <a:srgbClr val="0F2740"/>
                </a:solidFill>
                <a:latin typeface="Segoe UI"/>
                <a:ea typeface="Microsoft YaHei"/>
                <a:cs typeface="Segoe UI"/>
              </a:rPr>
              <a:t>Díaz et al. 2019 (Science)</a:t>
            </a:r>
          </a:p>
        </p:txBody>
      </p:sp>
      <p:sp>
        <p:nvSpPr>
          <p:cNvPr id="14" name="TextBox 14"/>
          <p:cNvSpPr txBox="1"/>
          <p:nvPr/>
        </p:nvSpPr>
        <p:spPr>
          <a:xfrm>
            <a:off x="937260" y="3489960"/>
            <a:ext cx="300990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人类驱动的普遍性衰退，需变革性转变</a:t>
            </a:r>
          </a:p>
        </p:txBody>
      </p:sp>
      <p:sp>
        <p:nvSpPr>
          <p:cNvPr id="15" name="TextBox 15"/>
          <p:cNvSpPr txBox="1"/>
          <p:nvPr/>
        </p:nvSpPr>
        <p:spPr>
          <a:xfrm>
            <a:off x="937260" y="3832860"/>
            <a:ext cx="2861700" cy="243840"/>
          </a:xfrm>
          <a:prstGeom prst="rect">
            <a:avLst/>
          </a:prstGeom>
          <a:noFill/>
          <a:ln>
            <a:noFill/>
          </a:ln>
        </p:spPr>
        <p:txBody>
          <a:bodyPr wrap="none" lIns="0" tIns="0" rIns="0" bIns="0" anchor="t" anchorCtr="0">
            <a:spAutoFit/>
          </a:bodyPr>
          <a:lstStyle/>
          <a:p>
            <a:pPr algn="l"/>
            <a:r>
              <a:rPr lang="zh-CN" sz="1200" b="1" dirty="0">
                <a:solidFill>
                  <a:srgbClr val="0F2740"/>
                </a:solidFill>
                <a:latin typeface="Segoe UI"/>
                <a:ea typeface="Microsoft YaHei"/>
                <a:cs typeface="Segoe UI"/>
              </a:rPr>
              <a:t>Daskalova et al. 2020 (Science)</a:t>
            </a:r>
          </a:p>
        </p:txBody>
      </p:sp>
      <p:sp>
        <p:nvSpPr>
          <p:cNvPr id="16" name="TextBox 16"/>
          <p:cNvSpPr txBox="1"/>
          <p:nvPr/>
        </p:nvSpPr>
        <p:spPr>
          <a:xfrm>
            <a:off x="937260" y="4061460"/>
            <a:ext cx="248412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森林丧失催化种群与多样性变化</a:t>
            </a:r>
          </a:p>
        </p:txBody>
      </p:sp>
      <p:sp>
        <p:nvSpPr>
          <p:cNvPr id="17" name="Rectangle 17"/>
          <p:cNvSpPr/>
          <p:nvPr/>
        </p:nvSpPr>
        <p:spPr>
          <a:xfrm>
            <a:off x="4381500" y="1752600"/>
            <a:ext cx="3429000" cy="2533650"/>
          </a:xfrm>
          <a:prstGeom prst="roundRect">
            <a:avLst>
              <a:gd name="adj" fmla="val 3759"/>
            </a:avLst>
          </a:prstGeom>
          <a:solidFill>
            <a:srgbClr val="F4F7FA"/>
          </a:solidFill>
          <a:ln>
            <a:noFill/>
          </a:ln>
        </p:spPr>
      </p:sp>
      <p:sp>
        <p:nvSpPr>
          <p:cNvPr id="18" name="Rectangle 18"/>
          <p:cNvSpPr/>
          <p:nvPr/>
        </p:nvSpPr>
        <p:spPr>
          <a:xfrm>
            <a:off x="4381500" y="1752600"/>
            <a:ext cx="3429000" cy="38100"/>
          </a:xfrm>
          <a:prstGeom prst="roundRect">
            <a:avLst>
              <a:gd name="adj" fmla="val 50000"/>
            </a:avLst>
          </a:prstGeom>
          <a:solidFill>
            <a:srgbClr val="2E75B6"/>
          </a:solidFill>
          <a:ln>
            <a:noFill/>
          </a:ln>
        </p:spPr>
      </p:sp>
      <p:sp>
        <p:nvSpPr>
          <p:cNvPr id="19" name="TextBox 19"/>
          <p:cNvSpPr txBox="1"/>
          <p:nvPr/>
        </p:nvSpPr>
        <p:spPr>
          <a:xfrm>
            <a:off x="4633912" y="2012156"/>
            <a:ext cx="666083"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证据线 B</a:t>
            </a:r>
          </a:p>
        </p:txBody>
      </p:sp>
      <p:sp>
        <p:nvSpPr>
          <p:cNvPr id="20" name="TextBox 20"/>
          <p:cNvSpPr txBox="1"/>
          <p:nvPr/>
        </p:nvSpPr>
        <p:spPr>
          <a:xfrm>
            <a:off x="4628198" y="2268379"/>
            <a:ext cx="1990649" cy="320040"/>
          </a:xfrm>
          <a:prstGeom prst="rect">
            <a:avLst/>
          </a:prstGeom>
          <a:noFill/>
          <a:ln>
            <a:noFill/>
          </a:ln>
        </p:spPr>
        <p:txBody>
          <a:bodyPr wrap="none" lIns="0" tIns="0" rIns="0" bIns="0" anchor="t" anchorCtr="0">
            <a:spAutoFit/>
          </a:bodyPr>
          <a:lstStyle/>
          <a:p>
            <a:pPr algn="l"/>
            <a:r>
              <a:rPr lang="zh-CN" sz="1575" b="1" dirty="0">
                <a:solidFill>
                  <a:srgbClr val="12395E"/>
                </a:solidFill>
                <a:latin typeface="Segoe UI"/>
                <a:ea typeface="Microsoft YaHei"/>
                <a:cs typeface="Segoe UI"/>
              </a:rPr>
              <a:t>局域无系统性损失</a:t>
            </a:r>
          </a:p>
        </p:txBody>
      </p:sp>
      <p:sp>
        <p:nvSpPr>
          <p:cNvPr id="21" name="TextBox 21"/>
          <p:cNvSpPr txBox="1"/>
          <p:nvPr/>
        </p:nvSpPr>
        <p:spPr>
          <a:xfrm>
            <a:off x="4632960" y="2689860"/>
            <a:ext cx="2757666" cy="243840"/>
          </a:xfrm>
          <a:prstGeom prst="rect">
            <a:avLst/>
          </a:prstGeom>
          <a:noFill/>
          <a:ln>
            <a:noFill/>
          </a:ln>
        </p:spPr>
        <p:txBody>
          <a:bodyPr wrap="none" lIns="0" tIns="0" rIns="0" bIns="0" anchor="t" anchorCtr="0">
            <a:spAutoFit/>
          </a:bodyPr>
          <a:lstStyle/>
          <a:p>
            <a:pPr algn="l"/>
            <a:r>
              <a:rPr lang="zh-CN" sz="1200" b="1" dirty="0">
                <a:solidFill>
                  <a:srgbClr val="0F2740"/>
                </a:solidFill>
                <a:latin typeface="Segoe UI"/>
                <a:ea typeface="Microsoft YaHei"/>
                <a:cs typeface="Segoe UI"/>
              </a:rPr>
              <a:t>Dornelas et al. 2014 (Science)</a:t>
            </a:r>
          </a:p>
        </p:txBody>
      </p:sp>
      <p:sp>
        <p:nvSpPr>
          <p:cNvPr id="22" name="TextBox 22"/>
          <p:cNvSpPr txBox="1"/>
          <p:nvPr/>
        </p:nvSpPr>
        <p:spPr>
          <a:xfrm>
            <a:off x="4632960" y="2918460"/>
            <a:ext cx="230886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群落时间序列显示组成在变，</a:t>
            </a:r>
          </a:p>
        </p:txBody>
      </p:sp>
      <p:sp>
        <p:nvSpPr>
          <p:cNvPr id="23" name="TextBox 23"/>
          <p:cNvSpPr txBox="1"/>
          <p:nvPr/>
        </p:nvSpPr>
        <p:spPr>
          <a:xfrm>
            <a:off x="4632960" y="3147060"/>
            <a:ext cx="213360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但局域物种数无系统性下降</a:t>
            </a:r>
          </a:p>
        </p:txBody>
      </p:sp>
      <p:sp>
        <p:nvSpPr>
          <p:cNvPr id="24" name="TextBox 24"/>
          <p:cNvSpPr txBox="1"/>
          <p:nvPr/>
        </p:nvSpPr>
        <p:spPr>
          <a:xfrm>
            <a:off x="4632960" y="3489960"/>
            <a:ext cx="2549597" cy="243840"/>
          </a:xfrm>
          <a:prstGeom prst="rect">
            <a:avLst/>
          </a:prstGeom>
          <a:noFill/>
          <a:ln>
            <a:noFill/>
          </a:ln>
        </p:spPr>
        <p:txBody>
          <a:bodyPr wrap="none" lIns="0" tIns="0" rIns="0" bIns="0" anchor="t" anchorCtr="0">
            <a:spAutoFit/>
          </a:bodyPr>
          <a:lstStyle/>
          <a:p>
            <a:pPr algn="l"/>
            <a:r>
              <a:rPr lang="zh-CN" sz="1200" b="1" dirty="0">
                <a:solidFill>
                  <a:srgbClr val="0F2740"/>
                </a:solidFill>
                <a:latin typeface="Segoe UI"/>
                <a:ea typeface="Microsoft YaHei"/>
                <a:cs typeface="Segoe UI"/>
              </a:rPr>
              <a:t>Blowes et al. 2019 (Science)</a:t>
            </a:r>
          </a:p>
        </p:txBody>
      </p:sp>
      <p:sp>
        <p:nvSpPr>
          <p:cNvPr id="25" name="TextBox 25"/>
          <p:cNvSpPr txBox="1"/>
          <p:nvPr/>
        </p:nvSpPr>
        <p:spPr>
          <a:xfrm>
            <a:off x="4632960" y="3718560"/>
            <a:ext cx="230886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生物多样性变化的地理格局：</a:t>
            </a:r>
          </a:p>
        </p:txBody>
      </p:sp>
      <p:sp>
        <p:nvSpPr>
          <p:cNvPr id="26" name="TextBox 26"/>
          <p:cNvSpPr txBox="1"/>
          <p:nvPr/>
        </p:nvSpPr>
        <p:spPr>
          <a:xfrm>
            <a:off x="4632960" y="3947160"/>
            <a:ext cx="195834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变化强烈，方向因地而异</a:t>
            </a:r>
          </a:p>
        </p:txBody>
      </p:sp>
      <p:sp>
        <p:nvSpPr>
          <p:cNvPr id="27" name="Rectangle 27"/>
          <p:cNvSpPr/>
          <p:nvPr/>
        </p:nvSpPr>
        <p:spPr>
          <a:xfrm>
            <a:off x="8077200" y="1752600"/>
            <a:ext cx="3429000" cy="2533650"/>
          </a:xfrm>
          <a:prstGeom prst="roundRect">
            <a:avLst>
              <a:gd name="adj" fmla="val 3759"/>
            </a:avLst>
          </a:prstGeom>
          <a:solidFill>
            <a:srgbClr val="12395E"/>
          </a:solidFill>
          <a:ln>
            <a:noFill/>
          </a:ln>
        </p:spPr>
      </p:sp>
      <p:sp>
        <p:nvSpPr>
          <p:cNvPr id="28" name="Rectangle 28"/>
          <p:cNvSpPr/>
          <p:nvPr/>
        </p:nvSpPr>
        <p:spPr>
          <a:xfrm>
            <a:off x="8077200" y="1752600"/>
            <a:ext cx="3429000" cy="38100"/>
          </a:xfrm>
          <a:prstGeom prst="roundRect">
            <a:avLst>
              <a:gd name="adj" fmla="val 50000"/>
            </a:avLst>
          </a:prstGeom>
          <a:solidFill>
            <a:srgbClr val="D97A34"/>
          </a:solidFill>
          <a:ln>
            <a:noFill/>
          </a:ln>
        </p:spPr>
      </p:sp>
      <p:sp>
        <p:nvSpPr>
          <p:cNvPr id="29" name="TextBox 29"/>
          <p:cNvSpPr txBox="1"/>
          <p:nvPr/>
        </p:nvSpPr>
        <p:spPr>
          <a:xfrm>
            <a:off x="8329612" y="2012156"/>
            <a:ext cx="685800" cy="228600"/>
          </a:xfrm>
          <a:prstGeom prst="rect">
            <a:avLst/>
          </a:prstGeom>
          <a:noFill/>
          <a:ln>
            <a:noFill/>
          </a:ln>
        </p:spPr>
        <p:txBody>
          <a:bodyPr wrap="none" lIns="0" tIns="0" rIns="0" bIns="0" anchor="t" anchorCtr="0">
            <a:spAutoFit/>
          </a:bodyPr>
          <a:lstStyle/>
          <a:p>
            <a:pPr algn="l"/>
            <a:r>
              <a:rPr lang="zh-CN" sz="1125" dirty="0">
                <a:solidFill>
                  <a:srgbClr val="9FC7EA"/>
                </a:solidFill>
                <a:latin typeface="Segoe UI"/>
                <a:ea typeface="Microsoft YaHei"/>
                <a:cs typeface="Segoe UI"/>
              </a:rPr>
              <a:t>调和线索</a:t>
            </a:r>
          </a:p>
        </p:txBody>
      </p:sp>
      <p:sp>
        <p:nvSpPr>
          <p:cNvPr id="30" name="TextBox 30"/>
          <p:cNvSpPr txBox="1"/>
          <p:nvPr/>
        </p:nvSpPr>
        <p:spPr>
          <a:xfrm>
            <a:off x="8323898" y="2268379"/>
            <a:ext cx="1746818"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Segoe UI"/>
                <a:ea typeface="Microsoft YaHei"/>
                <a:cs typeface="Segoe UI"/>
              </a:rPr>
              <a:t>变化有多种形式</a:t>
            </a:r>
          </a:p>
        </p:txBody>
      </p:sp>
      <p:sp>
        <p:nvSpPr>
          <p:cNvPr id="31" name="TextBox 31"/>
          <p:cNvSpPr txBox="1"/>
          <p:nvPr/>
        </p:nvSpPr>
        <p:spPr>
          <a:xfrm>
            <a:off x="8328660" y="2689860"/>
            <a:ext cx="2239352" cy="243840"/>
          </a:xfrm>
          <a:prstGeom prst="rect">
            <a:avLst/>
          </a:prstGeom>
          <a:noFill/>
          <a:ln>
            <a:noFill/>
          </a:ln>
        </p:spPr>
        <p:txBody>
          <a:bodyPr wrap="none" lIns="0" tIns="0" rIns="0" bIns="0" anchor="t" anchorCtr="0">
            <a:spAutoFit/>
          </a:bodyPr>
          <a:lstStyle/>
          <a:p>
            <a:pPr algn="l"/>
            <a:r>
              <a:rPr lang="zh-CN" sz="1200" b="1" dirty="0">
                <a:solidFill>
                  <a:srgbClr val="C6D8E8"/>
                </a:solidFill>
                <a:latin typeface="Segoe UI"/>
                <a:ea typeface="Microsoft YaHei"/>
                <a:cs typeface="Segoe UI"/>
              </a:rPr>
              <a:t>McGill et al. 2015 (TREE)</a:t>
            </a:r>
          </a:p>
        </p:txBody>
      </p:sp>
      <p:sp>
        <p:nvSpPr>
          <p:cNvPr id="32" name="TextBox 32"/>
          <p:cNvSpPr txBox="1"/>
          <p:nvPr/>
        </p:nvSpPr>
        <p:spPr>
          <a:xfrm>
            <a:off x="8328660" y="2918460"/>
            <a:ext cx="2133600"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人类世的生物多样性趋势有</a:t>
            </a:r>
          </a:p>
        </p:txBody>
      </p:sp>
      <p:sp>
        <p:nvSpPr>
          <p:cNvPr id="33" name="TextBox 33"/>
          <p:cNvSpPr txBox="1"/>
          <p:nvPr/>
        </p:nvSpPr>
        <p:spPr>
          <a:xfrm>
            <a:off x="8328660" y="3147060"/>
            <a:ext cx="2031949"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15 种形式，彼此并不等价</a:t>
            </a:r>
          </a:p>
        </p:txBody>
      </p:sp>
      <p:sp>
        <p:nvSpPr>
          <p:cNvPr id="34" name="TextBox 34"/>
          <p:cNvSpPr txBox="1"/>
          <p:nvPr/>
        </p:nvSpPr>
        <p:spPr>
          <a:xfrm>
            <a:off x="8328660" y="3489960"/>
            <a:ext cx="2386115" cy="243840"/>
          </a:xfrm>
          <a:prstGeom prst="rect">
            <a:avLst/>
          </a:prstGeom>
          <a:noFill/>
          <a:ln>
            <a:noFill/>
          </a:ln>
        </p:spPr>
        <p:txBody>
          <a:bodyPr wrap="none" lIns="0" tIns="0" rIns="0" bIns="0" anchor="t" anchorCtr="0">
            <a:spAutoFit/>
          </a:bodyPr>
          <a:lstStyle/>
          <a:p>
            <a:pPr algn="l"/>
            <a:r>
              <a:rPr lang="zh-CN" sz="1200" b="1" dirty="0">
                <a:solidFill>
                  <a:srgbClr val="C6D8E8"/>
                </a:solidFill>
                <a:latin typeface="Segoe UI"/>
                <a:ea typeface="Microsoft YaHei"/>
                <a:cs typeface="Segoe UI"/>
              </a:rPr>
              <a:t>Jarzyna &amp; Jetz 2017, 2018</a:t>
            </a:r>
          </a:p>
        </p:txBody>
      </p:sp>
      <p:sp>
        <p:nvSpPr>
          <p:cNvPr id="35" name="TextBox 35"/>
          <p:cNvSpPr txBox="1"/>
          <p:nvPr/>
        </p:nvSpPr>
        <p:spPr>
          <a:xfrm>
            <a:off x="8328660" y="3718560"/>
            <a:ext cx="2133600"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鸟类分类与功能多样性变化</a:t>
            </a:r>
          </a:p>
        </p:txBody>
      </p:sp>
      <p:sp>
        <p:nvSpPr>
          <p:cNvPr id="36" name="TextBox 36"/>
          <p:cNvSpPr txBox="1"/>
          <p:nvPr/>
        </p:nvSpPr>
        <p:spPr>
          <a:xfrm>
            <a:off x="8328660" y="3947160"/>
            <a:ext cx="2308860"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方向可以不一致，且尺度依赖</a:t>
            </a:r>
          </a:p>
        </p:txBody>
      </p:sp>
      <p:sp>
        <p:nvSpPr>
          <p:cNvPr id="37" name="Rectangle 37"/>
          <p:cNvSpPr/>
          <p:nvPr/>
        </p:nvSpPr>
        <p:spPr>
          <a:xfrm>
            <a:off x="685800" y="4572000"/>
            <a:ext cx="10820400" cy="1066800"/>
          </a:xfrm>
          <a:prstGeom prst="roundRect">
            <a:avLst>
              <a:gd name="adj" fmla="val 8929"/>
            </a:avLst>
          </a:prstGeom>
          <a:solidFill>
            <a:srgbClr val="FDF4EC"/>
          </a:solidFill>
          <a:ln>
            <a:noFill/>
          </a:ln>
        </p:spPr>
      </p:sp>
      <p:sp>
        <p:nvSpPr>
          <p:cNvPr id="38" name="Rectangle 38"/>
          <p:cNvSpPr/>
          <p:nvPr/>
        </p:nvSpPr>
        <p:spPr>
          <a:xfrm>
            <a:off x="685800" y="4572000"/>
            <a:ext cx="47625" cy="1066800"/>
          </a:xfrm>
          <a:prstGeom prst="roundRect">
            <a:avLst>
              <a:gd name="adj" fmla="val 50000"/>
            </a:avLst>
          </a:prstGeom>
          <a:solidFill>
            <a:srgbClr val="D97A34"/>
          </a:solidFill>
          <a:ln>
            <a:noFill/>
          </a:ln>
        </p:spPr>
      </p:sp>
      <p:sp>
        <p:nvSpPr>
          <p:cNvPr id="39" name="TextBox 39"/>
          <p:cNvSpPr txBox="1"/>
          <p:nvPr/>
        </p:nvSpPr>
        <p:spPr>
          <a:xfrm>
            <a:off x="1046798" y="4763929"/>
            <a:ext cx="5891936" cy="320040"/>
          </a:xfrm>
          <a:prstGeom prst="rect">
            <a:avLst/>
          </a:prstGeom>
          <a:noFill/>
          <a:ln>
            <a:noFill/>
          </a:ln>
        </p:spPr>
        <p:txBody>
          <a:bodyPr wrap="none" lIns="0" tIns="0" rIns="0" bIns="0" anchor="t" anchorCtr="0">
            <a:spAutoFit/>
          </a:bodyPr>
          <a:lstStyle/>
          <a:p>
            <a:pPr algn="l"/>
            <a:r>
              <a:rPr lang="zh-CN" sz="1575" b="1" dirty="0">
                <a:solidFill>
                  <a:srgbClr val="B3611F"/>
                </a:solidFill>
                <a:latin typeface="Segoe UI"/>
                <a:ea typeface="Microsoft YaHei"/>
                <a:cs typeface="Segoe UI"/>
              </a:rPr>
              <a:t>脉络一的启示：两派可能都对，只是在测量不同的维度</a:t>
            </a:r>
          </a:p>
        </p:txBody>
      </p:sp>
      <p:sp>
        <p:nvSpPr>
          <p:cNvPr id="40" name="TextBox 40"/>
          <p:cNvSpPr txBox="1"/>
          <p:nvPr/>
        </p:nvSpPr>
        <p:spPr>
          <a:xfrm>
            <a:off x="1049655" y="5112068"/>
            <a:ext cx="7573975"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"物种数没少"与"生物多样性在退化"并不必然矛盾——若群落在丢失独特性而非物种，</a:t>
            </a:r>
          </a:p>
        </p:txBody>
      </p:sp>
      <p:sp>
        <p:nvSpPr>
          <p:cNvPr id="41" name="TextBox 41"/>
          <p:cNvSpPr txBox="1"/>
          <p:nvPr/>
        </p:nvSpPr>
        <p:spPr>
          <a:xfrm>
            <a:off x="1049655" y="5378768"/>
            <a:ext cx="4766310"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那么只报物种数的研究，注定看不到正在发生的退化。</a:t>
            </a:r>
          </a:p>
        </p:txBody>
      </p:sp>
      <p:sp>
        <p:nvSpPr>
          <p:cNvPr id="42" name="TextBox 42"/>
          <p:cNvSpPr txBox="1"/>
          <p:nvPr/>
        </p:nvSpPr>
        <p:spPr>
          <a:xfrm>
            <a:off x="672465" y="6039802"/>
            <a:ext cx="4216260"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 于是问题变成：我们究竟应该测量哪个维度？（见脉络四）</a:t>
            </a:r>
          </a:p>
        </p:txBody>
      </p:sp>
      <p:sp>
        <p:nvSpPr>
          <p:cNvPr id="43" name="TextBox 43"/>
          <p:cNvSpPr txBox="1"/>
          <p:nvPr/>
        </p:nvSpPr>
        <p:spPr>
          <a:xfrm>
            <a:off x="11408521" y="6458902"/>
            <a:ext cx="111014"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7960233"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文献脉络二：公民科学已成为评估的数据主体</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112692" y="801052"/>
            <a:ext cx="1406842"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一、背景与科学问题</a:t>
            </a:r>
          </a:p>
        </p:txBody>
      </p:sp>
      <p:sp>
        <p:nvSpPr>
          <p:cNvPr id="6" name="TextBox 6"/>
          <p:cNvSpPr txBox="1"/>
          <p:nvPr/>
        </p:nvSpPr>
        <p:spPr>
          <a:xfrm>
            <a:off x="667702" y="1427321"/>
            <a:ext cx="6487954" cy="289560"/>
          </a:xfrm>
          <a:prstGeom prst="rect">
            <a:avLst/>
          </a:prstGeom>
          <a:noFill/>
          <a:ln>
            <a:noFill/>
          </a:ln>
        </p:spPr>
        <p:txBody>
          <a:bodyPr wrap="none" lIns="0" tIns="0" rIns="0" bIns="0" anchor="t" anchorCtr="0">
            <a:spAutoFit/>
          </a:bodyPr>
          <a:lstStyle/>
          <a:p>
            <a:pPr algn="l"/>
            <a:r>
              <a:rPr lang="zh-CN" sz="1425" dirty="0">
                <a:solidFill>
                  <a:srgbClr val="0F2740"/>
                </a:solidFill>
                <a:latin typeface="Segoe UI"/>
                <a:ea typeface="Microsoft YaHei"/>
                <a:cs typeface="Segoe UI"/>
              </a:rPr>
              <a:t>志愿者观测网络贡献了洲际生物多样性评估所依赖的大部分分布记录。</a:t>
            </a:r>
          </a:p>
        </p:txBody>
      </p:sp>
      <p:grpSp>
        <p:nvGrpSpPr>
          <p:cNvPr id="13" name="Group 13"/>
          <p:cNvGrpSpPr/>
          <p:nvPr/>
        </p:nvGrpSpPr>
        <p:grpSpPr>
          <a:xfrm>
            <a:off x="685800" y="1943100"/>
            <a:ext cx="3352800" cy="1714500"/>
            <a:chOff x="685800" y="1943100"/>
            <a:chExt cx="3352800" cy="1714500"/>
          </a:xfrm>
        </p:grpSpPr>
        <p:sp>
          <p:nvSpPr>
            <p:cNvPr id="7" name="Rectangle 7"/>
            <p:cNvSpPr/>
            <p:nvPr/>
          </p:nvSpPr>
          <p:spPr>
            <a:xfrm>
              <a:off x="685800" y="1943100"/>
              <a:ext cx="3352800" cy="1714500"/>
            </a:xfrm>
            <a:prstGeom prst="roundRect">
              <a:avLst>
                <a:gd name="adj" fmla="val 5556"/>
              </a:avLst>
            </a:prstGeom>
            <a:solidFill>
              <a:srgbClr val="F4F7FA"/>
            </a:solidFill>
            <a:ln>
              <a:noFill/>
            </a:ln>
          </p:spPr>
        </p:sp>
        <p:sp>
          <p:nvSpPr>
            <p:cNvPr id="8" name="Rectangle 8"/>
            <p:cNvSpPr/>
            <p:nvPr/>
          </p:nvSpPr>
          <p:spPr>
            <a:xfrm>
              <a:off x="685800" y="1943100"/>
              <a:ext cx="3352800" cy="38100"/>
            </a:xfrm>
            <a:prstGeom prst="roundRect">
              <a:avLst>
                <a:gd name="adj" fmla="val 50000"/>
              </a:avLst>
            </a:prstGeom>
            <a:solidFill>
              <a:srgbClr val="2E75B6"/>
            </a:solidFill>
            <a:ln>
              <a:noFill/>
            </a:ln>
          </p:spPr>
        </p:sp>
        <p:sp>
          <p:nvSpPr>
            <p:cNvPr id="9" name="TextBox 9"/>
            <p:cNvSpPr txBox="1"/>
            <p:nvPr/>
          </p:nvSpPr>
          <p:spPr>
            <a:xfrm>
              <a:off x="975360" y="2270760"/>
              <a:ext cx="73152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时间跨度</a:t>
              </a:r>
            </a:p>
          </p:txBody>
        </p:sp>
        <p:sp>
          <p:nvSpPr>
            <p:cNvPr id="10" name="TextBox 10"/>
            <p:cNvSpPr txBox="1"/>
            <p:nvPr/>
          </p:nvSpPr>
          <p:spPr>
            <a:xfrm>
              <a:off x="933450" y="2581275"/>
              <a:ext cx="880624" cy="914400"/>
            </a:xfrm>
            <a:prstGeom prst="rect">
              <a:avLst/>
            </a:prstGeom>
            <a:noFill/>
            <a:ln>
              <a:noFill/>
            </a:ln>
          </p:spPr>
          <p:txBody>
            <a:bodyPr wrap="none" lIns="0" tIns="0" rIns="0" bIns="0" anchor="t" anchorCtr="0">
              <a:spAutoFit/>
            </a:bodyPr>
            <a:lstStyle/>
            <a:p>
              <a:pPr algn="l"/>
              <a:r>
                <a:rPr lang="zh-CN" sz="4500" b="1" dirty="0">
                  <a:solidFill>
                    <a:srgbClr val="12395E"/>
                  </a:solidFill>
                  <a:latin typeface="Segoe UI"/>
                  <a:ea typeface="Microsoft YaHei"/>
                  <a:cs typeface="Segoe UI"/>
                </a:rPr>
                <a:t>25</a:t>
              </a:r>
            </a:p>
          </p:txBody>
        </p:sp>
        <p:sp>
          <p:nvSpPr>
            <p:cNvPr id="11" name="TextBox 11"/>
            <p:cNvSpPr txBox="1"/>
            <p:nvPr/>
          </p:nvSpPr>
          <p:spPr>
            <a:xfrm>
              <a:off x="1844040" y="2872740"/>
              <a:ext cx="324383" cy="365760"/>
            </a:xfrm>
            <a:prstGeom prst="rect">
              <a:avLst/>
            </a:prstGeom>
            <a:noFill/>
            <a:ln>
              <a:noFill/>
            </a:ln>
          </p:spPr>
          <p:txBody>
            <a:bodyPr wrap="none" lIns="0" tIns="0" rIns="0" bIns="0" anchor="t" anchorCtr="0">
              <a:spAutoFit/>
            </a:bodyPr>
            <a:lstStyle/>
            <a:p>
              <a:pPr algn="l"/>
              <a:r>
                <a:rPr lang="zh-CN" sz="1800" b="1" dirty="0">
                  <a:solidFill>
                    <a:srgbClr val="5A6B7C"/>
                  </a:solidFill>
                  <a:latin typeface="Segoe UI"/>
                  <a:ea typeface="Microsoft YaHei"/>
                  <a:cs typeface="Segoe UI"/>
                </a:rPr>
                <a:t>年</a:t>
              </a:r>
            </a:p>
          </p:txBody>
        </p:sp>
        <p:sp>
          <p:nvSpPr>
            <p:cNvPr id="12" name="TextBox 12"/>
            <p:cNvSpPr txBox="1"/>
            <p:nvPr/>
          </p:nvSpPr>
          <p:spPr>
            <a:xfrm>
              <a:off x="975360" y="3261360"/>
              <a:ext cx="203896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2000–2024，5 个 5 年期</a:t>
              </a:r>
            </a:p>
          </p:txBody>
        </p:sp>
      </p:grpSp>
      <p:grpSp>
        <p:nvGrpSpPr>
          <p:cNvPr id="20" name="Group 20"/>
          <p:cNvGrpSpPr/>
          <p:nvPr/>
        </p:nvGrpSpPr>
        <p:grpSpPr>
          <a:xfrm>
            <a:off x="4419600" y="1943100"/>
            <a:ext cx="3352800" cy="1714500"/>
            <a:chOff x="4419600" y="1943100"/>
            <a:chExt cx="3352800" cy="1714500"/>
          </a:xfrm>
        </p:grpSpPr>
        <p:sp>
          <p:nvSpPr>
            <p:cNvPr id="14" name="Rectangle 14"/>
            <p:cNvSpPr/>
            <p:nvPr/>
          </p:nvSpPr>
          <p:spPr>
            <a:xfrm>
              <a:off x="4419600" y="1943100"/>
              <a:ext cx="3352800" cy="1714500"/>
            </a:xfrm>
            <a:prstGeom prst="roundRect">
              <a:avLst>
                <a:gd name="adj" fmla="val 5556"/>
              </a:avLst>
            </a:prstGeom>
            <a:solidFill>
              <a:srgbClr val="F4F7FA"/>
            </a:solidFill>
            <a:ln>
              <a:noFill/>
            </a:ln>
          </p:spPr>
        </p:sp>
        <p:sp>
          <p:nvSpPr>
            <p:cNvPr id="15" name="Rectangle 15"/>
            <p:cNvSpPr/>
            <p:nvPr/>
          </p:nvSpPr>
          <p:spPr>
            <a:xfrm>
              <a:off x="4419600" y="1943100"/>
              <a:ext cx="3352800" cy="38100"/>
            </a:xfrm>
            <a:prstGeom prst="roundRect">
              <a:avLst>
                <a:gd name="adj" fmla="val 50000"/>
              </a:avLst>
            </a:prstGeom>
            <a:solidFill>
              <a:srgbClr val="2E75B6"/>
            </a:solidFill>
            <a:ln>
              <a:noFill/>
            </a:ln>
          </p:spPr>
        </p:sp>
        <p:sp>
          <p:nvSpPr>
            <p:cNvPr id="16" name="TextBox 16"/>
            <p:cNvSpPr txBox="1"/>
            <p:nvPr/>
          </p:nvSpPr>
          <p:spPr>
            <a:xfrm>
              <a:off x="4709160" y="2270760"/>
              <a:ext cx="73152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空间覆盖</a:t>
              </a:r>
            </a:p>
          </p:txBody>
        </p:sp>
        <p:sp>
          <p:nvSpPr>
            <p:cNvPr id="17" name="TextBox 17"/>
            <p:cNvSpPr txBox="1"/>
            <p:nvPr/>
          </p:nvSpPr>
          <p:spPr>
            <a:xfrm>
              <a:off x="4667250" y="2581275"/>
              <a:ext cx="1842013" cy="914400"/>
            </a:xfrm>
            <a:prstGeom prst="rect">
              <a:avLst/>
            </a:prstGeom>
            <a:noFill/>
            <a:ln>
              <a:noFill/>
            </a:ln>
          </p:spPr>
          <p:txBody>
            <a:bodyPr wrap="none" lIns="0" tIns="0" rIns="0" bIns="0" anchor="t" anchorCtr="0">
              <a:spAutoFit/>
            </a:bodyPr>
            <a:lstStyle/>
            <a:p>
              <a:pPr algn="l"/>
              <a:r>
                <a:rPr lang="zh-CN" sz="4500" b="1" dirty="0">
                  <a:solidFill>
                    <a:srgbClr val="12395E"/>
                  </a:solidFill>
                  <a:latin typeface="Segoe UI"/>
                  <a:ea typeface="Microsoft YaHei"/>
                  <a:cs typeface="Segoe UI"/>
                </a:rPr>
                <a:t>1,247</a:t>
              </a:r>
            </a:p>
          </p:txBody>
        </p:sp>
        <p:sp>
          <p:nvSpPr>
            <p:cNvPr id="18" name="TextBox 18"/>
            <p:cNvSpPr txBox="1"/>
            <p:nvPr/>
          </p:nvSpPr>
          <p:spPr>
            <a:xfrm>
              <a:off x="6416040" y="2872740"/>
              <a:ext cx="324383" cy="365760"/>
            </a:xfrm>
            <a:prstGeom prst="rect">
              <a:avLst/>
            </a:prstGeom>
            <a:noFill/>
            <a:ln>
              <a:noFill/>
            </a:ln>
          </p:spPr>
          <p:txBody>
            <a:bodyPr wrap="none" lIns="0" tIns="0" rIns="0" bIns="0" anchor="t" anchorCtr="0">
              <a:spAutoFit/>
            </a:bodyPr>
            <a:lstStyle/>
            <a:p>
              <a:pPr algn="l"/>
              <a:r>
                <a:rPr lang="zh-CN" sz="1800" b="1" dirty="0">
                  <a:solidFill>
                    <a:srgbClr val="5A6B7C"/>
                  </a:solidFill>
                  <a:latin typeface="Segoe UI"/>
                  <a:ea typeface="Microsoft YaHei"/>
                  <a:cs typeface="Segoe UI"/>
                </a:rPr>
                <a:t>格</a:t>
              </a:r>
            </a:p>
          </p:txBody>
        </p:sp>
        <p:sp>
          <p:nvSpPr>
            <p:cNvPr id="19" name="TextBox 19"/>
            <p:cNvSpPr txBox="1"/>
            <p:nvPr/>
          </p:nvSpPr>
          <p:spPr>
            <a:xfrm>
              <a:off x="4709160" y="3261360"/>
              <a:ext cx="2205457"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100 km 等积网格，全国覆盖</a:t>
              </a:r>
            </a:p>
          </p:txBody>
        </p:sp>
      </p:grpSp>
      <p:grpSp>
        <p:nvGrpSpPr>
          <p:cNvPr id="27" name="Group 27"/>
          <p:cNvGrpSpPr/>
          <p:nvPr/>
        </p:nvGrpSpPr>
        <p:grpSpPr>
          <a:xfrm>
            <a:off x="8153400" y="1943100"/>
            <a:ext cx="3352800" cy="1714500"/>
            <a:chOff x="8153400" y="1943100"/>
            <a:chExt cx="3352800" cy="1714500"/>
          </a:xfrm>
        </p:grpSpPr>
        <p:sp>
          <p:nvSpPr>
            <p:cNvPr id="21" name="Rectangle 21"/>
            <p:cNvSpPr/>
            <p:nvPr/>
          </p:nvSpPr>
          <p:spPr>
            <a:xfrm>
              <a:off x="8153400" y="1943100"/>
              <a:ext cx="3352800" cy="1714500"/>
            </a:xfrm>
            <a:prstGeom prst="roundRect">
              <a:avLst>
                <a:gd name="adj" fmla="val 5556"/>
              </a:avLst>
            </a:prstGeom>
            <a:solidFill>
              <a:srgbClr val="F4F7FA"/>
            </a:solidFill>
            <a:ln>
              <a:noFill/>
            </a:ln>
          </p:spPr>
        </p:sp>
        <p:sp>
          <p:nvSpPr>
            <p:cNvPr id="22" name="Rectangle 22"/>
            <p:cNvSpPr/>
            <p:nvPr/>
          </p:nvSpPr>
          <p:spPr>
            <a:xfrm>
              <a:off x="8153400" y="1943100"/>
              <a:ext cx="3352800" cy="38100"/>
            </a:xfrm>
            <a:prstGeom prst="roundRect">
              <a:avLst>
                <a:gd name="adj" fmla="val 50000"/>
              </a:avLst>
            </a:prstGeom>
            <a:solidFill>
              <a:srgbClr val="2E75B6"/>
            </a:solidFill>
            <a:ln>
              <a:noFill/>
            </a:ln>
          </p:spPr>
        </p:sp>
        <p:sp>
          <p:nvSpPr>
            <p:cNvPr id="23" name="TextBox 23"/>
            <p:cNvSpPr txBox="1"/>
            <p:nvPr/>
          </p:nvSpPr>
          <p:spPr>
            <a:xfrm>
              <a:off x="8442960" y="2270760"/>
              <a:ext cx="55626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物种池</a:t>
              </a:r>
            </a:p>
          </p:txBody>
        </p:sp>
        <p:sp>
          <p:nvSpPr>
            <p:cNvPr id="24" name="TextBox 24"/>
            <p:cNvSpPr txBox="1"/>
            <p:nvPr/>
          </p:nvSpPr>
          <p:spPr>
            <a:xfrm>
              <a:off x="8401050" y="2581275"/>
              <a:ext cx="1263787" cy="914400"/>
            </a:xfrm>
            <a:prstGeom prst="rect">
              <a:avLst/>
            </a:prstGeom>
            <a:noFill/>
            <a:ln>
              <a:noFill/>
            </a:ln>
          </p:spPr>
          <p:txBody>
            <a:bodyPr wrap="none" lIns="0" tIns="0" rIns="0" bIns="0" anchor="t" anchorCtr="0">
              <a:spAutoFit/>
            </a:bodyPr>
            <a:lstStyle/>
            <a:p>
              <a:pPr algn="l"/>
              <a:r>
                <a:rPr lang="zh-CN" sz="4500" b="1" dirty="0">
                  <a:solidFill>
                    <a:srgbClr val="12395E"/>
                  </a:solidFill>
                  <a:latin typeface="Segoe UI"/>
                  <a:ea typeface="Microsoft YaHei"/>
                  <a:cs typeface="Segoe UI"/>
                </a:rPr>
                <a:t>200</a:t>
              </a:r>
            </a:p>
          </p:txBody>
        </p:sp>
        <p:sp>
          <p:nvSpPr>
            <p:cNvPr id="25" name="TextBox 25"/>
            <p:cNvSpPr txBox="1"/>
            <p:nvPr/>
          </p:nvSpPr>
          <p:spPr>
            <a:xfrm>
              <a:off x="9502140" y="2872740"/>
              <a:ext cx="750738" cy="365760"/>
            </a:xfrm>
            <a:prstGeom prst="rect">
              <a:avLst/>
            </a:prstGeom>
            <a:noFill/>
            <a:ln>
              <a:noFill/>
            </a:ln>
          </p:spPr>
          <p:txBody>
            <a:bodyPr wrap="none" lIns="0" tIns="0" rIns="0" bIns="0" anchor="t" anchorCtr="0">
              <a:spAutoFit/>
            </a:bodyPr>
            <a:lstStyle/>
            <a:p>
              <a:pPr algn="l"/>
              <a:r>
                <a:rPr lang="zh-CN" sz="1800" b="1" dirty="0">
                  <a:solidFill>
                    <a:srgbClr val="5A6B7C"/>
                  </a:solidFill>
                  <a:latin typeface="Segoe UI"/>
                  <a:ea typeface="Microsoft YaHei"/>
                  <a:cs typeface="Segoe UI"/>
                </a:rPr>
                <a:t>/ 500</a:t>
              </a:r>
            </a:p>
          </p:txBody>
        </p:sp>
        <p:sp>
          <p:nvSpPr>
            <p:cNvPr id="26" name="TextBox 26"/>
            <p:cNvSpPr txBox="1"/>
            <p:nvPr/>
          </p:nvSpPr>
          <p:spPr>
            <a:xfrm>
              <a:off x="8442960" y="3261360"/>
              <a:ext cx="1818132"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空间主模型 / 广度检验</a:t>
              </a:r>
            </a:p>
          </p:txBody>
        </p:sp>
      </p:grpSp>
      <p:grpSp>
        <p:nvGrpSpPr>
          <p:cNvPr id="37" name="Group 37"/>
          <p:cNvGrpSpPr/>
          <p:nvPr/>
        </p:nvGrpSpPr>
        <p:grpSpPr>
          <a:xfrm>
            <a:off x="685800" y="4000500"/>
            <a:ext cx="10820400" cy="1676400"/>
            <a:chOff x="685800" y="4000500"/>
            <a:chExt cx="10820400" cy="1676400"/>
          </a:xfrm>
        </p:grpSpPr>
        <p:sp>
          <p:nvSpPr>
            <p:cNvPr id="28" name="Rectangle 28"/>
            <p:cNvSpPr/>
            <p:nvPr/>
          </p:nvSpPr>
          <p:spPr>
            <a:xfrm>
              <a:off x="685800" y="4000500"/>
              <a:ext cx="10820400" cy="1676400"/>
            </a:xfrm>
            <a:prstGeom prst="roundRect">
              <a:avLst>
                <a:gd name="adj" fmla="val 5682"/>
              </a:avLst>
            </a:prstGeom>
            <a:solidFill>
              <a:srgbClr val="FFFFFF"/>
            </a:solidFill>
            <a:ln w="9525">
              <a:solidFill>
                <a:srgbClr val="D8DFE7"/>
              </a:solidFill>
            </a:ln>
          </p:spPr>
        </p:sp>
        <p:sp>
          <p:nvSpPr>
            <p:cNvPr id="29" name="Rectangle 29"/>
            <p:cNvSpPr/>
            <p:nvPr/>
          </p:nvSpPr>
          <p:spPr>
            <a:xfrm>
              <a:off x="990600" y="4305300"/>
              <a:ext cx="38100" cy="1066800"/>
            </a:xfrm>
            <a:prstGeom prst="roundRect">
              <a:avLst>
                <a:gd name="adj" fmla="val 50000"/>
              </a:avLst>
            </a:prstGeom>
            <a:solidFill>
              <a:srgbClr val="2E75B6"/>
            </a:solidFill>
            <a:ln>
              <a:noFill/>
            </a:ln>
          </p:spPr>
        </p:sp>
        <p:sp>
          <p:nvSpPr>
            <p:cNvPr id="30" name="TextBox 30"/>
            <p:cNvSpPr txBox="1"/>
            <p:nvPr/>
          </p:nvSpPr>
          <p:spPr>
            <a:xfrm>
              <a:off x="1198245" y="4374832"/>
              <a:ext cx="552793" cy="335280"/>
            </a:xfrm>
            <a:prstGeom prst="rect">
              <a:avLst/>
            </a:prstGeom>
            <a:noFill/>
            <a:ln>
              <a:noFill/>
            </a:ln>
          </p:spPr>
          <p:txBody>
            <a:bodyPr wrap="none" lIns="0" tIns="0" rIns="0" bIns="0" anchor="t" anchorCtr="0">
              <a:spAutoFit/>
            </a:bodyPr>
            <a:lstStyle/>
            <a:p>
              <a:pPr algn="l"/>
              <a:r>
                <a:rPr lang="zh-CN" sz="1650" b="1" dirty="0">
                  <a:solidFill>
                    <a:srgbClr val="12395E"/>
                  </a:solidFill>
                  <a:latin typeface="Segoe UI"/>
                  <a:ea typeface="Microsoft YaHei"/>
                  <a:cs typeface="Segoe UI"/>
                </a:rPr>
                <a:t>机遇</a:t>
              </a:r>
            </a:p>
          </p:txBody>
        </p:sp>
        <p:sp>
          <p:nvSpPr>
            <p:cNvPr id="31" name="TextBox 31"/>
            <p:cNvSpPr txBox="1"/>
            <p:nvPr/>
          </p:nvSpPr>
          <p:spPr>
            <a:xfrm>
              <a:off x="1202055" y="4731068"/>
              <a:ext cx="4715046"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中国观鸟参与度与数字上报在 25 年间增长数个量级，</a:t>
              </a:r>
            </a:p>
          </p:txBody>
        </p:sp>
        <p:sp>
          <p:nvSpPr>
            <p:cNvPr id="32" name="TextBox 32"/>
            <p:cNvSpPr txBox="1"/>
            <p:nvPr/>
          </p:nvSpPr>
          <p:spPr>
            <a:xfrm>
              <a:off x="1202055" y="5016818"/>
              <a:ext cx="2794635"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形成前所未有的国家尺度覆盖。</a:t>
              </a:r>
            </a:p>
          </p:txBody>
        </p:sp>
        <p:sp>
          <p:nvSpPr>
            <p:cNvPr id="33" name="Rectangle 33"/>
            <p:cNvSpPr/>
            <p:nvPr/>
          </p:nvSpPr>
          <p:spPr>
            <a:xfrm>
              <a:off x="6324600" y="4305300"/>
              <a:ext cx="38100" cy="1066800"/>
            </a:xfrm>
            <a:prstGeom prst="roundRect">
              <a:avLst>
                <a:gd name="adj" fmla="val 50000"/>
              </a:avLst>
            </a:prstGeom>
            <a:solidFill>
              <a:srgbClr val="D97A34"/>
            </a:solidFill>
            <a:ln>
              <a:noFill/>
            </a:ln>
          </p:spPr>
        </p:sp>
        <p:sp>
          <p:nvSpPr>
            <p:cNvPr id="34" name="TextBox 34"/>
            <p:cNvSpPr txBox="1"/>
            <p:nvPr/>
          </p:nvSpPr>
          <p:spPr>
            <a:xfrm>
              <a:off x="6532245" y="4374832"/>
              <a:ext cx="552793" cy="335280"/>
            </a:xfrm>
            <a:prstGeom prst="rect">
              <a:avLst/>
            </a:prstGeom>
            <a:noFill/>
            <a:ln>
              <a:noFill/>
            </a:ln>
          </p:spPr>
          <p:txBody>
            <a:bodyPr wrap="none" lIns="0" tIns="0" rIns="0" bIns="0" anchor="t" anchorCtr="0">
              <a:spAutoFit/>
            </a:bodyPr>
            <a:lstStyle/>
            <a:p>
              <a:pPr algn="l"/>
              <a:r>
                <a:rPr lang="zh-CN" sz="1650" b="1" dirty="0">
                  <a:solidFill>
                    <a:srgbClr val="B3611F"/>
                  </a:solidFill>
                  <a:latin typeface="Segoe UI"/>
                  <a:ea typeface="Microsoft YaHei"/>
                  <a:cs typeface="Segoe UI"/>
                </a:rPr>
                <a:t>危险</a:t>
              </a:r>
            </a:p>
          </p:txBody>
        </p:sp>
        <p:sp>
          <p:nvSpPr>
            <p:cNvPr id="35" name="TextBox 35"/>
            <p:cNvSpPr txBox="1"/>
            <p:nvPr/>
          </p:nvSpPr>
          <p:spPr>
            <a:xfrm>
              <a:off x="6536055" y="4731068"/>
              <a:ext cx="4569142"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观测扩张与报告到的物种增长在空间上可能重叠——</a:t>
              </a:r>
            </a:p>
          </p:txBody>
        </p:sp>
        <p:sp>
          <p:nvSpPr>
            <p:cNvPr id="36" name="TextBox 36"/>
            <p:cNvSpPr txBox="1"/>
            <p:nvPr/>
          </p:nvSpPr>
          <p:spPr>
            <a:xfrm>
              <a:off x="6536055" y="5016818"/>
              <a:ext cx="3780472"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增长可能来自看得更多，而非鸟变得更多。</a:t>
              </a:r>
            </a:p>
          </p:txBody>
        </p:sp>
      </p:grpSp>
      <p:sp>
        <p:nvSpPr>
          <p:cNvPr id="38" name="TextBox 38"/>
          <p:cNvSpPr txBox="1"/>
          <p:nvPr/>
        </p:nvSpPr>
        <p:spPr>
          <a:xfrm>
            <a:off x="672465" y="6039802"/>
            <a:ext cx="4871075"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Sullivan et al. 2009；Callaghan et al. 2020 | 来源：GCB 稿件 v6 引言</a:t>
            </a:r>
          </a:p>
        </p:txBody>
      </p:sp>
      <p:sp>
        <p:nvSpPr>
          <p:cNvPr id="39" name="TextBox 39"/>
          <p:cNvSpPr txBox="1"/>
          <p:nvPr/>
        </p:nvSpPr>
        <p:spPr>
          <a:xfrm>
            <a:off x="11408521" y="6458902"/>
            <a:ext cx="111014"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7565460"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脉络二（续）：观测扩张可伪装成生态增长</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112692" y="801052"/>
            <a:ext cx="1406842"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一、背景与科学问题</a:t>
            </a:r>
          </a:p>
        </p:txBody>
      </p:sp>
      <p:sp>
        <p:nvSpPr>
          <p:cNvPr id="6" name="TextBox 6"/>
          <p:cNvSpPr txBox="1"/>
          <p:nvPr/>
        </p:nvSpPr>
        <p:spPr>
          <a:xfrm>
            <a:off x="664845" y="1441132"/>
            <a:ext cx="3107207" cy="335280"/>
          </a:xfrm>
          <a:prstGeom prst="rect">
            <a:avLst/>
          </a:prstGeom>
          <a:noFill/>
          <a:ln>
            <a:noFill/>
          </a:ln>
        </p:spPr>
        <p:txBody>
          <a:bodyPr wrap="none" lIns="0" tIns="0" rIns="0" bIns="0" anchor="t" anchorCtr="0">
            <a:spAutoFit/>
          </a:bodyPr>
          <a:lstStyle/>
          <a:p>
            <a:pPr algn="l"/>
            <a:r>
              <a:rPr lang="zh-CN" sz="1650" b="1" dirty="0">
                <a:solidFill>
                  <a:srgbClr val="12395E"/>
                </a:solidFill>
                <a:latin typeface="Segoe UI"/>
                <a:ea typeface="Microsoft YaHei"/>
                <a:cs typeface="Segoe UI"/>
              </a:rPr>
              <a:t>观测过程本身在随时间变化</a:t>
            </a:r>
          </a:p>
        </p:txBody>
      </p:sp>
      <p:grpSp>
        <p:nvGrpSpPr>
          <p:cNvPr id="12" name="Group 12"/>
          <p:cNvGrpSpPr/>
          <p:nvPr/>
        </p:nvGrpSpPr>
        <p:grpSpPr>
          <a:xfrm>
            <a:off x="685800" y="1828800"/>
            <a:ext cx="5181600" cy="685800"/>
            <a:chOff x="685800" y="1828800"/>
            <a:chExt cx="5181600" cy="685800"/>
          </a:xfrm>
        </p:grpSpPr>
        <p:sp>
          <p:nvSpPr>
            <p:cNvPr id="7" name="Rectangle 7"/>
            <p:cNvSpPr/>
            <p:nvPr/>
          </p:nvSpPr>
          <p:spPr>
            <a:xfrm>
              <a:off x="685800" y="1828800"/>
              <a:ext cx="5181600" cy="685800"/>
            </a:xfrm>
            <a:prstGeom prst="roundRect">
              <a:avLst>
                <a:gd name="adj" fmla="val 11111"/>
              </a:avLst>
            </a:prstGeom>
            <a:solidFill>
              <a:srgbClr val="F4F7FA"/>
            </a:solidFill>
            <a:ln>
              <a:noFill/>
            </a:ln>
          </p:spPr>
        </p:sp>
        <p:sp>
          <p:nvSpPr>
            <p:cNvPr id="8" name="Ellipse 8"/>
            <p:cNvSpPr/>
            <p:nvPr/>
          </p:nvSpPr>
          <p:spPr>
            <a:xfrm>
              <a:off x="914400" y="2019300"/>
              <a:ext cx="304800" cy="304800"/>
            </a:xfrm>
            <a:prstGeom prst="ellipse">
              <a:avLst/>
            </a:prstGeom>
            <a:solidFill>
              <a:srgbClr val="2E75B6"/>
            </a:solidFill>
            <a:ln>
              <a:noFill/>
            </a:ln>
          </p:spPr>
        </p:sp>
        <p:sp>
          <p:nvSpPr>
            <p:cNvPr id="9" name="TextBox 9"/>
            <p:cNvSpPr txBox="1"/>
            <p:nvPr/>
          </p:nvSpPr>
          <p:spPr>
            <a:xfrm>
              <a:off x="1000472" y="2099310"/>
              <a:ext cx="13265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1</a:t>
              </a:r>
            </a:p>
          </p:txBody>
        </p:sp>
        <p:sp>
          <p:nvSpPr>
            <p:cNvPr id="10" name="TextBox 10"/>
            <p:cNvSpPr txBox="1"/>
            <p:nvPr/>
          </p:nvSpPr>
          <p:spPr>
            <a:xfrm>
              <a:off x="1353502" y="1960721"/>
              <a:ext cx="1580455"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努力随参与增长</a:t>
              </a:r>
            </a:p>
          </p:txBody>
        </p:sp>
        <p:sp>
          <p:nvSpPr>
            <p:cNvPr id="11" name="TextBox 11"/>
            <p:cNvSpPr txBox="1"/>
            <p:nvPr/>
          </p:nvSpPr>
          <p:spPr>
            <a:xfrm>
              <a:off x="1356360" y="2232660"/>
              <a:ext cx="318516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观鸟人数、出行次数、上报频率同步上升</a:t>
              </a:r>
            </a:p>
          </p:txBody>
        </p:sp>
      </p:grpSp>
      <p:grpSp>
        <p:nvGrpSpPr>
          <p:cNvPr id="18" name="Group 18"/>
          <p:cNvGrpSpPr/>
          <p:nvPr/>
        </p:nvGrpSpPr>
        <p:grpSpPr>
          <a:xfrm>
            <a:off x="685800" y="2628900"/>
            <a:ext cx="5181600" cy="685800"/>
            <a:chOff x="685800" y="2628900"/>
            <a:chExt cx="5181600" cy="685800"/>
          </a:xfrm>
        </p:grpSpPr>
        <p:sp>
          <p:nvSpPr>
            <p:cNvPr id="13" name="Rectangle 13"/>
            <p:cNvSpPr/>
            <p:nvPr/>
          </p:nvSpPr>
          <p:spPr>
            <a:xfrm>
              <a:off x="685800" y="2628900"/>
              <a:ext cx="5181600" cy="685800"/>
            </a:xfrm>
            <a:prstGeom prst="roundRect">
              <a:avLst>
                <a:gd name="adj" fmla="val 11111"/>
              </a:avLst>
            </a:prstGeom>
            <a:solidFill>
              <a:srgbClr val="F4F7FA"/>
            </a:solidFill>
            <a:ln>
              <a:noFill/>
            </a:ln>
          </p:spPr>
        </p:sp>
        <p:sp>
          <p:nvSpPr>
            <p:cNvPr id="14" name="Ellipse 14"/>
            <p:cNvSpPr/>
            <p:nvPr/>
          </p:nvSpPr>
          <p:spPr>
            <a:xfrm>
              <a:off x="914400" y="2819400"/>
              <a:ext cx="304800" cy="304800"/>
            </a:xfrm>
            <a:prstGeom prst="ellipse">
              <a:avLst/>
            </a:prstGeom>
            <a:solidFill>
              <a:srgbClr val="2E75B6"/>
            </a:solidFill>
            <a:ln>
              <a:noFill/>
            </a:ln>
          </p:spPr>
        </p:sp>
        <p:sp>
          <p:nvSpPr>
            <p:cNvPr id="15" name="TextBox 15"/>
            <p:cNvSpPr txBox="1"/>
            <p:nvPr/>
          </p:nvSpPr>
          <p:spPr>
            <a:xfrm>
              <a:off x="1000472" y="2899410"/>
              <a:ext cx="13265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2</a:t>
              </a:r>
            </a:p>
          </p:txBody>
        </p:sp>
        <p:sp>
          <p:nvSpPr>
            <p:cNvPr id="16" name="TextBox 16"/>
            <p:cNvSpPr txBox="1"/>
            <p:nvPr/>
          </p:nvSpPr>
          <p:spPr>
            <a:xfrm>
              <a:off x="1353502" y="2760821"/>
              <a:ext cx="1580455"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空间分布不随机</a:t>
              </a:r>
            </a:p>
          </p:txBody>
        </p:sp>
        <p:sp>
          <p:nvSpPr>
            <p:cNvPr id="17" name="TextBox 17"/>
            <p:cNvSpPr txBox="1"/>
            <p:nvPr/>
          </p:nvSpPr>
          <p:spPr>
            <a:xfrm>
              <a:off x="1356360" y="3032760"/>
              <a:ext cx="283464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观测者聚集于城市、道路与可达区域</a:t>
              </a:r>
            </a:p>
          </p:txBody>
        </p:sp>
      </p:grpSp>
      <p:grpSp>
        <p:nvGrpSpPr>
          <p:cNvPr id="24" name="Group 24"/>
          <p:cNvGrpSpPr/>
          <p:nvPr/>
        </p:nvGrpSpPr>
        <p:grpSpPr>
          <a:xfrm>
            <a:off x="685800" y="3429000"/>
            <a:ext cx="5181600" cy="685800"/>
            <a:chOff x="685800" y="3429000"/>
            <a:chExt cx="5181600" cy="685800"/>
          </a:xfrm>
        </p:grpSpPr>
        <p:sp>
          <p:nvSpPr>
            <p:cNvPr id="19" name="Rectangle 19"/>
            <p:cNvSpPr/>
            <p:nvPr/>
          </p:nvSpPr>
          <p:spPr>
            <a:xfrm>
              <a:off x="685800" y="3429000"/>
              <a:ext cx="5181600" cy="685800"/>
            </a:xfrm>
            <a:prstGeom prst="roundRect">
              <a:avLst>
                <a:gd name="adj" fmla="val 11111"/>
              </a:avLst>
            </a:prstGeom>
            <a:solidFill>
              <a:srgbClr val="F4F7FA"/>
            </a:solidFill>
            <a:ln>
              <a:noFill/>
            </a:ln>
          </p:spPr>
        </p:sp>
        <p:sp>
          <p:nvSpPr>
            <p:cNvPr id="20" name="Ellipse 20"/>
            <p:cNvSpPr/>
            <p:nvPr/>
          </p:nvSpPr>
          <p:spPr>
            <a:xfrm>
              <a:off x="914400" y="3619500"/>
              <a:ext cx="304800" cy="304800"/>
            </a:xfrm>
            <a:prstGeom prst="ellipse">
              <a:avLst/>
            </a:prstGeom>
            <a:solidFill>
              <a:srgbClr val="2E75B6"/>
            </a:solidFill>
            <a:ln>
              <a:noFill/>
            </a:ln>
          </p:spPr>
        </p:sp>
        <p:sp>
          <p:nvSpPr>
            <p:cNvPr id="21" name="TextBox 21"/>
            <p:cNvSpPr txBox="1"/>
            <p:nvPr/>
          </p:nvSpPr>
          <p:spPr>
            <a:xfrm>
              <a:off x="1000472" y="3699510"/>
              <a:ext cx="13265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3</a:t>
              </a:r>
            </a:p>
          </p:txBody>
        </p:sp>
        <p:sp>
          <p:nvSpPr>
            <p:cNvPr id="22" name="TextBox 22"/>
            <p:cNvSpPr txBox="1"/>
            <p:nvPr/>
          </p:nvSpPr>
          <p:spPr>
            <a:xfrm>
              <a:off x="1353502" y="3560921"/>
              <a:ext cx="1359846"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平台协议不同</a:t>
              </a:r>
            </a:p>
          </p:txBody>
        </p:sp>
        <p:sp>
          <p:nvSpPr>
            <p:cNvPr id="23" name="TextBox 23"/>
            <p:cNvSpPr txBox="1"/>
            <p:nvPr/>
          </p:nvSpPr>
          <p:spPr>
            <a:xfrm>
              <a:off x="1356360" y="3832860"/>
              <a:ext cx="3037942"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观鸟记录中心与 eBird 的记录方式有别</a:t>
              </a:r>
            </a:p>
          </p:txBody>
        </p:sp>
      </p:grpSp>
      <p:grpSp>
        <p:nvGrpSpPr>
          <p:cNvPr id="30" name="Group 30"/>
          <p:cNvGrpSpPr/>
          <p:nvPr/>
        </p:nvGrpSpPr>
        <p:grpSpPr>
          <a:xfrm>
            <a:off x="685800" y="4229100"/>
            <a:ext cx="5181600" cy="685800"/>
            <a:chOff x="685800" y="4229100"/>
            <a:chExt cx="5181600" cy="685800"/>
          </a:xfrm>
        </p:grpSpPr>
        <p:sp>
          <p:nvSpPr>
            <p:cNvPr id="25" name="Rectangle 25"/>
            <p:cNvSpPr/>
            <p:nvPr/>
          </p:nvSpPr>
          <p:spPr>
            <a:xfrm>
              <a:off x="685800" y="4229100"/>
              <a:ext cx="5181600" cy="685800"/>
            </a:xfrm>
            <a:prstGeom prst="roundRect">
              <a:avLst>
                <a:gd name="adj" fmla="val 11111"/>
              </a:avLst>
            </a:prstGeom>
            <a:solidFill>
              <a:srgbClr val="F4F7FA"/>
            </a:solidFill>
            <a:ln>
              <a:noFill/>
            </a:ln>
          </p:spPr>
        </p:sp>
        <p:sp>
          <p:nvSpPr>
            <p:cNvPr id="26" name="Ellipse 26"/>
            <p:cNvSpPr/>
            <p:nvPr/>
          </p:nvSpPr>
          <p:spPr>
            <a:xfrm>
              <a:off x="914400" y="4419600"/>
              <a:ext cx="304800" cy="304800"/>
            </a:xfrm>
            <a:prstGeom prst="ellipse">
              <a:avLst/>
            </a:prstGeom>
            <a:solidFill>
              <a:srgbClr val="2E75B6"/>
            </a:solidFill>
            <a:ln>
              <a:noFill/>
            </a:ln>
          </p:spPr>
        </p:sp>
        <p:sp>
          <p:nvSpPr>
            <p:cNvPr id="27" name="TextBox 27"/>
            <p:cNvSpPr txBox="1"/>
            <p:nvPr/>
          </p:nvSpPr>
          <p:spPr>
            <a:xfrm>
              <a:off x="1000472" y="4499610"/>
              <a:ext cx="13265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4</a:t>
              </a:r>
            </a:p>
          </p:txBody>
        </p:sp>
        <p:sp>
          <p:nvSpPr>
            <p:cNvPr id="28" name="TextBox 28"/>
            <p:cNvSpPr txBox="1"/>
            <p:nvPr/>
          </p:nvSpPr>
          <p:spPr>
            <a:xfrm>
              <a:off x="1353502" y="4361021"/>
              <a:ext cx="1801063"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物种可探测性各异</a:t>
              </a:r>
            </a:p>
          </p:txBody>
        </p:sp>
        <p:sp>
          <p:nvSpPr>
            <p:cNvPr id="29" name="TextBox 29"/>
            <p:cNvSpPr txBox="1"/>
            <p:nvPr/>
          </p:nvSpPr>
          <p:spPr>
            <a:xfrm>
              <a:off x="1356360" y="4632960"/>
              <a:ext cx="300990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隐蔽种与显眼种被发现的概率相差悬殊</a:t>
              </a:r>
            </a:p>
          </p:txBody>
        </p:sp>
      </p:grpSp>
      <p:sp>
        <p:nvSpPr>
          <p:cNvPr id="31" name="Rectangle 31"/>
          <p:cNvSpPr/>
          <p:nvPr/>
        </p:nvSpPr>
        <p:spPr>
          <a:xfrm>
            <a:off x="6324600" y="1828800"/>
            <a:ext cx="5181600" cy="3086100"/>
          </a:xfrm>
          <a:prstGeom prst="roundRect">
            <a:avLst>
              <a:gd name="adj" fmla="val 3086"/>
            </a:avLst>
          </a:prstGeom>
          <a:solidFill>
            <a:srgbClr val="12395E"/>
          </a:solidFill>
          <a:ln>
            <a:noFill/>
          </a:ln>
        </p:spPr>
      </p:sp>
      <p:sp>
        <p:nvSpPr>
          <p:cNvPr id="32" name="TextBox 32"/>
          <p:cNvSpPr txBox="1"/>
          <p:nvPr/>
        </p:nvSpPr>
        <p:spPr>
          <a:xfrm>
            <a:off x="6608445" y="2050732"/>
            <a:ext cx="3107207"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Segoe UI"/>
                <a:ea typeface="Microsoft YaHei"/>
                <a:cs typeface="Segoe UI"/>
              </a:rPr>
              <a:t>同一条上升曲线，两种解释</a:t>
            </a:r>
          </a:p>
        </p:txBody>
      </p:sp>
      <p:sp>
        <p:nvSpPr>
          <p:cNvPr id="33" name="Rectangle 33"/>
          <p:cNvSpPr/>
          <p:nvPr/>
        </p:nvSpPr>
        <p:spPr>
          <a:xfrm>
            <a:off x="6629400" y="2495550"/>
            <a:ext cx="4572000" cy="9525"/>
          </a:xfrm>
          <a:prstGeom prst="rect">
            <a:avLst/>
          </a:prstGeom>
          <a:solidFill>
            <a:srgbClr val="3D5F80"/>
          </a:solidFill>
          <a:ln>
            <a:noFill/>
          </a:ln>
        </p:spPr>
      </p:sp>
      <p:sp>
        <p:nvSpPr>
          <p:cNvPr id="34" name="Polyline 34"/>
          <p:cNvSpPr/>
          <p:nvPr/>
        </p:nvSpPr>
        <p:spPr>
          <a:xfrm>
            <a:off x="6781800" y="2590800"/>
            <a:ext cx="4191000" cy="1504950"/>
          </a:xfrm>
          <a:custGeom>
            <a:avLst/>
            <a:gdLst/>
            <a:ahLst/>
            <a:cxnLst/>
            <a:rect l="l" t="t" r="r" b="b"/>
            <a:pathLst>
              <a:path w="4191000" h="1504950">
                <a:moveTo>
                  <a:pt x="0" y="1504950"/>
                </a:moveTo>
                <a:lnTo>
                  <a:pt x="838200" y="1314450"/>
                </a:lnTo>
                <a:lnTo>
                  <a:pt x="1676400" y="1047750"/>
                </a:lnTo>
                <a:lnTo>
                  <a:pt x="2514600" y="800100"/>
                </a:lnTo>
                <a:lnTo>
                  <a:pt x="3352800" y="323850"/>
                </a:lnTo>
                <a:lnTo>
                  <a:pt x="4191000" y="0"/>
                </a:lnTo>
              </a:path>
            </a:pathLst>
          </a:custGeom>
          <a:noFill/>
          <a:ln w="38100" cap="rnd">
            <a:solidFill>
              <a:srgbClr val="9FC7EA"/>
            </a:solidFill>
          </a:ln>
        </p:spPr>
      </p:sp>
      <p:sp>
        <p:nvSpPr>
          <p:cNvPr id="35" name="Ellipse 35"/>
          <p:cNvSpPr/>
          <p:nvPr/>
        </p:nvSpPr>
        <p:spPr>
          <a:xfrm>
            <a:off x="6724650" y="4038600"/>
            <a:ext cx="114300" cy="114300"/>
          </a:xfrm>
          <a:prstGeom prst="ellipse">
            <a:avLst/>
          </a:prstGeom>
          <a:solidFill>
            <a:srgbClr val="9FC7EA"/>
          </a:solidFill>
          <a:ln>
            <a:noFill/>
          </a:ln>
        </p:spPr>
      </p:sp>
      <p:sp>
        <p:nvSpPr>
          <p:cNvPr id="36" name="Ellipse 36"/>
          <p:cNvSpPr/>
          <p:nvPr/>
        </p:nvSpPr>
        <p:spPr>
          <a:xfrm>
            <a:off x="10906125" y="2524125"/>
            <a:ext cx="133350" cy="133350"/>
          </a:xfrm>
          <a:prstGeom prst="ellipse">
            <a:avLst/>
          </a:prstGeom>
          <a:solidFill>
            <a:srgbClr val="FFFFFF"/>
          </a:solidFill>
          <a:ln>
            <a:noFill/>
          </a:ln>
        </p:spPr>
      </p:sp>
      <p:sp>
        <p:nvSpPr>
          <p:cNvPr id="37" name="TextBox 37"/>
          <p:cNvSpPr txBox="1"/>
          <p:nvPr/>
        </p:nvSpPr>
        <p:spPr>
          <a:xfrm>
            <a:off x="6768465" y="4287202"/>
            <a:ext cx="364046" cy="213360"/>
          </a:xfrm>
          <a:prstGeom prst="rect">
            <a:avLst/>
          </a:prstGeom>
          <a:noFill/>
          <a:ln>
            <a:noFill/>
          </a:ln>
        </p:spPr>
        <p:txBody>
          <a:bodyPr wrap="none" lIns="0" tIns="0" rIns="0" bIns="0" anchor="t" anchorCtr="0">
            <a:spAutoFit/>
          </a:bodyPr>
          <a:lstStyle/>
          <a:p>
            <a:pPr algn="l"/>
            <a:r>
              <a:rPr lang="zh-CN" sz="1050" dirty="0">
                <a:solidFill>
                  <a:srgbClr val="8FB0CC"/>
                </a:solidFill>
                <a:latin typeface="Segoe UI"/>
                <a:ea typeface="Microsoft YaHei"/>
                <a:cs typeface="Segoe UI"/>
              </a:rPr>
              <a:t>2000</a:t>
            </a:r>
          </a:p>
        </p:txBody>
      </p:sp>
      <p:sp>
        <p:nvSpPr>
          <p:cNvPr id="38" name="TextBox 38"/>
          <p:cNvSpPr txBox="1"/>
          <p:nvPr/>
        </p:nvSpPr>
        <p:spPr>
          <a:xfrm>
            <a:off x="10875121" y="4287202"/>
            <a:ext cx="111014" cy="213360"/>
          </a:xfrm>
          <a:prstGeom prst="rect">
            <a:avLst/>
          </a:prstGeom>
          <a:noFill/>
          <a:ln>
            <a:noFill/>
          </a:ln>
        </p:spPr>
        <p:txBody>
          <a:bodyPr wrap="none" lIns="0" tIns="0" rIns="0" bIns="0" anchor="t" anchorCtr="0">
            <a:spAutoFit/>
          </a:bodyPr>
          <a:lstStyle/>
          <a:p>
            <a:pPr algn="r"/>
            <a:r>
              <a:rPr lang="zh-CN" sz="1050" dirty="0">
                <a:solidFill>
                  <a:srgbClr val="8FB0CC"/>
                </a:solidFill>
                <a:latin typeface="Segoe UI"/>
                <a:ea typeface="Microsoft YaHei"/>
                <a:cs typeface="Segoe UI"/>
              </a:rPr>
              <a:t>6</a:t>
            </a:r>
          </a:p>
        </p:txBody>
      </p:sp>
      <p:sp>
        <p:nvSpPr>
          <p:cNvPr id="39" name="TextBox 39"/>
          <p:cNvSpPr txBox="1"/>
          <p:nvPr/>
        </p:nvSpPr>
        <p:spPr>
          <a:xfrm rot="-5400000">
            <a:off x="5957411" y="2060734"/>
            <a:ext cx="1406842" cy="213360"/>
          </a:xfrm>
          <a:prstGeom prst="rect">
            <a:avLst/>
          </a:prstGeom>
          <a:noFill/>
          <a:ln>
            <a:noFill/>
          </a:ln>
        </p:spPr>
        <p:txBody>
          <a:bodyPr wrap="none" lIns="0" tIns="0" rIns="0" bIns="0" anchor="t" anchorCtr="0">
            <a:spAutoFit/>
          </a:bodyPr>
          <a:lstStyle/>
          <a:p>
            <a:pPr algn="l"/>
            <a:r>
              <a:rPr lang="zh-CN" sz="1050" dirty="0">
                <a:solidFill>
                  <a:srgbClr val="8FB0CC"/>
                </a:solidFill>
                <a:latin typeface="Segoe UI"/>
                <a:ea typeface="Microsoft YaHei"/>
                <a:cs typeface="Segoe UI"/>
              </a:rPr>
              <a:t>每格记录到的物种数</a:t>
            </a:r>
          </a:p>
        </p:txBody>
      </p:sp>
      <p:sp>
        <p:nvSpPr>
          <p:cNvPr id="40" name="Rectangle 40"/>
          <p:cNvSpPr/>
          <p:nvPr/>
        </p:nvSpPr>
        <p:spPr>
          <a:xfrm>
            <a:off x="6629400" y="4591050"/>
            <a:ext cx="2190750" cy="9525"/>
          </a:xfrm>
          <a:prstGeom prst="rect">
            <a:avLst/>
          </a:prstGeom>
          <a:solidFill>
            <a:srgbClr val="3D5F80"/>
          </a:solidFill>
          <a:ln>
            <a:noFill/>
          </a:ln>
        </p:spPr>
      </p:sp>
      <p:sp>
        <p:nvSpPr>
          <p:cNvPr id="41" name="Rectangle 41"/>
          <p:cNvSpPr/>
          <p:nvPr/>
        </p:nvSpPr>
        <p:spPr>
          <a:xfrm>
            <a:off x="9010650" y="4591050"/>
            <a:ext cx="2190750" cy="9525"/>
          </a:xfrm>
          <a:prstGeom prst="rect">
            <a:avLst/>
          </a:prstGeom>
          <a:solidFill>
            <a:srgbClr val="3D5F80"/>
          </a:solidFill>
          <a:ln>
            <a:noFill/>
          </a:ln>
        </p:spPr>
      </p:sp>
      <p:grpSp>
        <p:nvGrpSpPr>
          <p:cNvPr id="45" name="Group 45"/>
          <p:cNvGrpSpPr/>
          <p:nvPr/>
        </p:nvGrpSpPr>
        <p:grpSpPr>
          <a:xfrm>
            <a:off x="6615112" y="4720114"/>
            <a:ext cx="1507331" cy="492442"/>
            <a:chOff x="6615112" y="4720114"/>
            <a:chExt cx="1507331" cy="492442"/>
          </a:xfrm>
        </p:grpSpPr>
        <p:sp>
          <p:nvSpPr>
            <p:cNvPr id="42" name="Ellipse 42"/>
            <p:cNvSpPr/>
            <p:nvPr/>
          </p:nvSpPr>
          <p:spPr>
            <a:xfrm>
              <a:off x="6677025" y="4752975"/>
              <a:ext cx="95250" cy="95250"/>
            </a:xfrm>
            <a:prstGeom prst="ellipse">
              <a:avLst/>
            </a:prstGeom>
            <a:solidFill>
              <a:srgbClr val="2E75B6"/>
            </a:solidFill>
            <a:ln>
              <a:noFill/>
            </a:ln>
          </p:spPr>
        </p:sp>
        <p:sp>
          <p:nvSpPr>
            <p:cNvPr id="43" name="TextBox 43"/>
            <p:cNvSpPr txBox="1"/>
            <p:nvPr/>
          </p:nvSpPr>
          <p:spPr>
            <a:xfrm>
              <a:off x="6860858" y="4720114"/>
              <a:ext cx="821931" cy="259080"/>
            </a:xfrm>
            <a:prstGeom prst="rect">
              <a:avLst/>
            </a:prstGeom>
            <a:noFill/>
            <a:ln>
              <a:noFill/>
            </a:ln>
          </p:spPr>
          <p:txBody>
            <a:bodyPr wrap="none" lIns="0" tIns="0" rIns="0" bIns="0" anchor="t" anchorCtr="0">
              <a:spAutoFit/>
            </a:bodyPr>
            <a:lstStyle/>
            <a:p>
              <a:pPr algn="l"/>
              <a:r>
                <a:rPr lang="zh-CN" sz="1275" b="1" dirty="0">
                  <a:solidFill>
                    <a:srgbClr val="9FC7EA"/>
                  </a:solidFill>
                  <a:latin typeface="Segoe UI"/>
                  <a:ea typeface="Microsoft YaHei"/>
                  <a:cs typeface="Segoe UI"/>
                </a:rPr>
                <a:t>生态解释</a:t>
              </a:r>
            </a:p>
          </p:txBody>
        </p:sp>
        <p:sp>
          <p:nvSpPr>
            <p:cNvPr id="44" name="TextBox 44"/>
            <p:cNvSpPr txBox="1"/>
            <p:nvPr/>
          </p:nvSpPr>
          <p:spPr>
            <a:xfrm>
              <a:off x="6615112" y="4983956"/>
              <a:ext cx="1507331" cy="228600"/>
            </a:xfrm>
            <a:prstGeom prst="rect">
              <a:avLst/>
            </a:prstGeom>
            <a:noFill/>
            <a:ln>
              <a:noFill/>
            </a:ln>
          </p:spPr>
          <p:txBody>
            <a:bodyPr wrap="none" lIns="0" tIns="0" rIns="0" bIns="0" anchor="t" anchorCtr="0">
              <a:spAutoFit/>
            </a:bodyPr>
            <a:lstStyle/>
            <a:p>
              <a:pPr algn="l"/>
              <a:r>
                <a:rPr lang="zh-CN" sz="1125" dirty="0">
                  <a:solidFill>
                    <a:srgbClr val="C6D8E8"/>
                  </a:solidFill>
                  <a:latin typeface="Segoe UI"/>
                  <a:ea typeface="Microsoft YaHei"/>
                  <a:cs typeface="Segoe UI"/>
                </a:rPr>
                <a:t>鸟类群落真的在恢复</a:t>
              </a:r>
            </a:p>
          </p:txBody>
        </p:sp>
      </p:grpSp>
      <p:grpSp>
        <p:nvGrpSpPr>
          <p:cNvPr id="49" name="Group 49"/>
          <p:cNvGrpSpPr/>
          <p:nvPr/>
        </p:nvGrpSpPr>
        <p:grpSpPr>
          <a:xfrm>
            <a:off x="8996362" y="4720114"/>
            <a:ext cx="1507331" cy="492442"/>
            <a:chOff x="8996362" y="4720114"/>
            <a:chExt cx="1507331" cy="492442"/>
          </a:xfrm>
        </p:grpSpPr>
        <p:sp>
          <p:nvSpPr>
            <p:cNvPr id="46" name="Ellipse 46"/>
            <p:cNvSpPr/>
            <p:nvPr/>
          </p:nvSpPr>
          <p:spPr>
            <a:xfrm>
              <a:off x="9058275" y="4752975"/>
              <a:ext cx="95250" cy="95250"/>
            </a:xfrm>
            <a:prstGeom prst="ellipse">
              <a:avLst/>
            </a:prstGeom>
            <a:solidFill>
              <a:srgbClr val="D97A34"/>
            </a:solidFill>
            <a:ln>
              <a:noFill/>
            </a:ln>
          </p:spPr>
        </p:sp>
        <p:sp>
          <p:nvSpPr>
            <p:cNvPr id="47" name="TextBox 47"/>
            <p:cNvSpPr txBox="1"/>
            <p:nvPr/>
          </p:nvSpPr>
          <p:spPr>
            <a:xfrm>
              <a:off x="9242108" y="4720114"/>
              <a:ext cx="821931" cy="259080"/>
            </a:xfrm>
            <a:prstGeom prst="rect">
              <a:avLst/>
            </a:prstGeom>
            <a:noFill/>
            <a:ln>
              <a:noFill/>
            </a:ln>
          </p:spPr>
          <p:txBody>
            <a:bodyPr wrap="none" lIns="0" tIns="0" rIns="0" bIns="0" anchor="t" anchorCtr="0">
              <a:spAutoFit/>
            </a:bodyPr>
            <a:lstStyle/>
            <a:p>
              <a:pPr algn="l"/>
              <a:r>
                <a:rPr lang="zh-CN" sz="1275" b="1" dirty="0">
                  <a:solidFill>
                    <a:srgbClr val="E3A877"/>
                  </a:solidFill>
                  <a:latin typeface="Segoe UI"/>
                  <a:ea typeface="Microsoft YaHei"/>
                  <a:cs typeface="Segoe UI"/>
                </a:rPr>
                <a:t>观测解释</a:t>
              </a:r>
            </a:p>
          </p:txBody>
        </p:sp>
        <p:sp>
          <p:nvSpPr>
            <p:cNvPr id="48" name="TextBox 48"/>
            <p:cNvSpPr txBox="1"/>
            <p:nvPr/>
          </p:nvSpPr>
          <p:spPr>
            <a:xfrm>
              <a:off x="8996362" y="4983956"/>
              <a:ext cx="1507331" cy="228600"/>
            </a:xfrm>
            <a:prstGeom prst="rect">
              <a:avLst/>
            </a:prstGeom>
            <a:noFill/>
            <a:ln>
              <a:noFill/>
            </a:ln>
          </p:spPr>
          <p:txBody>
            <a:bodyPr wrap="none" lIns="0" tIns="0" rIns="0" bIns="0" anchor="t" anchorCtr="0">
              <a:spAutoFit/>
            </a:bodyPr>
            <a:lstStyle/>
            <a:p>
              <a:pPr algn="l"/>
              <a:r>
                <a:rPr lang="zh-CN" sz="1125" dirty="0">
                  <a:solidFill>
                    <a:srgbClr val="C6D8E8"/>
                  </a:solidFill>
                  <a:latin typeface="Segoe UI"/>
                  <a:ea typeface="Microsoft YaHei"/>
                  <a:cs typeface="Segoe UI"/>
                </a:rPr>
                <a:t>我们只是看得更多了</a:t>
              </a:r>
            </a:p>
          </p:txBody>
        </p:sp>
      </p:grpSp>
      <p:sp>
        <p:nvSpPr>
          <p:cNvPr id="50" name="TextBox 50"/>
          <p:cNvSpPr txBox="1"/>
          <p:nvPr/>
        </p:nvSpPr>
        <p:spPr>
          <a:xfrm>
            <a:off x="667702" y="5370671"/>
            <a:ext cx="6346431" cy="289560"/>
          </a:xfrm>
          <a:prstGeom prst="rect">
            <a:avLst/>
          </a:prstGeom>
          <a:noFill/>
          <a:ln>
            <a:noFill/>
          </a:ln>
        </p:spPr>
        <p:txBody>
          <a:bodyPr wrap="none" lIns="0" tIns="0" rIns="0" bIns="0" anchor="t" anchorCtr="0">
            <a:spAutoFit/>
          </a:bodyPr>
          <a:lstStyle/>
          <a:p>
            <a:pPr algn="l"/>
            <a:r>
              <a:rPr lang="zh-CN" sz="1425" b="1" dirty="0">
                <a:solidFill>
                  <a:srgbClr val="B3611F"/>
                </a:solidFill>
                <a:latin typeface="Segoe UI"/>
                <a:ea typeface="Microsoft YaHei"/>
                <a:cs typeface="Segoe UI"/>
              </a:rPr>
              <a:t>核心困难：</a:t>
            </a:r>
            <a:r>
              <a:rPr lang="zh-CN" sz="1425" dirty="0">
                <a:solidFill>
                  <a:srgbClr val="0F2740"/>
                </a:solidFill>
                <a:latin typeface="Segoe UI"/>
                <a:ea typeface="Microsoft YaHei"/>
                <a:cs typeface="Segoe UI"/>
              </a:rPr>
              <a:t xml:space="preserve"> </a:t>
            </a:r>
            <a:r>
              <a:rPr lang="zh-CN" sz="1425" dirty="0">
                <a:solidFill>
                  <a:srgbClr val="0F2740"/>
                </a:solidFill>
                <a:latin typeface="Segoe UI"/>
                <a:ea typeface="Microsoft YaHei"/>
                <a:cs typeface="Segoe UI"/>
              </a:rPr>
              <a:t>不把观测过程显式建模，这两种解释在数据上无法区分。</a:t>
            </a:r>
          </a:p>
        </p:txBody>
      </p:sp>
      <p:sp>
        <p:nvSpPr>
          <p:cNvPr id="51" name="TextBox 51"/>
          <p:cNvSpPr txBox="1"/>
          <p:nvPr/>
        </p:nvSpPr>
        <p:spPr>
          <a:xfrm>
            <a:off x="672465" y="6039802"/>
            <a:ext cx="4441688"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Boakes et al. 2010；Bird et al. 2014 | 来源：GCB 稿件 v6 引言</a:t>
            </a:r>
          </a:p>
        </p:txBody>
      </p:sp>
      <p:sp>
        <p:nvSpPr>
          <p:cNvPr id="52" name="TextBox 52"/>
          <p:cNvSpPr txBox="1"/>
          <p:nvPr/>
        </p:nvSpPr>
        <p:spPr>
          <a:xfrm>
            <a:off x="11408521" y="6458902"/>
            <a:ext cx="111014"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6</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10028844"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文献脉络三：占域模型——从"看到了什么"到"存在什么"</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112692" y="801052"/>
            <a:ext cx="1406842"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一、背景与科学问题</a:t>
            </a:r>
          </a:p>
        </p:txBody>
      </p:sp>
      <p:sp>
        <p:nvSpPr>
          <p:cNvPr id="6" name="TextBox 6"/>
          <p:cNvSpPr txBox="1"/>
          <p:nvPr/>
        </p:nvSpPr>
        <p:spPr>
          <a:xfrm>
            <a:off x="668655" y="1359218"/>
            <a:ext cx="5184305" cy="274320"/>
          </a:xfrm>
          <a:prstGeom prst="rect">
            <a:avLst/>
          </a:prstGeom>
          <a:noFill/>
          <a:ln>
            <a:noFill/>
          </a:ln>
        </p:spPr>
        <p:txBody>
          <a:bodyPr wrap="none" lIns="0" tIns="0" rIns="0" bIns="0" anchor="t" anchorCtr="0">
            <a:spAutoFit/>
          </a:bodyPr>
          <a:lstStyle/>
          <a:p>
            <a:pPr algn="l"/>
            <a:r>
              <a:rPr lang="zh-CN" sz="1350" dirty="0">
                <a:solidFill>
                  <a:srgbClr val="5A6B7C"/>
                </a:solidFill>
                <a:latin typeface="Segoe UI"/>
                <a:ea typeface="Microsoft YaHei"/>
                <a:cs typeface="Segoe UI"/>
              </a:rPr>
              <a:t>方法学界对"检测偏差"已给出成熟解法，其发展脉络清晰。</a:t>
            </a:r>
          </a:p>
        </p:txBody>
      </p:sp>
      <p:sp>
        <p:nvSpPr>
          <p:cNvPr id="7" name="Line 7"/>
          <p:cNvSpPr/>
          <p:nvPr/>
        </p:nvSpPr>
        <p:spPr>
          <a:xfrm>
            <a:off x="1143000" y="2400300"/>
            <a:ext cx="9906000" cy="9525"/>
          </a:xfrm>
          <a:custGeom>
            <a:avLst/>
            <a:gdLst/>
            <a:ahLst/>
            <a:cxnLst/>
            <a:rect l="l" t="t" r="r" b="b"/>
            <a:pathLst>
              <a:path w="9906000" h="9525">
                <a:moveTo>
                  <a:pt x="0" y="0"/>
                </a:moveTo>
                <a:lnTo>
                  <a:pt x="9906000" y="0"/>
                </a:lnTo>
              </a:path>
            </a:pathLst>
          </a:custGeom>
          <a:noFill/>
          <a:ln w="19050">
            <a:solidFill>
              <a:srgbClr val="D8DFE7"/>
            </a:solidFill>
          </a:ln>
        </p:spPr>
      </p:sp>
      <p:grpSp>
        <p:nvGrpSpPr>
          <p:cNvPr id="14" name="Group 14"/>
          <p:cNvGrpSpPr/>
          <p:nvPr/>
        </p:nvGrpSpPr>
        <p:grpSpPr>
          <a:xfrm>
            <a:off x="934402" y="2069306"/>
            <a:ext cx="1560195" cy="1631156"/>
            <a:chOff x="934402" y="2069306"/>
            <a:chExt cx="1560195" cy="1631156"/>
          </a:xfrm>
        </p:grpSpPr>
        <p:sp>
          <p:nvSpPr>
            <p:cNvPr id="8" name="Ellipse 8"/>
            <p:cNvSpPr/>
            <p:nvPr/>
          </p:nvSpPr>
          <p:spPr>
            <a:xfrm>
              <a:off x="1619250" y="2305050"/>
              <a:ext cx="190500" cy="190500"/>
            </a:xfrm>
            <a:prstGeom prst="ellipse">
              <a:avLst/>
            </a:prstGeom>
            <a:solidFill>
              <a:srgbClr val="2E75B6"/>
            </a:solidFill>
            <a:ln>
              <a:noFill/>
            </a:ln>
          </p:spPr>
        </p:sp>
        <p:sp>
          <p:nvSpPr>
            <p:cNvPr id="9" name="TextBox 9"/>
            <p:cNvSpPr txBox="1"/>
            <p:nvPr/>
          </p:nvSpPr>
          <p:spPr>
            <a:xfrm>
              <a:off x="1508631" y="2069306"/>
              <a:ext cx="411737" cy="228600"/>
            </a:xfrm>
            <a:prstGeom prst="rect">
              <a:avLst/>
            </a:prstGeom>
            <a:noFill/>
            <a:ln>
              <a:noFill/>
            </a:ln>
          </p:spPr>
          <p:txBody>
            <a:bodyPr wrap="none" lIns="0" tIns="0" rIns="0" bIns="0" anchor="t" anchorCtr="0">
              <a:spAutoFit/>
            </a:bodyPr>
            <a:lstStyle/>
            <a:p>
              <a:pPr algn="ctr"/>
              <a:r>
                <a:rPr lang="zh-CN" sz="1125" b="1" dirty="0">
                  <a:solidFill>
                    <a:srgbClr val="12395E"/>
                  </a:solidFill>
                  <a:latin typeface="Segoe UI"/>
                  <a:ea typeface="Microsoft YaHei"/>
                  <a:cs typeface="Segoe UI"/>
                </a:rPr>
                <a:t>2003</a:t>
              </a:r>
            </a:p>
          </p:txBody>
        </p:sp>
        <p:sp>
          <p:nvSpPr>
            <p:cNvPr id="10" name="TextBox 10"/>
            <p:cNvSpPr txBox="1"/>
            <p:nvPr/>
          </p:nvSpPr>
          <p:spPr>
            <a:xfrm>
              <a:off x="1107565" y="2651760"/>
              <a:ext cx="1213871" cy="243840"/>
            </a:xfrm>
            <a:prstGeom prst="rect">
              <a:avLst/>
            </a:prstGeom>
            <a:noFill/>
            <a:ln>
              <a:noFill/>
            </a:ln>
          </p:spPr>
          <p:txBody>
            <a:bodyPr wrap="none" lIns="0" tIns="0" rIns="0" bIns="0" anchor="t" anchorCtr="0">
              <a:spAutoFit/>
            </a:bodyPr>
            <a:lstStyle/>
            <a:p>
              <a:pPr algn="ctr"/>
              <a:r>
                <a:rPr lang="zh-CN" sz="1200" b="1" dirty="0">
                  <a:solidFill>
                    <a:srgbClr val="0F2740"/>
                  </a:solidFill>
                  <a:latin typeface="Segoe UI"/>
                  <a:ea typeface="Microsoft YaHei"/>
                  <a:cs typeface="Segoe UI"/>
                </a:rPr>
                <a:t>MacKenzie 等</a:t>
              </a:r>
            </a:p>
          </p:txBody>
        </p:sp>
        <p:sp>
          <p:nvSpPr>
            <p:cNvPr id="11" name="TextBox 11"/>
            <p:cNvSpPr txBox="1"/>
            <p:nvPr/>
          </p:nvSpPr>
          <p:spPr>
            <a:xfrm>
              <a:off x="1164431" y="3106102"/>
              <a:ext cx="1100137"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动态占域模型：</a:t>
              </a:r>
            </a:p>
          </p:txBody>
        </p:sp>
        <p:sp>
          <p:nvSpPr>
            <p:cNvPr id="12" name="TextBox 12"/>
            <p:cNvSpPr txBox="1"/>
            <p:nvPr/>
          </p:nvSpPr>
          <p:spPr>
            <a:xfrm>
              <a:off x="1164431" y="3296602"/>
              <a:ext cx="1100137"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定殖与局域灭绝</a:t>
              </a:r>
            </a:p>
          </p:txBody>
        </p:sp>
        <p:sp>
          <p:nvSpPr>
            <p:cNvPr id="13" name="TextBox 13"/>
            <p:cNvSpPr txBox="1"/>
            <p:nvPr/>
          </p:nvSpPr>
          <p:spPr>
            <a:xfrm>
              <a:off x="934402" y="3487102"/>
              <a:ext cx="1560195"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可在不完美检测下估计</a:t>
              </a:r>
            </a:p>
          </p:txBody>
        </p:sp>
      </p:grpSp>
      <p:grpSp>
        <p:nvGrpSpPr>
          <p:cNvPr id="21" name="Group 21"/>
          <p:cNvGrpSpPr/>
          <p:nvPr/>
        </p:nvGrpSpPr>
        <p:grpSpPr>
          <a:xfrm>
            <a:off x="3339706" y="2069306"/>
            <a:ext cx="1397788" cy="1631156"/>
            <a:chOff x="3339706" y="2069306"/>
            <a:chExt cx="1397788" cy="1631156"/>
          </a:xfrm>
        </p:grpSpPr>
        <p:sp>
          <p:nvSpPr>
            <p:cNvPr id="15" name="Ellipse 15"/>
            <p:cNvSpPr/>
            <p:nvPr/>
          </p:nvSpPr>
          <p:spPr>
            <a:xfrm>
              <a:off x="3943350" y="2305050"/>
              <a:ext cx="190500" cy="190500"/>
            </a:xfrm>
            <a:prstGeom prst="ellipse">
              <a:avLst/>
            </a:prstGeom>
            <a:solidFill>
              <a:srgbClr val="2E75B6"/>
            </a:solidFill>
            <a:ln>
              <a:noFill/>
            </a:ln>
          </p:spPr>
        </p:sp>
        <p:sp>
          <p:nvSpPr>
            <p:cNvPr id="16" name="TextBox 16"/>
            <p:cNvSpPr txBox="1"/>
            <p:nvPr/>
          </p:nvSpPr>
          <p:spPr>
            <a:xfrm>
              <a:off x="3832731" y="2069306"/>
              <a:ext cx="411737" cy="228600"/>
            </a:xfrm>
            <a:prstGeom prst="rect">
              <a:avLst/>
            </a:prstGeom>
            <a:noFill/>
            <a:ln>
              <a:noFill/>
            </a:ln>
          </p:spPr>
          <p:txBody>
            <a:bodyPr wrap="none" lIns="0" tIns="0" rIns="0" bIns="0" anchor="t" anchorCtr="0">
              <a:spAutoFit/>
            </a:bodyPr>
            <a:lstStyle/>
            <a:p>
              <a:pPr algn="ctr"/>
              <a:r>
                <a:rPr lang="zh-CN" sz="1125" b="1" dirty="0">
                  <a:solidFill>
                    <a:srgbClr val="12395E"/>
                  </a:solidFill>
                  <a:latin typeface="Segoe UI"/>
                  <a:ea typeface="Microsoft YaHei"/>
                  <a:cs typeface="Segoe UI"/>
                </a:rPr>
                <a:t>2005</a:t>
              </a:r>
            </a:p>
          </p:txBody>
        </p:sp>
        <p:sp>
          <p:nvSpPr>
            <p:cNvPr id="17" name="TextBox 17"/>
            <p:cNvSpPr txBox="1"/>
            <p:nvPr/>
          </p:nvSpPr>
          <p:spPr>
            <a:xfrm>
              <a:off x="3339706" y="2651760"/>
              <a:ext cx="1397788" cy="243840"/>
            </a:xfrm>
            <a:prstGeom prst="rect">
              <a:avLst/>
            </a:prstGeom>
            <a:noFill/>
            <a:ln>
              <a:noFill/>
            </a:ln>
          </p:spPr>
          <p:txBody>
            <a:bodyPr wrap="none" lIns="0" tIns="0" rIns="0" bIns="0" anchor="t" anchorCtr="0">
              <a:spAutoFit/>
            </a:bodyPr>
            <a:lstStyle/>
            <a:p>
              <a:pPr algn="ctr"/>
              <a:r>
                <a:rPr lang="zh-CN" sz="1200" b="1" dirty="0">
                  <a:solidFill>
                    <a:srgbClr val="0F2740"/>
                  </a:solidFill>
                  <a:latin typeface="Segoe UI"/>
                  <a:ea typeface="Microsoft YaHei"/>
                  <a:cs typeface="Segoe UI"/>
                </a:rPr>
                <a:t>Dorazio &amp; Royle</a:t>
              </a:r>
            </a:p>
          </p:txBody>
        </p:sp>
        <p:sp>
          <p:nvSpPr>
            <p:cNvPr id="18" name="TextBox 18"/>
            <p:cNvSpPr txBox="1"/>
            <p:nvPr/>
          </p:nvSpPr>
          <p:spPr>
            <a:xfrm>
              <a:off x="3411855" y="3106102"/>
              <a:ext cx="1253490"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多物种层级模型：</a:t>
              </a:r>
            </a:p>
          </p:txBody>
        </p:sp>
        <p:sp>
          <p:nvSpPr>
            <p:cNvPr id="19" name="TextBox 19"/>
            <p:cNvSpPr txBox="1"/>
            <p:nvPr/>
          </p:nvSpPr>
          <p:spPr>
            <a:xfrm>
              <a:off x="3411855" y="3296602"/>
              <a:ext cx="1253490"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物种间共享信息，</a:t>
              </a:r>
            </a:p>
          </p:txBody>
        </p:sp>
        <p:sp>
          <p:nvSpPr>
            <p:cNvPr id="20" name="TextBox 20"/>
            <p:cNvSpPr txBox="1"/>
            <p:nvPr/>
          </p:nvSpPr>
          <p:spPr>
            <a:xfrm>
              <a:off x="3488531" y="3487102"/>
              <a:ext cx="1100137"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稀有种也可估计</a:t>
              </a:r>
            </a:p>
          </p:txBody>
        </p:sp>
      </p:grpSp>
      <p:grpSp>
        <p:nvGrpSpPr>
          <p:cNvPr id="29" name="Group 29"/>
          <p:cNvGrpSpPr/>
          <p:nvPr/>
        </p:nvGrpSpPr>
        <p:grpSpPr>
          <a:xfrm>
            <a:off x="5505926" y="2069306"/>
            <a:ext cx="1713548" cy="1631156"/>
            <a:chOff x="5505926" y="2069306"/>
            <a:chExt cx="1713548" cy="1631156"/>
          </a:xfrm>
        </p:grpSpPr>
        <p:sp>
          <p:nvSpPr>
            <p:cNvPr id="22" name="Ellipse 22"/>
            <p:cNvSpPr/>
            <p:nvPr/>
          </p:nvSpPr>
          <p:spPr>
            <a:xfrm>
              <a:off x="6267450" y="2305050"/>
              <a:ext cx="190500" cy="190500"/>
            </a:xfrm>
            <a:prstGeom prst="ellipse">
              <a:avLst/>
            </a:prstGeom>
            <a:solidFill>
              <a:srgbClr val="2E75B6"/>
            </a:solidFill>
            <a:ln>
              <a:noFill/>
            </a:ln>
          </p:spPr>
        </p:sp>
        <p:sp>
          <p:nvSpPr>
            <p:cNvPr id="23" name="TextBox 23"/>
            <p:cNvSpPr txBox="1"/>
            <p:nvPr/>
          </p:nvSpPr>
          <p:spPr>
            <a:xfrm>
              <a:off x="5878168" y="2069306"/>
              <a:ext cx="969064" cy="228600"/>
            </a:xfrm>
            <a:prstGeom prst="rect">
              <a:avLst/>
            </a:prstGeom>
            <a:noFill/>
            <a:ln>
              <a:noFill/>
            </a:ln>
          </p:spPr>
          <p:txBody>
            <a:bodyPr wrap="none" lIns="0" tIns="0" rIns="0" bIns="0" anchor="t" anchorCtr="0">
              <a:spAutoFit/>
            </a:bodyPr>
            <a:lstStyle/>
            <a:p>
              <a:pPr algn="ctr"/>
              <a:r>
                <a:rPr lang="zh-CN" sz="1125" b="1" dirty="0">
                  <a:solidFill>
                    <a:srgbClr val="12395E"/>
                  </a:solidFill>
                  <a:latin typeface="Segoe UI"/>
                  <a:ea typeface="Microsoft YaHei"/>
                  <a:cs typeface="Segoe UI"/>
                </a:rPr>
                <a:t>2014–2017</a:t>
              </a:r>
            </a:p>
          </p:txBody>
        </p:sp>
        <p:sp>
          <p:nvSpPr>
            <p:cNvPr id="24" name="TextBox 24"/>
            <p:cNvSpPr txBox="1"/>
            <p:nvPr/>
          </p:nvSpPr>
          <p:spPr>
            <a:xfrm>
              <a:off x="5902551" y="2659856"/>
              <a:ext cx="920298" cy="228600"/>
            </a:xfrm>
            <a:prstGeom prst="rect">
              <a:avLst/>
            </a:prstGeom>
            <a:noFill/>
            <a:ln>
              <a:noFill/>
            </a:ln>
          </p:spPr>
          <p:txBody>
            <a:bodyPr wrap="none" lIns="0" tIns="0" rIns="0" bIns="0" anchor="t" anchorCtr="0">
              <a:spAutoFit/>
            </a:bodyPr>
            <a:lstStyle/>
            <a:p>
              <a:pPr algn="ctr"/>
              <a:r>
                <a:rPr lang="zh-CN" sz="1125" b="1" dirty="0">
                  <a:solidFill>
                    <a:srgbClr val="0F2740"/>
                  </a:solidFill>
                  <a:latin typeface="Segoe UI"/>
                  <a:ea typeface="Microsoft YaHei"/>
                  <a:cs typeface="Segoe UI"/>
                </a:rPr>
                <a:t>Isaac 等；</a:t>
              </a:r>
            </a:p>
          </p:txBody>
        </p:sp>
        <p:sp>
          <p:nvSpPr>
            <p:cNvPr id="25" name="TextBox 25"/>
            <p:cNvSpPr txBox="1"/>
            <p:nvPr/>
          </p:nvSpPr>
          <p:spPr>
            <a:xfrm>
              <a:off x="5665687" y="2850356"/>
              <a:ext cx="1394026" cy="228600"/>
            </a:xfrm>
            <a:prstGeom prst="rect">
              <a:avLst/>
            </a:prstGeom>
            <a:noFill/>
            <a:ln>
              <a:noFill/>
            </a:ln>
          </p:spPr>
          <p:txBody>
            <a:bodyPr wrap="none" lIns="0" tIns="0" rIns="0" bIns="0" anchor="t" anchorCtr="0">
              <a:spAutoFit/>
            </a:bodyPr>
            <a:lstStyle/>
            <a:p>
              <a:pPr algn="ctr"/>
              <a:r>
                <a:rPr lang="zh-CN" sz="1125" b="1" dirty="0">
                  <a:solidFill>
                    <a:srgbClr val="0F2740"/>
                  </a:solidFill>
                  <a:latin typeface="Segoe UI"/>
                  <a:ea typeface="Microsoft YaHei"/>
                  <a:cs typeface="Segoe UI"/>
                </a:rPr>
                <a:t>Guillera-Arroita</a:t>
              </a:r>
            </a:p>
          </p:txBody>
        </p:sp>
        <p:sp>
          <p:nvSpPr>
            <p:cNvPr id="26" name="TextBox 26"/>
            <p:cNvSpPr txBox="1"/>
            <p:nvPr/>
          </p:nvSpPr>
          <p:spPr>
            <a:xfrm>
              <a:off x="5659279" y="3106102"/>
              <a:ext cx="1406842"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公民科学噪声数据的</a:t>
              </a:r>
            </a:p>
          </p:txBody>
        </p:sp>
        <p:sp>
          <p:nvSpPr>
            <p:cNvPr id="27" name="TextBox 27"/>
            <p:cNvSpPr txBox="1"/>
            <p:nvPr/>
          </p:nvSpPr>
          <p:spPr>
            <a:xfrm>
              <a:off x="5505926" y="3296602"/>
              <a:ext cx="1713548"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统计方法；不完美检测下</a:t>
              </a:r>
            </a:p>
          </p:txBody>
        </p:sp>
        <p:sp>
          <p:nvSpPr>
            <p:cNvPr id="28" name="TextBox 28"/>
            <p:cNvSpPr txBox="1"/>
            <p:nvPr/>
          </p:nvSpPr>
          <p:spPr>
            <a:xfrm>
              <a:off x="5735955" y="3487102"/>
              <a:ext cx="1253490"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的分布与群落建模</a:t>
              </a:r>
            </a:p>
          </p:txBody>
        </p:sp>
      </p:grpSp>
      <p:grpSp>
        <p:nvGrpSpPr>
          <p:cNvPr id="37" name="Group 37"/>
          <p:cNvGrpSpPr/>
          <p:nvPr/>
        </p:nvGrpSpPr>
        <p:grpSpPr>
          <a:xfrm>
            <a:off x="7983379" y="2069306"/>
            <a:ext cx="1406842" cy="1631156"/>
            <a:chOff x="7983379" y="2069306"/>
            <a:chExt cx="1406842" cy="1631156"/>
          </a:xfrm>
        </p:grpSpPr>
        <p:sp>
          <p:nvSpPr>
            <p:cNvPr id="30" name="Ellipse 30"/>
            <p:cNvSpPr/>
            <p:nvPr/>
          </p:nvSpPr>
          <p:spPr>
            <a:xfrm>
              <a:off x="8591550" y="2305050"/>
              <a:ext cx="190500" cy="190500"/>
            </a:xfrm>
            <a:prstGeom prst="ellipse">
              <a:avLst/>
            </a:prstGeom>
            <a:solidFill>
              <a:srgbClr val="2E75B6"/>
            </a:solidFill>
            <a:ln>
              <a:noFill/>
            </a:ln>
          </p:spPr>
        </p:sp>
        <p:sp>
          <p:nvSpPr>
            <p:cNvPr id="31" name="TextBox 31"/>
            <p:cNvSpPr txBox="1"/>
            <p:nvPr/>
          </p:nvSpPr>
          <p:spPr>
            <a:xfrm>
              <a:off x="8202268" y="2069306"/>
              <a:ext cx="969064" cy="228600"/>
            </a:xfrm>
            <a:prstGeom prst="rect">
              <a:avLst/>
            </a:prstGeom>
            <a:noFill/>
            <a:ln>
              <a:noFill/>
            </a:ln>
          </p:spPr>
          <p:txBody>
            <a:bodyPr wrap="none" lIns="0" tIns="0" rIns="0" bIns="0" anchor="t" anchorCtr="0">
              <a:spAutoFit/>
            </a:bodyPr>
            <a:lstStyle/>
            <a:p>
              <a:pPr algn="ctr"/>
              <a:r>
                <a:rPr lang="zh-CN" sz="1125" b="1" dirty="0">
                  <a:solidFill>
                    <a:srgbClr val="12395E"/>
                  </a:solidFill>
                  <a:latin typeface="Segoe UI"/>
                  <a:ea typeface="Microsoft YaHei"/>
                  <a:cs typeface="Segoe UI"/>
                </a:rPr>
                <a:t>2020–2021</a:t>
              </a:r>
            </a:p>
          </p:txBody>
        </p:sp>
        <p:sp>
          <p:nvSpPr>
            <p:cNvPr id="32" name="TextBox 32"/>
            <p:cNvSpPr txBox="1"/>
            <p:nvPr/>
          </p:nvSpPr>
          <p:spPr>
            <a:xfrm>
              <a:off x="8031587" y="2659856"/>
              <a:ext cx="1310427" cy="228600"/>
            </a:xfrm>
            <a:prstGeom prst="rect">
              <a:avLst/>
            </a:prstGeom>
            <a:noFill/>
            <a:ln>
              <a:noFill/>
            </a:ln>
          </p:spPr>
          <p:txBody>
            <a:bodyPr wrap="none" lIns="0" tIns="0" rIns="0" bIns="0" anchor="t" anchorCtr="0">
              <a:spAutoFit/>
            </a:bodyPr>
            <a:lstStyle/>
            <a:p>
              <a:pPr algn="ctr"/>
              <a:r>
                <a:rPr lang="zh-CN" sz="1125" b="1" dirty="0">
                  <a:solidFill>
                    <a:srgbClr val="0F2740"/>
                  </a:solidFill>
                  <a:latin typeface="Segoe UI"/>
                  <a:ea typeface="Microsoft YaHei"/>
                  <a:cs typeface="Segoe UI"/>
                </a:rPr>
                <a:t>Devarajan 等；</a:t>
              </a:r>
            </a:p>
          </p:txBody>
        </p:sp>
        <p:sp>
          <p:nvSpPr>
            <p:cNvPr id="33" name="TextBox 33"/>
            <p:cNvSpPr txBox="1"/>
            <p:nvPr/>
          </p:nvSpPr>
          <p:spPr>
            <a:xfrm>
              <a:off x="8115186" y="2850356"/>
              <a:ext cx="1143229" cy="228600"/>
            </a:xfrm>
            <a:prstGeom prst="rect">
              <a:avLst/>
            </a:prstGeom>
            <a:noFill/>
            <a:ln>
              <a:noFill/>
            </a:ln>
          </p:spPr>
          <p:txBody>
            <a:bodyPr wrap="none" lIns="0" tIns="0" rIns="0" bIns="0" anchor="t" anchorCtr="0">
              <a:spAutoFit/>
            </a:bodyPr>
            <a:lstStyle/>
            <a:p>
              <a:pPr algn="ctr"/>
              <a:r>
                <a:rPr lang="zh-CN" sz="1125" b="1" dirty="0">
                  <a:solidFill>
                    <a:srgbClr val="0F2740"/>
                  </a:solidFill>
                  <a:latin typeface="Segoe UI"/>
                  <a:ea typeface="Microsoft YaHei"/>
                  <a:cs typeface="Segoe UI"/>
                </a:rPr>
                <a:t>Kéry &amp; Royle</a:t>
              </a:r>
            </a:p>
          </p:txBody>
        </p:sp>
        <p:sp>
          <p:nvSpPr>
            <p:cNvPr id="34" name="TextBox 34"/>
            <p:cNvSpPr txBox="1"/>
            <p:nvPr/>
          </p:nvSpPr>
          <p:spPr>
            <a:xfrm>
              <a:off x="7983379" y="3106102"/>
              <a:ext cx="1406842"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多物种占域模型综述</a:t>
              </a:r>
            </a:p>
          </p:txBody>
        </p:sp>
        <p:sp>
          <p:nvSpPr>
            <p:cNvPr id="35" name="TextBox 35"/>
            <p:cNvSpPr txBox="1"/>
            <p:nvPr/>
          </p:nvSpPr>
          <p:spPr>
            <a:xfrm>
              <a:off x="7983379" y="3296602"/>
              <a:ext cx="1406842"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与路线图；层级建模</a:t>
              </a:r>
            </a:p>
          </p:txBody>
        </p:sp>
        <p:sp>
          <p:nvSpPr>
            <p:cNvPr id="36" name="TextBox 36"/>
            <p:cNvSpPr txBox="1"/>
            <p:nvPr/>
          </p:nvSpPr>
          <p:spPr>
            <a:xfrm>
              <a:off x="8136731" y="3487102"/>
              <a:ext cx="1100137"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系统方法学专著</a:t>
              </a:r>
            </a:p>
          </p:txBody>
        </p:sp>
      </p:grpSp>
      <p:grpSp>
        <p:nvGrpSpPr>
          <p:cNvPr id="44" name="Group 44"/>
          <p:cNvGrpSpPr/>
          <p:nvPr/>
        </p:nvGrpSpPr>
        <p:grpSpPr>
          <a:xfrm>
            <a:off x="10136505" y="2069306"/>
            <a:ext cx="1253490" cy="1631156"/>
            <a:chOff x="10136505" y="2069306"/>
            <a:chExt cx="1253490" cy="1631156"/>
          </a:xfrm>
        </p:grpSpPr>
        <p:sp>
          <p:nvSpPr>
            <p:cNvPr id="38" name="Ellipse 38"/>
            <p:cNvSpPr/>
            <p:nvPr/>
          </p:nvSpPr>
          <p:spPr>
            <a:xfrm>
              <a:off x="10648950" y="2286000"/>
              <a:ext cx="228600" cy="228600"/>
            </a:xfrm>
            <a:prstGeom prst="ellipse">
              <a:avLst/>
            </a:prstGeom>
            <a:solidFill>
              <a:srgbClr val="D97A34"/>
            </a:solidFill>
            <a:ln>
              <a:noFill/>
            </a:ln>
          </p:spPr>
        </p:sp>
        <p:sp>
          <p:nvSpPr>
            <p:cNvPr id="39" name="TextBox 39"/>
            <p:cNvSpPr txBox="1"/>
            <p:nvPr/>
          </p:nvSpPr>
          <p:spPr>
            <a:xfrm>
              <a:off x="10557381" y="2069306"/>
              <a:ext cx="411737" cy="228600"/>
            </a:xfrm>
            <a:prstGeom prst="rect">
              <a:avLst/>
            </a:prstGeom>
            <a:noFill/>
            <a:ln>
              <a:noFill/>
            </a:ln>
          </p:spPr>
          <p:txBody>
            <a:bodyPr wrap="none" lIns="0" tIns="0" rIns="0" bIns="0" anchor="t" anchorCtr="0">
              <a:spAutoFit/>
            </a:bodyPr>
            <a:lstStyle/>
            <a:p>
              <a:pPr algn="ctr"/>
              <a:r>
                <a:rPr lang="zh-CN" sz="1125" b="1" dirty="0">
                  <a:solidFill>
                    <a:srgbClr val="B3611F"/>
                  </a:solidFill>
                  <a:latin typeface="Segoe UI"/>
                  <a:ea typeface="Microsoft YaHei"/>
                  <a:cs typeface="Segoe UI"/>
                </a:rPr>
                <a:t>2022</a:t>
              </a:r>
            </a:p>
          </p:txBody>
        </p:sp>
        <p:sp>
          <p:nvSpPr>
            <p:cNvPr id="40" name="TextBox 40"/>
            <p:cNvSpPr txBox="1"/>
            <p:nvPr/>
          </p:nvSpPr>
          <p:spPr>
            <a:xfrm>
              <a:off x="10365312" y="2651760"/>
              <a:ext cx="795875" cy="243840"/>
            </a:xfrm>
            <a:prstGeom prst="rect">
              <a:avLst/>
            </a:prstGeom>
            <a:noFill/>
            <a:ln>
              <a:noFill/>
            </a:ln>
          </p:spPr>
          <p:txBody>
            <a:bodyPr wrap="none" lIns="0" tIns="0" rIns="0" bIns="0" anchor="t" anchorCtr="0">
              <a:spAutoFit/>
            </a:bodyPr>
            <a:lstStyle/>
            <a:p>
              <a:pPr algn="ctr"/>
              <a:r>
                <a:rPr lang="zh-CN" sz="1200" b="1" dirty="0">
                  <a:solidFill>
                    <a:srgbClr val="0F2740"/>
                  </a:solidFill>
                  <a:latin typeface="Segoe UI"/>
                  <a:ea typeface="Microsoft YaHei"/>
                  <a:cs typeface="Segoe UI"/>
                </a:rPr>
                <a:t>Doser 等</a:t>
              </a:r>
            </a:p>
          </p:txBody>
        </p:sp>
        <p:sp>
          <p:nvSpPr>
            <p:cNvPr id="41" name="TextBox 41"/>
            <p:cNvSpPr txBox="1"/>
            <p:nvPr/>
          </p:nvSpPr>
          <p:spPr>
            <a:xfrm>
              <a:off x="10200913" y="3106102"/>
              <a:ext cx="1124674"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spOccupancy：</a:t>
              </a:r>
            </a:p>
          </p:txBody>
        </p:sp>
        <p:sp>
          <p:nvSpPr>
            <p:cNvPr id="42" name="TextBox 42"/>
            <p:cNvSpPr txBox="1"/>
            <p:nvPr/>
          </p:nvSpPr>
          <p:spPr>
            <a:xfrm>
              <a:off x="10213181" y="3296602"/>
              <a:ext cx="1100137"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空间多物种占域</a:t>
              </a:r>
            </a:p>
          </p:txBody>
        </p:sp>
        <p:sp>
          <p:nvSpPr>
            <p:cNvPr id="43" name="TextBox 43"/>
            <p:cNvSpPr txBox="1"/>
            <p:nvPr/>
          </p:nvSpPr>
          <p:spPr>
            <a:xfrm>
              <a:off x="10136505" y="3487102"/>
              <a:ext cx="1253490"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模型可规模化实现</a:t>
              </a:r>
            </a:p>
          </p:txBody>
        </p:sp>
      </p:grpSp>
      <p:sp>
        <p:nvSpPr>
          <p:cNvPr id="45" name="Rectangle 45"/>
          <p:cNvSpPr/>
          <p:nvPr/>
        </p:nvSpPr>
        <p:spPr>
          <a:xfrm>
            <a:off x="685800" y="3905250"/>
            <a:ext cx="5257800" cy="1676400"/>
          </a:xfrm>
          <a:prstGeom prst="roundRect">
            <a:avLst>
              <a:gd name="adj" fmla="val 5682"/>
            </a:avLst>
          </a:prstGeom>
          <a:solidFill>
            <a:srgbClr val="F4F7FA"/>
          </a:solidFill>
          <a:ln>
            <a:noFill/>
          </a:ln>
        </p:spPr>
      </p:sp>
      <p:sp>
        <p:nvSpPr>
          <p:cNvPr id="46" name="Rectangle 46"/>
          <p:cNvSpPr/>
          <p:nvPr/>
        </p:nvSpPr>
        <p:spPr>
          <a:xfrm>
            <a:off x="685800" y="3905250"/>
            <a:ext cx="47625" cy="1676400"/>
          </a:xfrm>
          <a:prstGeom prst="roundRect">
            <a:avLst>
              <a:gd name="adj" fmla="val 50000"/>
            </a:avLst>
          </a:prstGeom>
          <a:solidFill>
            <a:srgbClr val="2E75B6"/>
          </a:solidFill>
          <a:ln>
            <a:noFill/>
          </a:ln>
        </p:spPr>
      </p:sp>
      <p:sp>
        <p:nvSpPr>
          <p:cNvPr id="47" name="TextBox 47"/>
          <p:cNvSpPr txBox="1"/>
          <p:nvPr/>
        </p:nvSpPr>
        <p:spPr>
          <a:xfrm>
            <a:off x="1009650" y="4105275"/>
            <a:ext cx="1663637" cy="304800"/>
          </a:xfrm>
          <a:prstGeom prst="rect">
            <a:avLst/>
          </a:prstGeom>
          <a:noFill/>
          <a:ln>
            <a:noFill/>
          </a:ln>
        </p:spPr>
        <p:txBody>
          <a:bodyPr wrap="none" lIns="0" tIns="0" rIns="0" bIns="0" anchor="t" anchorCtr="0">
            <a:spAutoFit/>
          </a:bodyPr>
          <a:lstStyle/>
          <a:p>
            <a:pPr algn="l"/>
            <a:r>
              <a:rPr lang="zh-CN" sz="1500" b="1" dirty="0">
                <a:solidFill>
                  <a:srgbClr val="12395E"/>
                </a:solidFill>
                <a:latin typeface="Segoe UI"/>
                <a:ea typeface="Microsoft YaHei"/>
                <a:cs typeface="Segoe UI"/>
              </a:rPr>
              <a:t>方法学已能做到</a:t>
            </a:r>
          </a:p>
        </p:txBody>
      </p:sp>
      <p:sp>
        <p:nvSpPr>
          <p:cNvPr id="48" name="TextBox 48"/>
          <p:cNvSpPr txBox="1"/>
          <p:nvPr/>
        </p:nvSpPr>
        <p:spPr>
          <a:xfrm>
            <a:off x="1012508" y="4453414"/>
            <a:ext cx="2326538"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 分离潜在占域与检测概率</a:t>
            </a:r>
          </a:p>
        </p:txBody>
      </p:sp>
      <p:sp>
        <p:nvSpPr>
          <p:cNvPr id="49" name="TextBox 49"/>
          <p:cNvSpPr txBox="1"/>
          <p:nvPr/>
        </p:nvSpPr>
        <p:spPr>
          <a:xfrm>
            <a:off x="1012508" y="4720114"/>
            <a:ext cx="2326538"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 跨物种、跨空间共享信息</a:t>
            </a:r>
          </a:p>
        </p:txBody>
      </p:sp>
      <p:sp>
        <p:nvSpPr>
          <p:cNvPr id="50" name="TextBox 50"/>
          <p:cNvSpPr txBox="1"/>
          <p:nvPr/>
        </p:nvSpPr>
        <p:spPr>
          <a:xfrm>
            <a:off x="1012508" y="4986814"/>
            <a:ext cx="2512752"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 输出带不确定性的后验分布</a:t>
            </a:r>
          </a:p>
        </p:txBody>
      </p:sp>
      <p:sp>
        <p:nvSpPr>
          <p:cNvPr id="51" name="Rectangle 51"/>
          <p:cNvSpPr/>
          <p:nvPr/>
        </p:nvSpPr>
        <p:spPr>
          <a:xfrm>
            <a:off x="6248400" y="3905250"/>
            <a:ext cx="5257800" cy="1676400"/>
          </a:xfrm>
          <a:prstGeom prst="roundRect">
            <a:avLst>
              <a:gd name="adj" fmla="val 5682"/>
            </a:avLst>
          </a:prstGeom>
          <a:solidFill>
            <a:srgbClr val="FDF4EC"/>
          </a:solidFill>
          <a:ln>
            <a:noFill/>
          </a:ln>
        </p:spPr>
      </p:sp>
      <p:sp>
        <p:nvSpPr>
          <p:cNvPr id="52" name="Rectangle 52"/>
          <p:cNvSpPr/>
          <p:nvPr/>
        </p:nvSpPr>
        <p:spPr>
          <a:xfrm>
            <a:off x="6248400" y="3905250"/>
            <a:ext cx="47625" cy="1676400"/>
          </a:xfrm>
          <a:prstGeom prst="roundRect">
            <a:avLst>
              <a:gd name="adj" fmla="val 50000"/>
            </a:avLst>
          </a:prstGeom>
          <a:solidFill>
            <a:srgbClr val="D97A34"/>
          </a:solidFill>
          <a:ln>
            <a:noFill/>
          </a:ln>
        </p:spPr>
      </p:sp>
      <p:sp>
        <p:nvSpPr>
          <p:cNvPr id="53" name="TextBox 53"/>
          <p:cNvSpPr txBox="1"/>
          <p:nvPr/>
        </p:nvSpPr>
        <p:spPr>
          <a:xfrm>
            <a:off x="6572250" y="4105275"/>
            <a:ext cx="2592514" cy="304800"/>
          </a:xfrm>
          <a:prstGeom prst="rect">
            <a:avLst/>
          </a:prstGeom>
          <a:noFill/>
          <a:ln>
            <a:noFill/>
          </a:ln>
        </p:spPr>
        <p:txBody>
          <a:bodyPr wrap="none" lIns="0" tIns="0" rIns="0" bIns="0" anchor="t" anchorCtr="0">
            <a:spAutoFit/>
          </a:bodyPr>
          <a:lstStyle/>
          <a:p>
            <a:pPr algn="l"/>
            <a:r>
              <a:rPr lang="zh-CN" sz="1500" b="1" dirty="0">
                <a:solidFill>
                  <a:srgbClr val="B3611F"/>
                </a:solidFill>
                <a:latin typeface="Segoe UI"/>
                <a:ea typeface="Microsoft YaHei"/>
                <a:cs typeface="Segoe UI"/>
              </a:rPr>
              <a:t>但绝大多数应用止步于此</a:t>
            </a:r>
          </a:p>
        </p:txBody>
      </p:sp>
      <p:sp>
        <p:nvSpPr>
          <p:cNvPr id="54" name="TextBox 54"/>
          <p:cNvSpPr txBox="1"/>
          <p:nvPr/>
        </p:nvSpPr>
        <p:spPr>
          <a:xfrm>
            <a:off x="6575108" y="4453414"/>
            <a:ext cx="3257607"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 报告的仍是校正后的物种数或占域率</a:t>
            </a:r>
          </a:p>
        </p:txBody>
      </p:sp>
      <p:sp>
        <p:nvSpPr>
          <p:cNvPr id="55" name="TextBox 55"/>
          <p:cNvSpPr txBox="1"/>
          <p:nvPr/>
        </p:nvSpPr>
        <p:spPr>
          <a:xfrm>
            <a:off x="6575108" y="4720114"/>
            <a:ext cx="2512752"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 后验不确定性很少被传播到</a:t>
            </a:r>
          </a:p>
        </p:txBody>
      </p:sp>
      <p:sp>
        <p:nvSpPr>
          <p:cNvPr id="56" name="TextBox 56"/>
          <p:cNvSpPr txBox="1"/>
          <p:nvPr/>
        </p:nvSpPr>
        <p:spPr>
          <a:xfrm>
            <a:off x="6575108" y="4986814"/>
            <a:ext cx="2430818"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功能、系统发育与 beta 维度</a:t>
            </a:r>
          </a:p>
        </p:txBody>
      </p:sp>
      <p:sp>
        <p:nvSpPr>
          <p:cNvPr id="57" name="TextBox 57"/>
          <p:cNvSpPr txBox="1"/>
          <p:nvPr/>
        </p:nvSpPr>
        <p:spPr>
          <a:xfrm>
            <a:off x="672465" y="6039802"/>
            <a:ext cx="11137059"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MacKenzie et al. 2003；Dorazio &amp; Royle 2005；Isaac et al. 2014；Guillera-Arroita 2017；Devarajan et al. 2020；Kéry &amp; Royle 2021；Doser et al. 2022</a:t>
            </a:r>
          </a:p>
        </p:txBody>
      </p:sp>
      <p:sp>
        <p:nvSpPr>
          <p:cNvPr id="58" name="TextBox 58"/>
          <p:cNvSpPr txBox="1"/>
          <p:nvPr/>
        </p:nvSpPr>
        <p:spPr>
          <a:xfrm>
            <a:off x="11408521" y="6458902"/>
            <a:ext cx="111014"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7</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9144552"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文献脉络四：生物同质化——少数赢家取代多数输家</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112692" y="801052"/>
            <a:ext cx="1406842"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一、背景与科学问题</a:t>
            </a:r>
          </a:p>
        </p:txBody>
      </p:sp>
      <p:sp>
        <p:nvSpPr>
          <p:cNvPr id="6" name="TextBox 6"/>
          <p:cNvSpPr txBox="1"/>
          <p:nvPr/>
        </p:nvSpPr>
        <p:spPr>
          <a:xfrm>
            <a:off x="668655" y="1359218"/>
            <a:ext cx="5357812" cy="274320"/>
          </a:xfrm>
          <a:prstGeom prst="rect">
            <a:avLst/>
          </a:prstGeom>
          <a:noFill/>
          <a:ln>
            <a:noFill/>
          </a:ln>
        </p:spPr>
        <p:txBody>
          <a:bodyPr wrap="none" lIns="0" tIns="0" rIns="0" bIns="0" anchor="t" anchorCtr="0">
            <a:spAutoFit/>
          </a:bodyPr>
          <a:lstStyle/>
          <a:p>
            <a:pPr algn="l"/>
            <a:r>
              <a:rPr lang="zh-CN" sz="1350" dirty="0">
                <a:solidFill>
                  <a:srgbClr val="5A6B7C"/>
                </a:solidFill>
                <a:latin typeface="Segoe UI"/>
                <a:ea typeface="Microsoft YaHei"/>
                <a:cs typeface="Segoe UI"/>
              </a:rPr>
              <a:t>这条脉络回答了脉络一遗留的问题：究竟应该测量哪个维度。</a:t>
            </a:r>
          </a:p>
        </p:txBody>
      </p:sp>
      <p:grpSp>
        <p:nvGrpSpPr>
          <p:cNvPr id="15" name="Group 15"/>
          <p:cNvGrpSpPr/>
          <p:nvPr/>
        </p:nvGrpSpPr>
        <p:grpSpPr>
          <a:xfrm>
            <a:off x="685800" y="1733550"/>
            <a:ext cx="2533650" cy="1866900"/>
            <a:chOff x="685800" y="1733550"/>
            <a:chExt cx="2533650" cy="1866900"/>
          </a:xfrm>
        </p:grpSpPr>
        <p:sp>
          <p:nvSpPr>
            <p:cNvPr id="7" name="Rectangle 7"/>
            <p:cNvSpPr/>
            <p:nvPr/>
          </p:nvSpPr>
          <p:spPr>
            <a:xfrm>
              <a:off x="685800" y="1733550"/>
              <a:ext cx="2533650" cy="1866900"/>
            </a:xfrm>
            <a:prstGeom prst="roundRect">
              <a:avLst>
                <a:gd name="adj" fmla="val 5102"/>
              </a:avLst>
            </a:prstGeom>
            <a:solidFill>
              <a:srgbClr val="F4F7FA"/>
            </a:solidFill>
            <a:ln>
              <a:noFill/>
            </a:ln>
          </p:spPr>
        </p:sp>
        <p:sp>
          <p:nvSpPr>
            <p:cNvPr id="8" name="Rectangle 8"/>
            <p:cNvSpPr/>
            <p:nvPr/>
          </p:nvSpPr>
          <p:spPr>
            <a:xfrm>
              <a:off x="685800" y="1733550"/>
              <a:ext cx="2533650" cy="38100"/>
            </a:xfrm>
            <a:prstGeom prst="roundRect">
              <a:avLst>
                <a:gd name="adj" fmla="val 50000"/>
              </a:avLst>
            </a:prstGeom>
            <a:solidFill>
              <a:srgbClr val="2E75B6"/>
            </a:solidFill>
            <a:ln>
              <a:noFill/>
            </a:ln>
          </p:spPr>
        </p:sp>
        <p:sp>
          <p:nvSpPr>
            <p:cNvPr id="9" name="TextBox 9"/>
            <p:cNvSpPr txBox="1"/>
            <p:nvPr/>
          </p:nvSpPr>
          <p:spPr>
            <a:xfrm>
              <a:off x="939165" y="1944052"/>
              <a:ext cx="640080"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概念提出</a:t>
              </a:r>
            </a:p>
          </p:txBody>
        </p:sp>
        <p:sp>
          <p:nvSpPr>
            <p:cNvPr id="10" name="TextBox 10"/>
            <p:cNvSpPr txBox="1"/>
            <p:nvPr/>
          </p:nvSpPr>
          <p:spPr>
            <a:xfrm>
              <a:off x="936308" y="2205514"/>
              <a:ext cx="1092351" cy="259080"/>
            </a:xfrm>
            <a:prstGeom prst="rect">
              <a:avLst/>
            </a:prstGeom>
            <a:noFill/>
            <a:ln>
              <a:noFill/>
            </a:ln>
          </p:spPr>
          <p:txBody>
            <a:bodyPr wrap="none" lIns="0" tIns="0" rIns="0" bIns="0" anchor="t" anchorCtr="0">
              <a:spAutoFit/>
            </a:bodyPr>
            <a:lstStyle/>
            <a:p>
              <a:pPr algn="l"/>
              <a:r>
                <a:rPr lang="zh-CN" sz="1275" b="1" dirty="0">
                  <a:solidFill>
                    <a:srgbClr val="12395E"/>
                  </a:solidFill>
                  <a:latin typeface="Segoe UI"/>
                  <a:ea typeface="Microsoft YaHei"/>
                  <a:cs typeface="Segoe UI"/>
                </a:rPr>
                <a:t>McKinney &amp;</a:t>
              </a:r>
            </a:p>
          </p:txBody>
        </p:sp>
        <p:sp>
          <p:nvSpPr>
            <p:cNvPr id="11" name="TextBox 11"/>
            <p:cNvSpPr txBox="1"/>
            <p:nvPr/>
          </p:nvSpPr>
          <p:spPr>
            <a:xfrm>
              <a:off x="936308" y="2415064"/>
              <a:ext cx="1414091" cy="259080"/>
            </a:xfrm>
            <a:prstGeom prst="rect">
              <a:avLst/>
            </a:prstGeom>
            <a:noFill/>
            <a:ln>
              <a:noFill/>
            </a:ln>
          </p:spPr>
          <p:txBody>
            <a:bodyPr wrap="none" lIns="0" tIns="0" rIns="0" bIns="0" anchor="t" anchorCtr="0">
              <a:spAutoFit/>
            </a:bodyPr>
            <a:lstStyle/>
            <a:p>
              <a:pPr algn="l"/>
              <a:r>
                <a:rPr lang="zh-CN" sz="1275" b="1" dirty="0">
                  <a:solidFill>
                    <a:srgbClr val="12395E"/>
                  </a:solidFill>
                  <a:latin typeface="Segoe UI"/>
                  <a:ea typeface="Microsoft YaHei"/>
                  <a:cs typeface="Segoe UI"/>
                </a:rPr>
                <a:t>Lockwood 1999</a:t>
              </a:r>
            </a:p>
          </p:txBody>
        </p:sp>
        <p:sp>
          <p:nvSpPr>
            <p:cNvPr id="12" name="TextBox 12"/>
            <p:cNvSpPr txBox="1"/>
            <p:nvPr/>
          </p:nvSpPr>
          <p:spPr>
            <a:xfrm>
              <a:off x="938212" y="2736056"/>
              <a:ext cx="1835944"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少数赢家取代多数输家：</a:t>
              </a:r>
            </a:p>
          </p:txBody>
        </p:sp>
        <p:sp>
          <p:nvSpPr>
            <p:cNvPr id="13" name="TextBox 13"/>
            <p:cNvSpPr txBox="1"/>
            <p:nvPr/>
          </p:nvSpPr>
          <p:spPr>
            <a:xfrm>
              <a:off x="938212" y="2945606"/>
              <a:ext cx="1507331"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群落间差异被抹平，</a:t>
              </a:r>
            </a:p>
          </p:txBody>
        </p:sp>
        <p:sp>
          <p:nvSpPr>
            <p:cNvPr id="14" name="TextBox 14"/>
            <p:cNvSpPr txBox="1"/>
            <p:nvPr/>
          </p:nvSpPr>
          <p:spPr>
            <a:xfrm>
              <a:off x="938212" y="3155156"/>
              <a:ext cx="1507331"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而总物种数未必下降</a:t>
              </a:r>
            </a:p>
          </p:txBody>
        </p:sp>
      </p:grpSp>
      <p:grpSp>
        <p:nvGrpSpPr>
          <p:cNvPr id="24" name="Group 24"/>
          <p:cNvGrpSpPr/>
          <p:nvPr/>
        </p:nvGrpSpPr>
        <p:grpSpPr>
          <a:xfrm>
            <a:off x="3409950" y="1733550"/>
            <a:ext cx="2533650" cy="1866900"/>
            <a:chOff x="3409950" y="1733550"/>
            <a:chExt cx="2533650" cy="1866900"/>
          </a:xfrm>
        </p:grpSpPr>
        <p:sp>
          <p:nvSpPr>
            <p:cNvPr id="16" name="Rectangle 16"/>
            <p:cNvSpPr/>
            <p:nvPr/>
          </p:nvSpPr>
          <p:spPr>
            <a:xfrm>
              <a:off x="3409950" y="1733550"/>
              <a:ext cx="2533650" cy="1866900"/>
            </a:xfrm>
            <a:prstGeom prst="roundRect">
              <a:avLst>
                <a:gd name="adj" fmla="val 5102"/>
              </a:avLst>
            </a:prstGeom>
            <a:solidFill>
              <a:srgbClr val="F4F7FA"/>
            </a:solidFill>
            <a:ln>
              <a:noFill/>
            </a:ln>
          </p:spPr>
        </p:sp>
        <p:sp>
          <p:nvSpPr>
            <p:cNvPr id="17" name="Rectangle 17"/>
            <p:cNvSpPr/>
            <p:nvPr/>
          </p:nvSpPr>
          <p:spPr>
            <a:xfrm>
              <a:off x="3409950" y="1733550"/>
              <a:ext cx="2533650" cy="38100"/>
            </a:xfrm>
            <a:prstGeom prst="roundRect">
              <a:avLst>
                <a:gd name="adj" fmla="val 50000"/>
              </a:avLst>
            </a:prstGeom>
            <a:solidFill>
              <a:srgbClr val="2E75B6"/>
            </a:solidFill>
            <a:ln>
              <a:noFill/>
            </a:ln>
          </p:spPr>
        </p:sp>
        <p:sp>
          <p:nvSpPr>
            <p:cNvPr id="18" name="TextBox 18"/>
            <p:cNvSpPr txBox="1"/>
            <p:nvPr/>
          </p:nvSpPr>
          <p:spPr>
            <a:xfrm>
              <a:off x="3663315" y="1944052"/>
              <a:ext cx="793432"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定义与量化</a:t>
              </a:r>
            </a:p>
          </p:txBody>
        </p:sp>
        <p:sp>
          <p:nvSpPr>
            <p:cNvPr id="19" name="TextBox 19"/>
            <p:cNvSpPr txBox="1"/>
            <p:nvPr/>
          </p:nvSpPr>
          <p:spPr>
            <a:xfrm>
              <a:off x="3660458" y="2205514"/>
              <a:ext cx="703499" cy="259080"/>
            </a:xfrm>
            <a:prstGeom prst="rect">
              <a:avLst/>
            </a:prstGeom>
            <a:noFill/>
            <a:ln>
              <a:noFill/>
            </a:ln>
          </p:spPr>
          <p:txBody>
            <a:bodyPr wrap="none" lIns="0" tIns="0" rIns="0" bIns="0" anchor="t" anchorCtr="0">
              <a:spAutoFit/>
            </a:bodyPr>
            <a:lstStyle/>
            <a:p>
              <a:pPr algn="l"/>
              <a:r>
                <a:rPr lang="zh-CN" sz="1275" b="1" dirty="0">
                  <a:solidFill>
                    <a:srgbClr val="12395E"/>
                  </a:solidFill>
                  <a:latin typeface="Segoe UI"/>
                  <a:ea typeface="Microsoft YaHei"/>
                  <a:cs typeface="Segoe UI"/>
                </a:rPr>
                <a:t>Olden &amp;</a:t>
              </a:r>
            </a:p>
          </p:txBody>
        </p:sp>
        <p:sp>
          <p:nvSpPr>
            <p:cNvPr id="20" name="TextBox 20"/>
            <p:cNvSpPr txBox="1"/>
            <p:nvPr/>
          </p:nvSpPr>
          <p:spPr>
            <a:xfrm>
              <a:off x="3660458" y="2415064"/>
              <a:ext cx="1193018" cy="259080"/>
            </a:xfrm>
            <a:prstGeom prst="rect">
              <a:avLst/>
            </a:prstGeom>
            <a:noFill/>
            <a:ln>
              <a:noFill/>
            </a:ln>
          </p:spPr>
          <p:txBody>
            <a:bodyPr wrap="none" lIns="0" tIns="0" rIns="0" bIns="0" anchor="t" anchorCtr="0">
              <a:spAutoFit/>
            </a:bodyPr>
            <a:lstStyle/>
            <a:p>
              <a:pPr algn="l"/>
              <a:r>
                <a:rPr lang="zh-CN" sz="1275" b="1" dirty="0">
                  <a:solidFill>
                    <a:srgbClr val="12395E"/>
                  </a:solidFill>
                  <a:latin typeface="Segoe UI"/>
                  <a:ea typeface="Microsoft YaHei"/>
                  <a:cs typeface="Segoe UI"/>
                </a:rPr>
                <a:t>Rooney 2006</a:t>
              </a:r>
            </a:p>
          </p:txBody>
        </p:sp>
        <p:sp>
          <p:nvSpPr>
            <p:cNvPr id="21" name="TextBox 21"/>
            <p:cNvSpPr txBox="1"/>
            <p:nvPr/>
          </p:nvSpPr>
          <p:spPr>
            <a:xfrm>
              <a:off x="3662362" y="2736056"/>
              <a:ext cx="1507331"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明确同质化的判据：</a:t>
              </a:r>
            </a:p>
          </p:txBody>
        </p:sp>
        <p:sp>
          <p:nvSpPr>
            <p:cNvPr id="22" name="TextBox 22"/>
            <p:cNvSpPr txBox="1"/>
            <p:nvPr/>
          </p:nvSpPr>
          <p:spPr>
            <a:xfrm>
              <a:off x="3662362" y="2945606"/>
              <a:ext cx="1507331"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群落间相似度随时间</a:t>
              </a:r>
            </a:p>
          </p:txBody>
        </p:sp>
        <p:sp>
          <p:nvSpPr>
            <p:cNvPr id="23" name="TextBox 23"/>
            <p:cNvSpPr txBox="1"/>
            <p:nvPr/>
          </p:nvSpPr>
          <p:spPr>
            <a:xfrm>
              <a:off x="3662362" y="3155156"/>
              <a:ext cx="1927955"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上升（beta 多样性下降）</a:t>
              </a:r>
            </a:p>
          </p:txBody>
        </p:sp>
      </p:grpSp>
      <p:grpSp>
        <p:nvGrpSpPr>
          <p:cNvPr id="33" name="Group 33"/>
          <p:cNvGrpSpPr/>
          <p:nvPr/>
        </p:nvGrpSpPr>
        <p:grpSpPr>
          <a:xfrm>
            <a:off x="6134100" y="1733550"/>
            <a:ext cx="2533650" cy="1866900"/>
            <a:chOff x="6134100" y="1733550"/>
            <a:chExt cx="2533650" cy="1866900"/>
          </a:xfrm>
        </p:grpSpPr>
        <p:sp>
          <p:nvSpPr>
            <p:cNvPr id="25" name="Rectangle 25"/>
            <p:cNvSpPr/>
            <p:nvPr/>
          </p:nvSpPr>
          <p:spPr>
            <a:xfrm>
              <a:off x="6134100" y="1733550"/>
              <a:ext cx="2533650" cy="1866900"/>
            </a:xfrm>
            <a:prstGeom prst="roundRect">
              <a:avLst>
                <a:gd name="adj" fmla="val 5102"/>
              </a:avLst>
            </a:prstGeom>
            <a:solidFill>
              <a:srgbClr val="FDF4EC"/>
            </a:solidFill>
            <a:ln>
              <a:noFill/>
            </a:ln>
          </p:spPr>
        </p:sp>
        <p:sp>
          <p:nvSpPr>
            <p:cNvPr id="26" name="Rectangle 26"/>
            <p:cNvSpPr/>
            <p:nvPr/>
          </p:nvSpPr>
          <p:spPr>
            <a:xfrm>
              <a:off x="6134100" y="1733550"/>
              <a:ext cx="2533650" cy="38100"/>
            </a:xfrm>
            <a:prstGeom prst="roundRect">
              <a:avLst>
                <a:gd name="adj" fmla="val 50000"/>
              </a:avLst>
            </a:prstGeom>
            <a:solidFill>
              <a:srgbClr val="D97A34"/>
            </a:solidFill>
            <a:ln>
              <a:noFill/>
            </a:ln>
          </p:spPr>
        </p:sp>
        <p:sp>
          <p:nvSpPr>
            <p:cNvPr id="27" name="TextBox 27"/>
            <p:cNvSpPr txBox="1"/>
            <p:nvPr/>
          </p:nvSpPr>
          <p:spPr>
            <a:xfrm>
              <a:off x="6387465" y="1944052"/>
              <a:ext cx="640080"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鸟类实证</a:t>
              </a:r>
            </a:p>
          </p:txBody>
        </p:sp>
        <p:sp>
          <p:nvSpPr>
            <p:cNvPr id="28" name="TextBox 28"/>
            <p:cNvSpPr txBox="1"/>
            <p:nvPr/>
          </p:nvSpPr>
          <p:spPr>
            <a:xfrm>
              <a:off x="6384608" y="2205514"/>
              <a:ext cx="1358823" cy="259080"/>
            </a:xfrm>
            <a:prstGeom prst="rect">
              <a:avLst/>
            </a:prstGeom>
            <a:noFill/>
            <a:ln>
              <a:noFill/>
            </a:ln>
          </p:spPr>
          <p:txBody>
            <a:bodyPr wrap="none" lIns="0" tIns="0" rIns="0" bIns="0" anchor="t" anchorCtr="0">
              <a:spAutoFit/>
            </a:bodyPr>
            <a:lstStyle/>
            <a:p>
              <a:pPr algn="l"/>
              <a:r>
                <a:rPr lang="zh-CN" sz="1275" b="1" dirty="0">
                  <a:solidFill>
                    <a:srgbClr val="B3611F"/>
                  </a:solidFill>
                  <a:latin typeface="Segoe UI"/>
                  <a:ea typeface="Microsoft YaHei"/>
                  <a:cs typeface="Segoe UI"/>
                </a:rPr>
                <a:t>Devictor 2007</a:t>
              </a:r>
            </a:p>
          </p:txBody>
        </p:sp>
        <p:sp>
          <p:nvSpPr>
            <p:cNvPr id="29" name="TextBox 29"/>
            <p:cNvSpPr txBox="1"/>
            <p:nvPr/>
          </p:nvSpPr>
          <p:spPr>
            <a:xfrm>
              <a:off x="6384608" y="2415064"/>
              <a:ext cx="1082482" cy="259080"/>
            </a:xfrm>
            <a:prstGeom prst="rect">
              <a:avLst/>
            </a:prstGeom>
            <a:noFill/>
            <a:ln>
              <a:noFill/>
            </a:ln>
          </p:spPr>
          <p:txBody>
            <a:bodyPr wrap="none" lIns="0" tIns="0" rIns="0" bIns="0" anchor="t" anchorCtr="0">
              <a:spAutoFit/>
            </a:bodyPr>
            <a:lstStyle/>
            <a:p>
              <a:pPr algn="l"/>
              <a:r>
                <a:rPr lang="zh-CN" sz="1275" b="1" dirty="0">
                  <a:solidFill>
                    <a:srgbClr val="B3611F"/>
                  </a:solidFill>
                  <a:latin typeface="Segoe UI"/>
                  <a:ea typeface="Microsoft YaHei"/>
                  <a:cs typeface="Segoe UI"/>
                </a:rPr>
                <a:t>Clavel 2010</a:t>
              </a:r>
            </a:p>
          </p:txBody>
        </p:sp>
        <p:sp>
          <p:nvSpPr>
            <p:cNvPr id="30" name="TextBox 30"/>
            <p:cNvSpPr txBox="1"/>
            <p:nvPr/>
          </p:nvSpPr>
          <p:spPr>
            <a:xfrm>
              <a:off x="6386512" y="2736056"/>
              <a:ext cx="1507331"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受扰景观中鸟类群落</a:t>
              </a:r>
            </a:p>
          </p:txBody>
        </p:sp>
        <p:sp>
          <p:nvSpPr>
            <p:cNvPr id="31" name="TextBox 31"/>
            <p:cNvSpPr txBox="1"/>
            <p:nvPr/>
          </p:nvSpPr>
          <p:spPr>
            <a:xfrm>
              <a:off x="6386512" y="2945606"/>
              <a:ext cx="1343025"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出现功能同质化；</a:t>
              </a:r>
            </a:p>
          </p:txBody>
        </p:sp>
        <p:sp>
          <p:nvSpPr>
            <p:cNvPr id="32" name="TextBox 32"/>
            <p:cNvSpPr txBox="1"/>
            <p:nvPr/>
          </p:nvSpPr>
          <p:spPr>
            <a:xfrm>
              <a:off x="6386512" y="3155156"/>
              <a:ext cx="1343025"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特化种全球性衰退</a:t>
              </a:r>
            </a:p>
          </p:txBody>
        </p:sp>
      </p:grpSp>
      <p:grpSp>
        <p:nvGrpSpPr>
          <p:cNvPr id="41" name="Group 41"/>
          <p:cNvGrpSpPr/>
          <p:nvPr/>
        </p:nvGrpSpPr>
        <p:grpSpPr>
          <a:xfrm>
            <a:off x="8858250" y="1733550"/>
            <a:ext cx="2647950" cy="1866900"/>
            <a:chOff x="8858250" y="1733550"/>
            <a:chExt cx="2647950" cy="1866900"/>
          </a:xfrm>
        </p:grpSpPr>
        <p:sp>
          <p:nvSpPr>
            <p:cNvPr id="34" name="Rectangle 34"/>
            <p:cNvSpPr/>
            <p:nvPr/>
          </p:nvSpPr>
          <p:spPr>
            <a:xfrm>
              <a:off x="8858250" y="1733550"/>
              <a:ext cx="2647950" cy="1866900"/>
            </a:xfrm>
            <a:prstGeom prst="roundRect">
              <a:avLst>
                <a:gd name="adj" fmla="val 5102"/>
              </a:avLst>
            </a:prstGeom>
            <a:solidFill>
              <a:srgbClr val="FDF4EC"/>
            </a:solidFill>
            <a:ln>
              <a:noFill/>
            </a:ln>
          </p:spPr>
        </p:sp>
        <p:sp>
          <p:nvSpPr>
            <p:cNvPr id="35" name="Rectangle 35"/>
            <p:cNvSpPr/>
            <p:nvPr/>
          </p:nvSpPr>
          <p:spPr>
            <a:xfrm>
              <a:off x="8858250" y="1733550"/>
              <a:ext cx="2647950" cy="38100"/>
            </a:xfrm>
            <a:prstGeom prst="roundRect">
              <a:avLst>
                <a:gd name="adj" fmla="val 50000"/>
              </a:avLst>
            </a:prstGeom>
            <a:solidFill>
              <a:srgbClr val="D97A34"/>
            </a:solidFill>
            <a:ln>
              <a:noFill/>
            </a:ln>
          </p:spPr>
        </p:sp>
        <p:sp>
          <p:nvSpPr>
            <p:cNvPr id="36" name="TextBox 36"/>
            <p:cNvSpPr txBox="1"/>
            <p:nvPr/>
          </p:nvSpPr>
          <p:spPr>
            <a:xfrm>
              <a:off x="9111615" y="1944052"/>
              <a:ext cx="640080"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趋势确认</a:t>
              </a:r>
            </a:p>
          </p:txBody>
        </p:sp>
        <p:sp>
          <p:nvSpPr>
            <p:cNvPr id="37" name="TextBox 37"/>
            <p:cNvSpPr txBox="1"/>
            <p:nvPr/>
          </p:nvSpPr>
          <p:spPr>
            <a:xfrm>
              <a:off x="9108758" y="2205514"/>
              <a:ext cx="1145645" cy="259080"/>
            </a:xfrm>
            <a:prstGeom prst="rect">
              <a:avLst/>
            </a:prstGeom>
            <a:noFill/>
            <a:ln>
              <a:noFill/>
            </a:ln>
          </p:spPr>
          <p:txBody>
            <a:bodyPr wrap="none" lIns="0" tIns="0" rIns="0" bIns="0" anchor="t" anchorCtr="0">
              <a:spAutoFit/>
            </a:bodyPr>
            <a:lstStyle/>
            <a:p>
              <a:pPr algn="l"/>
              <a:r>
                <a:rPr lang="zh-CN" sz="1275" b="1" dirty="0">
                  <a:solidFill>
                    <a:srgbClr val="B3611F"/>
                  </a:solidFill>
                  <a:latin typeface="Segoe UI"/>
                  <a:ea typeface="Microsoft YaHei"/>
                  <a:cs typeface="Segoe UI"/>
                </a:rPr>
                <a:t>Le Viol 2012</a:t>
              </a:r>
            </a:p>
          </p:txBody>
        </p:sp>
        <p:sp>
          <p:nvSpPr>
            <p:cNvPr id="38" name="TextBox 38"/>
            <p:cNvSpPr txBox="1"/>
            <p:nvPr/>
          </p:nvSpPr>
          <p:spPr>
            <a:xfrm>
              <a:off x="9110662" y="2736056"/>
              <a:ext cx="1343025"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欧洲鸟类二十年：</a:t>
              </a:r>
            </a:p>
          </p:txBody>
        </p:sp>
        <p:sp>
          <p:nvSpPr>
            <p:cNvPr id="39" name="TextBox 39"/>
            <p:cNvSpPr txBox="1"/>
            <p:nvPr/>
          </p:nvSpPr>
          <p:spPr>
            <a:xfrm>
              <a:off x="9110662" y="2945606"/>
              <a:ext cx="1343025"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泛化种越来越多，</a:t>
              </a:r>
            </a:p>
          </p:txBody>
        </p:sp>
        <p:sp>
          <p:nvSpPr>
            <p:cNvPr id="40" name="TextBox 40"/>
            <p:cNvSpPr txBox="1"/>
            <p:nvPr/>
          </p:nvSpPr>
          <p:spPr>
            <a:xfrm>
              <a:off x="9110662" y="3155156"/>
              <a:ext cx="1014412"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群落趋于同质</a:t>
              </a:r>
            </a:p>
          </p:txBody>
        </p:sp>
      </p:grpSp>
      <p:sp>
        <p:nvSpPr>
          <p:cNvPr id="42" name="Rectangle 42"/>
          <p:cNvSpPr/>
          <p:nvPr/>
        </p:nvSpPr>
        <p:spPr>
          <a:xfrm>
            <a:off x="685800" y="3867150"/>
            <a:ext cx="6667500" cy="1733550"/>
          </a:xfrm>
          <a:prstGeom prst="roundRect">
            <a:avLst>
              <a:gd name="adj" fmla="val 5495"/>
            </a:avLst>
          </a:prstGeom>
          <a:solidFill>
            <a:srgbClr val="12395E"/>
          </a:solidFill>
          <a:ln>
            <a:noFill/>
          </a:ln>
        </p:spPr>
      </p:sp>
      <p:sp>
        <p:nvSpPr>
          <p:cNvPr id="43" name="Rectangle 43"/>
          <p:cNvSpPr/>
          <p:nvPr/>
        </p:nvSpPr>
        <p:spPr>
          <a:xfrm>
            <a:off x="685800" y="3867150"/>
            <a:ext cx="47625" cy="1733550"/>
          </a:xfrm>
          <a:prstGeom prst="roundRect">
            <a:avLst>
              <a:gd name="adj" fmla="val 50000"/>
            </a:avLst>
          </a:prstGeom>
          <a:solidFill>
            <a:srgbClr val="D97A34"/>
          </a:solidFill>
          <a:ln>
            <a:noFill/>
          </a:ln>
        </p:spPr>
      </p:sp>
      <p:sp>
        <p:nvSpPr>
          <p:cNvPr id="44" name="TextBox 44"/>
          <p:cNvSpPr txBox="1"/>
          <p:nvPr/>
        </p:nvSpPr>
        <p:spPr>
          <a:xfrm>
            <a:off x="1046798" y="4078129"/>
            <a:ext cx="5160445"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Segoe UI"/>
                <a:ea typeface="Microsoft YaHei"/>
                <a:cs typeface="Segoe UI"/>
              </a:rPr>
              <a:t>关键洞察：同质化是功能性的，不只是分类学的</a:t>
            </a:r>
          </a:p>
        </p:txBody>
      </p:sp>
      <p:sp>
        <p:nvSpPr>
          <p:cNvPr id="45" name="TextBox 45"/>
          <p:cNvSpPr txBox="1"/>
          <p:nvPr/>
        </p:nvSpPr>
        <p:spPr>
          <a:xfrm>
            <a:off x="1050608" y="4491514"/>
            <a:ext cx="4315301"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冗余的广栖息地泛化种可以补上特化种留下的空位，</a:t>
            </a:r>
          </a:p>
        </p:txBody>
      </p:sp>
      <p:sp>
        <p:nvSpPr>
          <p:cNvPr id="46" name="TextBox 46"/>
          <p:cNvSpPr txBox="1"/>
          <p:nvPr/>
        </p:nvSpPr>
        <p:spPr>
          <a:xfrm>
            <a:off x="1050608" y="4758214"/>
            <a:ext cx="5060156"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于是物种数保持稳定甚至上升，但群落的功能独特性在流失。</a:t>
            </a:r>
          </a:p>
        </p:txBody>
      </p:sp>
      <p:sp>
        <p:nvSpPr>
          <p:cNvPr id="47" name="TextBox 47"/>
          <p:cNvSpPr txBox="1"/>
          <p:nvPr/>
        </p:nvSpPr>
        <p:spPr>
          <a:xfrm>
            <a:off x="1050608" y="5024914"/>
            <a:ext cx="3034151"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这正是"物种数看不见的那种退化"。</a:t>
            </a:r>
          </a:p>
        </p:txBody>
      </p:sp>
      <p:sp>
        <p:nvSpPr>
          <p:cNvPr id="48" name="Rectangle 48"/>
          <p:cNvSpPr/>
          <p:nvPr/>
        </p:nvSpPr>
        <p:spPr>
          <a:xfrm>
            <a:off x="7658100" y="3867150"/>
            <a:ext cx="3848100" cy="1733550"/>
          </a:xfrm>
          <a:prstGeom prst="roundRect">
            <a:avLst>
              <a:gd name="adj" fmla="val 5495"/>
            </a:avLst>
          </a:prstGeom>
          <a:solidFill>
            <a:srgbClr val="F4F7FA"/>
          </a:solidFill>
          <a:ln>
            <a:noFill/>
          </a:ln>
        </p:spPr>
      </p:sp>
      <p:sp>
        <p:nvSpPr>
          <p:cNvPr id="49" name="TextBox 49"/>
          <p:cNvSpPr txBox="1"/>
          <p:nvPr/>
        </p:nvSpPr>
        <p:spPr>
          <a:xfrm>
            <a:off x="7906702" y="4094321"/>
            <a:ext cx="2462889" cy="289560"/>
          </a:xfrm>
          <a:prstGeom prst="rect">
            <a:avLst/>
          </a:prstGeom>
          <a:noFill/>
          <a:ln>
            <a:noFill/>
          </a:ln>
        </p:spPr>
        <p:txBody>
          <a:bodyPr wrap="none" lIns="0" tIns="0" rIns="0" bIns="0" anchor="t" anchorCtr="0">
            <a:spAutoFit/>
          </a:bodyPr>
          <a:lstStyle/>
          <a:p>
            <a:pPr algn="l"/>
            <a:r>
              <a:rPr lang="zh-CN" sz="1425" b="1" dirty="0">
                <a:solidFill>
                  <a:srgbClr val="12395E"/>
                </a:solidFill>
                <a:latin typeface="Segoe UI"/>
                <a:ea typeface="Microsoft YaHei"/>
                <a:cs typeface="Segoe UI"/>
              </a:rPr>
              <a:t>要看见它，需要这些维度</a:t>
            </a:r>
          </a:p>
        </p:txBody>
      </p:sp>
      <p:sp>
        <p:nvSpPr>
          <p:cNvPr id="50" name="TextBox 50"/>
          <p:cNvSpPr txBox="1"/>
          <p:nvPr/>
        </p:nvSpPr>
        <p:spPr>
          <a:xfrm>
            <a:off x="7909560" y="4461510"/>
            <a:ext cx="2526182"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 功能多样性 Villéger 2008；</a:t>
            </a:r>
          </a:p>
        </p:txBody>
      </p:sp>
      <p:sp>
        <p:nvSpPr>
          <p:cNvPr id="51" name="TextBox 51"/>
          <p:cNvSpPr txBox="1"/>
          <p:nvPr/>
        </p:nvSpPr>
        <p:spPr>
          <a:xfrm>
            <a:off x="8138160" y="4690110"/>
            <a:ext cx="2329891"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Laliberté &amp; Legendre 2010</a:t>
            </a:r>
          </a:p>
        </p:txBody>
      </p:sp>
      <p:sp>
        <p:nvSpPr>
          <p:cNvPr id="52" name="TextBox 52"/>
          <p:cNvSpPr txBox="1"/>
          <p:nvPr/>
        </p:nvSpPr>
        <p:spPr>
          <a:xfrm>
            <a:off x="7909560" y="4956810"/>
            <a:ext cx="2428037"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 系统发育多样性 Faith 1992</a:t>
            </a:r>
          </a:p>
        </p:txBody>
      </p:sp>
      <p:sp>
        <p:nvSpPr>
          <p:cNvPr id="53" name="TextBox 53"/>
          <p:cNvSpPr txBox="1"/>
          <p:nvPr/>
        </p:nvSpPr>
        <p:spPr>
          <a:xfrm>
            <a:off x="7909560" y="5223510"/>
            <a:ext cx="2687422"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 beta 分解 Baselga 2010, 2012</a:t>
            </a:r>
          </a:p>
        </p:txBody>
      </p:sp>
      <p:sp>
        <p:nvSpPr>
          <p:cNvPr id="54" name="TextBox 54"/>
          <p:cNvSpPr txBox="1"/>
          <p:nvPr/>
        </p:nvSpPr>
        <p:spPr>
          <a:xfrm>
            <a:off x="672465" y="5944552"/>
            <a:ext cx="9634204"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McKinney &amp; Lockwood 1999；Olden &amp; Rooney 2006；Devictor et al. 2007；Clavel et al. 2010；Le Viol et al. 2012；Socolar et al. 2016</a:t>
            </a:r>
          </a:p>
        </p:txBody>
      </p:sp>
      <p:sp>
        <p:nvSpPr>
          <p:cNvPr id="55" name="TextBox 55"/>
          <p:cNvSpPr txBox="1"/>
          <p:nvPr/>
        </p:nvSpPr>
        <p:spPr>
          <a:xfrm>
            <a:off x="11408521" y="6458902"/>
            <a:ext cx="111014"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8</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7565460"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四条脉络汇合：一个尚未被填补的交叉空缺</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112692" y="801052"/>
            <a:ext cx="1406842"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一、背景与科学问题</a:t>
            </a:r>
          </a:p>
        </p:txBody>
      </p:sp>
      <p:sp>
        <p:nvSpPr>
          <p:cNvPr id="6" name="Rectangle 6"/>
          <p:cNvSpPr/>
          <p:nvPr/>
        </p:nvSpPr>
        <p:spPr>
          <a:xfrm>
            <a:off x="685800" y="1428750"/>
            <a:ext cx="10820400" cy="381000"/>
          </a:xfrm>
          <a:prstGeom prst="roundRect">
            <a:avLst>
              <a:gd name="adj" fmla="val 15000"/>
            </a:avLst>
          </a:prstGeom>
          <a:solidFill>
            <a:srgbClr val="12395E"/>
          </a:solidFill>
          <a:ln>
            <a:noFill/>
          </a:ln>
        </p:spPr>
      </p:sp>
      <p:sp>
        <p:nvSpPr>
          <p:cNvPr id="7" name="TextBox 7"/>
          <p:cNvSpPr txBox="1"/>
          <p:nvPr/>
        </p:nvSpPr>
        <p:spPr>
          <a:xfrm>
            <a:off x="937260" y="1546860"/>
            <a:ext cx="773582"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Segoe UI"/>
                <a:ea typeface="Microsoft YaHei"/>
                <a:cs typeface="Segoe UI"/>
              </a:rPr>
              <a:t>文献脉络</a:t>
            </a:r>
          </a:p>
        </p:txBody>
      </p:sp>
      <p:sp>
        <p:nvSpPr>
          <p:cNvPr id="8" name="TextBox 8"/>
          <p:cNvSpPr txBox="1"/>
          <p:nvPr/>
        </p:nvSpPr>
        <p:spPr>
          <a:xfrm>
            <a:off x="3413760" y="1546860"/>
            <a:ext cx="1330909"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Segoe UI"/>
                <a:ea typeface="Microsoft YaHei"/>
                <a:cs typeface="Segoe UI"/>
              </a:rPr>
              <a:t>已经解决了什么</a:t>
            </a:r>
          </a:p>
        </p:txBody>
      </p:sp>
      <p:sp>
        <p:nvSpPr>
          <p:cNvPr id="9" name="TextBox 9"/>
          <p:cNvSpPr txBox="1"/>
          <p:nvPr/>
        </p:nvSpPr>
        <p:spPr>
          <a:xfrm>
            <a:off x="7604760" y="1546860"/>
            <a:ext cx="1330909"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Segoe UI"/>
                <a:ea typeface="Microsoft YaHei"/>
                <a:cs typeface="Segoe UI"/>
              </a:rPr>
              <a:t>留下了什么问题</a:t>
            </a:r>
          </a:p>
        </p:txBody>
      </p:sp>
      <p:sp>
        <p:nvSpPr>
          <p:cNvPr id="10" name="Rectangle 10"/>
          <p:cNvSpPr/>
          <p:nvPr/>
        </p:nvSpPr>
        <p:spPr>
          <a:xfrm>
            <a:off x="685800" y="1866900"/>
            <a:ext cx="10820400" cy="723900"/>
          </a:xfrm>
          <a:prstGeom prst="roundRect">
            <a:avLst>
              <a:gd name="adj" fmla="val 7895"/>
            </a:avLst>
          </a:prstGeom>
          <a:solidFill>
            <a:srgbClr val="F4F7FA"/>
          </a:solidFill>
          <a:ln>
            <a:noFill/>
          </a:ln>
        </p:spPr>
      </p:sp>
      <p:sp>
        <p:nvSpPr>
          <p:cNvPr id="11" name="TextBox 11"/>
          <p:cNvSpPr txBox="1"/>
          <p:nvPr/>
        </p:nvSpPr>
        <p:spPr>
          <a:xfrm>
            <a:off x="936308" y="2034064"/>
            <a:ext cx="1477255" cy="259080"/>
          </a:xfrm>
          <a:prstGeom prst="rect">
            <a:avLst/>
          </a:prstGeom>
          <a:noFill/>
          <a:ln>
            <a:noFill/>
          </a:ln>
        </p:spPr>
        <p:txBody>
          <a:bodyPr wrap="none" lIns="0" tIns="0" rIns="0" bIns="0" anchor="t" anchorCtr="0">
            <a:spAutoFit/>
          </a:bodyPr>
          <a:lstStyle/>
          <a:p>
            <a:pPr algn="l"/>
            <a:r>
              <a:rPr lang="zh-CN" sz="1275" b="1" dirty="0">
                <a:solidFill>
                  <a:srgbClr val="12395E"/>
                </a:solidFill>
                <a:latin typeface="Segoe UI"/>
                <a:ea typeface="Microsoft YaHei"/>
                <a:cs typeface="Segoe UI"/>
              </a:rPr>
              <a:t>一 全球变化争论</a:t>
            </a:r>
          </a:p>
        </p:txBody>
      </p:sp>
      <p:sp>
        <p:nvSpPr>
          <p:cNvPr id="12" name="TextBox 12"/>
          <p:cNvSpPr txBox="1"/>
          <p:nvPr/>
        </p:nvSpPr>
        <p:spPr>
          <a:xfrm>
            <a:off x="939165" y="2286952"/>
            <a:ext cx="1880702"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Dornelas；Blowes；McGill</a:t>
            </a:r>
          </a:p>
        </p:txBody>
      </p:sp>
      <p:sp>
        <p:nvSpPr>
          <p:cNvPr id="13" name="TextBox 13"/>
          <p:cNvSpPr txBox="1"/>
          <p:nvPr/>
        </p:nvSpPr>
        <p:spPr>
          <a:xfrm>
            <a:off x="3413760" y="2156460"/>
            <a:ext cx="300990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确认了组成在变、局域物种数未必减少</a:t>
            </a:r>
          </a:p>
        </p:txBody>
      </p:sp>
      <p:sp>
        <p:nvSpPr>
          <p:cNvPr id="14" name="TextBox 14"/>
          <p:cNvSpPr txBox="1"/>
          <p:nvPr/>
        </p:nvSpPr>
        <p:spPr>
          <a:xfrm>
            <a:off x="7604760" y="2042160"/>
            <a:ext cx="3206191" cy="243840"/>
          </a:xfrm>
          <a:prstGeom prst="rect">
            <a:avLst/>
          </a:prstGeom>
          <a:noFill/>
          <a:ln>
            <a:noFill/>
          </a:ln>
        </p:spPr>
        <p:txBody>
          <a:bodyPr wrap="none" lIns="0" tIns="0" rIns="0" bIns="0" anchor="t" anchorCtr="0">
            <a:spAutoFit/>
          </a:bodyPr>
          <a:lstStyle/>
          <a:p>
            <a:pPr algn="l"/>
            <a:r>
              <a:rPr lang="zh-CN" sz="1200" dirty="0">
                <a:solidFill>
                  <a:srgbClr val="B3611F"/>
                </a:solidFill>
                <a:latin typeface="Segoe UI"/>
                <a:ea typeface="Microsoft YaHei"/>
                <a:cs typeface="Segoe UI"/>
              </a:rPr>
              <a:t>究竟该用哪个维度判断"变好还是变坏"？</a:t>
            </a:r>
          </a:p>
        </p:txBody>
      </p:sp>
      <p:sp>
        <p:nvSpPr>
          <p:cNvPr id="15" name="TextBox 15"/>
          <p:cNvSpPr txBox="1"/>
          <p:nvPr/>
        </p:nvSpPr>
        <p:spPr>
          <a:xfrm>
            <a:off x="7605712" y="2278856"/>
            <a:ext cx="2164556"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大多数争论仍围绕物种数展开</a:t>
            </a:r>
          </a:p>
        </p:txBody>
      </p:sp>
      <p:sp>
        <p:nvSpPr>
          <p:cNvPr id="16" name="Rectangle 16"/>
          <p:cNvSpPr/>
          <p:nvPr/>
        </p:nvSpPr>
        <p:spPr>
          <a:xfrm>
            <a:off x="685800" y="2667000"/>
            <a:ext cx="10820400" cy="723900"/>
          </a:xfrm>
          <a:prstGeom prst="roundRect">
            <a:avLst>
              <a:gd name="adj" fmla="val 7895"/>
            </a:avLst>
          </a:prstGeom>
          <a:solidFill>
            <a:srgbClr val="FFFFFF"/>
          </a:solidFill>
          <a:ln w="9525">
            <a:solidFill>
              <a:srgbClr val="D8DFE7"/>
            </a:solidFill>
          </a:ln>
        </p:spPr>
      </p:sp>
      <p:sp>
        <p:nvSpPr>
          <p:cNvPr id="17" name="TextBox 17"/>
          <p:cNvSpPr txBox="1"/>
          <p:nvPr/>
        </p:nvSpPr>
        <p:spPr>
          <a:xfrm>
            <a:off x="936308" y="2834164"/>
            <a:ext cx="1477255" cy="259080"/>
          </a:xfrm>
          <a:prstGeom prst="rect">
            <a:avLst/>
          </a:prstGeom>
          <a:noFill/>
          <a:ln>
            <a:noFill/>
          </a:ln>
        </p:spPr>
        <p:txBody>
          <a:bodyPr wrap="none" lIns="0" tIns="0" rIns="0" bIns="0" anchor="t" anchorCtr="0">
            <a:spAutoFit/>
          </a:bodyPr>
          <a:lstStyle/>
          <a:p>
            <a:pPr algn="l"/>
            <a:r>
              <a:rPr lang="zh-CN" sz="1275" b="1" dirty="0">
                <a:solidFill>
                  <a:srgbClr val="12395E"/>
                </a:solidFill>
                <a:latin typeface="Segoe UI"/>
                <a:ea typeface="Microsoft YaHei"/>
                <a:cs typeface="Segoe UI"/>
              </a:rPr>
              <a:t>二 公民科学数据</a:t>
            </a:r>
          </a:p>
        </p:txBody>
      </p:sp>
      <p:sp>
        <p:nvSpPr>
          <p:cNvPr id="18" name="TextBox 18"/>
          <p:cNvSpPr txBox="1"/>
          <p:nvPr/>
        </p:nvSpPr>
        <p:spPr>
          <a:xfrm>
            <a:off x="939165" y="3087052"/>
            <a:ext cx="1707413"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Sullivan；Boakes；Bird</a:t>
            </a:r>
          </a:p>
        </p:txBody>
      </p:sp>
      <p:sp>
        <p:nvSpPr>
          <p:cNvPr id="19" name="TextBox 19"/>
          <p:cNvSpPr txBox="1"/>
          <p:nvPr/>
        </p:nvSpPr>
        <p:spPr>
          <a:xfrm>
            <a:off x="3413760" y="2956560"/>
            <a:ext cx="336042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提供了空前的国家尺度覆盖，也识别出偏差</a:t>
            </a:r>
          </a:p>
        </p:txBody>
      </p:sp>
      <p:sp>
        <p:nvSpPr>
          <p:cNvPr id="20" name="TextBox 20"/>
          <p:cNvSpPr txBox="1"/>
          <p:nvPr/>
        </p:nvSpPr>
        <p:spPr>
          <a:xfrm>
            <a:off x="7604760" y="2842260"/>
            <a:ext cx="3009900" cy="243840"/>
          </a:xfrm>
          <a:prstGeom prst="rect">
            <a:avLst/>
          </a:prstGeom>
          <a:noFill/>
          <a:ln>
            <a:noFill/>
          </a:ln>
        </p:spPr>
        <p:txBody>
          <a:bodyPr wrap="none" lIns="0" tIns="0" rIns="0" bIns="0" anchor="t" anchorCtr="0">
            <a:spAutoFit/>
          </a:bodyPr>
          <a:lstStyle/>
          <a:p>
            <a:pPr algn="l"/>
            <a:r>
              <a:rPr lang="zh-CN" sz="1200" dirty="0">
                <a:solidFill>
                  <a:srgbClr val="B3611F"/>
                </a:solidFill>
                <a:latin typeface="Segoe UI"/>
                <a:ea typeface="Microsoft YaHei"/>
                <a:cs typeface="Segoe UI"/>
              </a:rPr>
              <a:t>观测扩张与生态变化在数据上仍难分离</a:t>
            </a:r>
          </a:p>
        </p:txBody>
      </p:sp>
      <p:sp>
        <p:nvSpPr>
          <p:cNvPr id="21" name="TextBox 21"/>
          <p:cNvSpPr txBox="1"/>
          <p:nvPr/>
        </p:nvSpPr>
        <p:spPr>
          <a:xfrm>
            <a:off x="7605712" y="3078956"/>
            <a:ext cx="2000250"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尤其在观测增长最快的区域</a:t>
            </a:r>
          </a:p>
        </p:txBody>
      </p:sp>
      <p:sp>
        <p:nvSpPr>
          <p:cNvPr id="22" name="Rectangle 22"/>
          <p:cNvSpPr/>
          <p:nvPr/>
        </p:nvSpPr>
        <p:spPr>
          <a:xfrm>
            <a:off x="685800" y="3467100"/>
            <a:ext cx="10820400" cy="723900"/>
          </a:xfrm>
          <a:prstGeom prst="roundRect">
            <a:avLst>
              <a:gd name="adj" fmla="val 7895"/>
            </a:avLst>
          </a:prstGeom>
          <a:solidFill>
            <a:srgbClr val="F4F7FA"/>
          </a:solidFill>
          <a:ln>
            <a:noFill/>
          </a:ln>
        </p:spPr>
      </p:sp>
      <p:sp>
        <p:nvSpPr>
          <p:cNvPr id="23" name="TextBox 23"/>
          <p:cNvSpPr txBox="1"/>
          <p:nvPr/>
        </p:nvSpPr>
        <p:spPr>
          <a:xfrm>
            <a:off x="936308" y="3634264"/>
            <a:ext cx="1477255" cy="259080"/>
          </a:xfrm>
          <a:prstGeom prst="rect">
            <a:avLst/>
          </a:prstGeom>
          <a:noFill/>
          <a:ln>
            <a:noFill/>
          </a:ln>
        </p:spPr>
        <p:txBody>
          <a:bodyPr wrap="none" lIns="0" tIns="0" rIns="0" bIns="0" anchor="t" anchorCtr="0">
            <a:spAutoFit/>
          </a:bodyPr>
          <a:lstStyle/>
          <a:p>
            <a:pPr algn="l"/>
            <a:r>
              <a:rPr lang="zh-CN" sz="1275" b="1" dirty="0">
                <a:solidFill>
                  <a:srgbClr val="12395E"/>
                </a:solidFill>
                <a:latin typeface="Segoe UI"/>
                <a:ea typeface="Microsoft YaHei"/>
                <a:cs typeface="Segoe UI"/>
              </a:rPr>
              <a:t>三 占域模型方法</a:t>
            </a:r>
          </a:p>
        </p:txBody>
      </p:sp>
      <p:sp>
        <p:nvSpPr>
          <p:cNvPr id="24" name="TextBox 24"/>
          <p:cNvSpPr txBox="1"/>
          <p:nvPr/>
        </p:nvSpPr>
        <p:spPr>
          <a:xfrm>
            <a:off x="939165" y="3887152"/>
            <a:ext cx="1383840"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MacKenzie；Doser</a:t>
            </a:r>
          </a:p>
        </p:txBody>
      </p:sp>
      <p:sp>
        <p:nvSpPr>
          <p:cNvPr id="25" name="TextBox 25"/>
          <p:cNvSpPr txBox="1"/>
          <p:nvPr/>
        </p:nvSpPr>
        <p:spPr>
          <a:xfrm>
            <a:off x="3413760" y="3756660"/>
            <a:ext cx="318516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能分离占域与检测，并给出后验不确定性</a:t>
            </a:r>
          </a:p>
        </p:txBody>
      </p:sp>
      <p:sp>
        <p:nvSpPr>
          <p:cNvPr id="26" name="TextBox 26"/>
          <p:cNvSpPr txBox="1"/>
          <p:nvPr/>
        </p:nvSpPr>
        <p:spPr>
          <a:xfrm>
            <a:off x="7604760" y="3642360"/>
            <a:ext cx="2484120" cy="243840"/>
          </a:xfrm>
          <a:prstGeom prst="rect">
            <a:avLst/>
          </a:prstGeom>
          <a:noFill/>
          <a:ln>
            <a:noFill/>
          </a:ln>
        </p:spPr>
        <p:txBody>
          <a:bodyPr wrap="none" lIns="0" tIns="0" rIns="0" bIns="0" anchor="t" anchorCtr="0">
            <a:spAutoFit/>
          </a:bodyPr>
          <a:lstStyle/>
          <a:p>
            <a:pPr algn="l"/>
            <a:r>
              <a:rPr lang="zh-CN" sz="1200" dirty="0">
                <a:solidFill>
                  <a:srgbClr val="B3611F"/>
                </a:solidFill>
                <a:latin typeface="Segoe UI"/>
                <a:ea typeface="Microsoft YaHei"/>
                <a:cs typeface="Segoe UI"/>
              </a:rPr>
              <a:t>校正结果绝大多数止步于物种数</a:t>
            </a:r>
          </a:p>
        </p:txBody>
      </p:sp>
      <p:sp>
        <p:nvSpPr>
          <p:cNvPr id="27" name="TextBox 27"/>
          <p:cNvSpPr txBox="1"/>
          <p:nvPr/>
        </p:nvSpPr>
        <p:spPr>
          <a:xfrm>
            <a:off x="7605712" y="3879056"/>
            <a:ext cx="2000250"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后验很少被传播到其他维度</a:t>
            </a:r>
          </a:p>
        </p:txBody>
      </p:sp>
      <p:sp>
        <p:nvSpPr>
          <p:cNvPr id="28" name="Rectangle 28"/>
          <p:cNvSpPr/>
          <p:nvPr/>
        </p:nvSpPr>
        <p:spPr>
          <a:xfrm>
            <a:off x="685800" y="4267200"/>
            <a:ext cx="10820400" cy="723900"/>
          </a:xfrm>
          <a:prstGeom prst="roundRect">
            <a:avLst>
              <a:gd name="adj" fmla="val 7895"/>
            </a:avLst>
          </a:prstGeom>
          <a:solidFill>
            <a:srgbClr val="FFFFFF"/>
          </a:solidFill>
          <a:ln w="9525">
            <a:solidFill>
              <a:srgbClr val="D8DFE7"/>
            </a:solidFill>
          </a:ln>
        </p:spPr>
      </p:sp>
      <p:sp>
        <p:nvSpPr>
          <p:cNvPr id="29" name="TextBox 29"/>
          <p:cNvSpPr txBox="1"/>
          <p:nvPr/>
        </p:nvSpPr>
        <p:spPr>
          <a:xfrm>
            <a:off x="936308" y="4434364"/>
            <a:ext cx="1279868" cy="259080"/>
          </a:xfrm>
          <a:prstGeom prst="rect">
            <a:avLst/>
          </a:prstGeom>
          <a:noFill/>
          <a:ln>
            <a:noFill/>
          </a:ln>
        </p:spPr>
        <p:txBody>
          <a:bodyPr wrap="none" lIns="0" tIns="0" rIns="0" bIns="0" anchor="t" anchorCtr="0">
            <a:spAutoFit/>
          </a:bodyPr>
          <a:lstStyle/>
          <a:p>
            <a:pPr algn="l"/>
            <a:r>
              <a:rPr lang="zh-CN" sz="1275" b="1" dirty="0">
                <a:solidFill>
                  <a:srgbClr val="12395E"/>
                </a:solidFill>
                <a:latin typeface="Segoe UI"/>
                <a:ea typeface="Microsoft YaHei"/>
                <a:cs typeface="Segoe UI"/>
              </a:rPr>
              <a:t>四 生物同质化</a:t>
            </a:r>
          </a:p>
        </p:txBody>
      </p:sp>
      <p:sp>
        <p:nvSpPr>
          <p:cNvPr id="30" name="TextBox 30"/>
          <p:cNvSpPr txBox="1"/>
          <p:nvPr/>
        </p:nvSpPr>
        <p:spPr>
          <a:xfrm>
            <a:off x="939165" y="4687252"/>
            <a:ext cx="2095395"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McKinney；Clavel；Devictor</a:t>
            </a:r>
          </a:p>
        </p:txBody>
      </p:sp>
      <p:sp>
        <p:nvSpPr>
          <p:cNvPr id="31" name="TextBox 31"/>
          <p:cNvSpPr txBox="1"/>
          <p:nvPr/>
        </p:nvSpPr>
        <p:spPr>
          <a:xfrm>
            <a:off x="3413760" y="4556760"/>
            <a:ext cx="248412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指明同质化住在功能与组成维度</a:t>
            </a:r>
          </a:p>
        </p:txBody>
      </p:sp>
      <p:sp>
        <p:nvSpPr>
          <p:cNvPr id="32" name="TextBox 32"/>
          <p:cNvSpPr txBox="1"/>
          <p:nvPr/>
        </p:nvSpPr>
        <p:spPr>
          <a:xfrm>
            <a:off x="7604760" y="4442460"/>
            <a:ext cx="2133600" cy="243840"/>
          </a:xfrm>
          <a:prstGeom prst="rect">
            <a:avLst/>
          </a:prstGeom>
          <a:noFill/>
          <a:ln>
            <a:noFill/>
          </a:ln>
        </p:spPr>
        <p:txBody>
          <a:bodyPr wrap="none" lIns="0" tIns="0" rIns="0" bIns="0" anchor="t" anchorCtr="0">
            <a:spAutoFit/>
          </a:bodyPr>
          <a:lstStyle/>
          <a:p>
            <a:pPr algn="l"/>
            <a:r>
              <a:rPr lang="zh-CN" sz="1200" dirty="0">
                <a:solidFill>
                  <a:srgbClr val="B3611F"/>
                </a:solidFill>
                <a:latin typeface="Segoe UI"/>
                <a:ea typeface="Microsoft YaHei"/>
                <a:cs typeface="Segoe UI"/>
              </a:rPr>
              <a:t>相关证据大多未做检测校正</a:t>
            </a:r>
          </a:p>
        </p:txBody>
      </p:sp>
      <p:sp>
        <p:nvSpPr>
          <p:cNvPr id="33" name="TextBox 33"/>
          <p:cNvSpPr txBox="1"/>
          <p:nvPr/>
        </p:nvSpPr>
        <p:spPr>
          <a:xfrm>
            <a:off x="7605712" y="4679156"/>
            <a:ext cx="1835944"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难以排除观测偏差的干扰</a:t>
            </a:r>
          </a:p>
        </p:txBody>
      </p:sp>
      <p:sp>
        <p:nvSpPr>
          <p:cNvPr id="34" name="Rectangle 34"/>
          <p:cNvSpPr/>
          <p:nvPr/>
        </p:nvSpPr>
        <p:spPr>
          <a:xfrm>
            <a:off x="685800" y="5219700"/>
            <a:ext cx="10820400" cy="1104900"/>
          </a:xfrm>
          <a:prstGeom prst="roundRect">
            <a:avLst>
              <a:gd name="adj" fmla="val 8621"/>
            </a:avLst>
          </a:prstGeom>
          <a:solidFill>
            <a:srgbClr val="FDF4EC"/>
          </a:solidFill>
          <a:ln>
            <a:noFill/>
          </a:ln>
        </p:spPr>
      </p:sp>
      <p:sp>
        <p:nvSpPr>
          <p:cNvPr id="35" name="Rectangle 35"/>
          <p:cNvSpPr/>
          <p:nvPr/>
        </p:nvSpPr>
        <p:spPr>
          <a:xfrm>
            <a:off x="685800" y="5219700"/>
            <a:ext cx="47625" cy="1104900"/>
          </a:xfrm>
          <a:prstGeom prst="roundRect">
            <a:avLst>
              <a:gd name="adj" fmla="val 50000"/>
            </a:avLst>
          </a:prstGeom>
          <a:solidFill>
            <a:srgbClr val="D97A34"/>
          </a:solidFill>
          <a:ln>
            <a:noFill/>
          </a:ln>
        </p:spPr>
      </p:sp>
      <p:sp>
        <p:nvSpPr>
          <p:cNvPr id="36" name="TextBox 36"/>
          <p:cNvSpPr txBox="1"/>
          <p:nvPr/>
        </p:nvSpPr>
        <p:spPr>
          <a:xfrm>
            <a:off x="1052512" y="5460206"/>
            <a:ext cx="2821781" cy="228600"/>
          </a:xfrm>
          <a:prstGeom prst="rect">
            <a:avLst/>
          </a:prstGeom>
          <a:noFill/>
          <a:ln>
            <a:noFill/>
          </a:ln>
        </p:spPr>
        <p:txBody>
          <a:bodyPr wrap="none" lIns="0" tIns="0" rIns="0" bIns="0" anchor="t" anchorCtr="0">
            <a:spAutoFit/>
          </a:bodyPr>
          <a:lstStyle/>
          <a:p>
            <a:pPr algn="l"/>
            <a:r>
              <a:rPr lang="zh-CN" sz="1125" dirty="0">
                <a:solidFill>
                  <a:srgbClr val="B3611F"/>
                </a:solidFill>
                <a:latin typeface="Segoe UI"/>
                <a:ea typeface="Microsoft YaHei"/>
                <a:cs typeface="Segoe UI"/>
              </a:rPr>
              <a:t>四条脉络的交叉处，正是本研究的位置</a:t>
            </a:r>
          </a:p>
        </p:txBody>
      </p:sp>
      <p:sp>
        <p:nvSpPr>
          <p:cNvPr id="37" name="TextBox 37"/>
          <p:cNvSpPr txBox="1"/>
          <p:nvPr/>
        </p:nvSpPr>
        <p:spPr>
          <a:xfrm>
            <a:off x="1045845" y="5746432"/>
            <a:ext cx="5661622" cy="335280"/>
          </a:xfrm>
          <a:prstGeom prst="rect">
            <a:avLst/>
          </a:prstGeom>
          <a:noFill/>
          <a:ln>
            <a:noFill/>
          </a:ln>
        </p:spPr>
        <p:txBody>
          <a:bodyPr wrap="none" lIns="0" tIns="0" rIns="0" bIns="0" anchor="t" anchorCtr="0">
            <a:spAutoFit/>
          </a:bodyPr>
          <a:lstStyle/>
          <a:p>
            <a:pPr algn="l"/>
            <a:r>
              <a:rPr lang="zh-CN" sz="1650" b="1" dirty="0">
                <a:solidFill>
                  <a:srgbClr val="0F2740"/>
                </a:solidFill>
                <a:latin typeface="Segoe UI"/>
                <a:ea typeface="Microsoft YaHei"/>
                <a:cs typeface="Segoe UI"/>
              </a:rPr>
              <a:t>国家尺度上，把检测校正同时传播到分类、功能、</a:t>
            </a:r>
          </a:p>
        </p:txBody>
      </p:sp>
      <p:sp>
        <p:nvSpPr>
          <p:cNvPr id="38" name="TextBox 38"/>
          <p:cNvSpPr txBox="1"/>
          <p:nvPr/>
        </p:nvSpPr>
        <p:spPr>
          <a:xfrm>
            <a:off x="1045845" y="6032182"/>
            <a:ext cx="8185383" cy="335280"/>
          </a:xfrm>
          <a:prstGeom prst="rect">
            <a:avLst/>
          </a:prstGeom>
          <a:noFill/>
          <a:ln>
            <a:noFill/>
          </a:ln>
        </p:spPr>
        <p:txBody>
          <a:bodyPr wrap="none" lIns="0" tIns="0" rIns="0" bIns="0" anchor="t" anchorCtr="0">
            <a:spAutoFit/>
          </a:bodyPr>
          <a:lstStyle/>
          <a:p>
            <a:pPr algn="l"/>
            <a:r>
              <a:rPr lang="zh-CN" sz="1650" b="1" dirty="0">
                <a:solidFill>
                  <a:srgbClr val="0F2740"/>
                </a:solidFill>
                <a:latin typeface="Segoe UI"/>
                <a:ea typeface="Microsoft YaHei"/>
                <a:cs typeface="Segoe UI"/>
              </a:rPr>
              <a:t>系统发育与 beta 维度的研究仍很少，难以判别增长是恢复还是同质化。</a:t>
            </a:r>
          </a:p>
        </p:txBody>
      </p:sp>
      <p:sp>
        <p:nvSpPr>
          <p:cNvPr id="39" name="TextBox 39"/>
          <p:cNvSpPr txBox="1"/>
          <p:nvPr/>
        </p:nvSpPr>
        <p:spPr>
          <a:xfrm>
            <a:off x="11408521" y="6554152"/>
            <a:ext cx="111014"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9</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10112692" y="458152"/>
            <a:ext cx="1406842"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一、背景与科学问题</a:t>
            </a:r>
          </a:p>
        </p:txBody>
      </p:sp>
      <p:sp>
        <p:nvSpPr>
          <p:cNvPr id="4" name="Rectangle 4"/>
          <p:cNvSpPr/>
          <p:nvPr/>
        </p:nvSpPr>
        <p:spPr>
          <a:xfrm>
            <a:off x="685800" y="723900"/>
            <a:ext cx="10820400" cy="1257300"/>
          </a:xfrm>
          <a:prstGeom prst="roundRect">
            <a:avLst>
              <a:gd name="adj" fmla="val 7576"/>
            </a:avLst>
          </a:prstGeom>
          <a:solidFill>
            <a:srgbClr val="12395E"/>
          </a:solidFill>
          <a:ln>
            <a:noFill/>
          </a:ln>
        </p:spPr>
      </p:sp>
      <p:sp>
        <p:nvSpPr>
          <p:cNvPr id="5" name="Rectangle 5"/>
          <p:cNvSpPr/>
          <p:nvPr/>
        </p:nvSpPr>
        <p:spPr>
          <a:xfrm>
            <a:off x="685800" y="723900"/>
            <a:ext cx="47625" cy="1257300"/>
          </a:xfrm>
          <a:prstGeom prst="roundRect">
            <a:avLst>
              <a:gd name="adj" fmla="val 50000"/>
            </a:avLst>
          </a:prstGeom>
          <a:solidFill>
            <a:srgbClr val="D97A34"/>
          </a:solidFill>
          <a:ln>
            <a:noFill/>
          </a:ln>
        </p:spPr>
      </p:sp>
      <p:sp>
        <p:nvSpPr>
          <p:cNvPr id="6" name="TextBox 6"/>
          <p:cNvSpPr txBox="1"/>
          <p:nvPr/>
        </p:nvSpPr>
        <p:spPr>
          <a:xfrm>
            <a:off x="1051560" y="1013460"/>
            <a:ext cx="1082040" cy="243840"/>
          </a:xfrm>
          <a:prstGeom prst="rect">
            <a:avLst/>
          </a:prstGeom>
          <a:noFill/>
          <a:ln>
            <a:noFill/>
          </a:ln>
        </p:spPr>
        <p:txBody>
          <a:bodyPr wrap="none" lIns="0" tIns="0" rIns="0" bIns="0" anchor="t" anchorCtr="0">
            <a:spAutoFit/>
          </a:bodyPr>
          <a:lstStyle/>
          <a:p>
            <a:pPr algn="l"/>
            <a:r>
              <a:rPr lang="zh-CN" sz="1200" dirty="0">
                <a:solidFill>
                  <a:srgbClr val="9FC7EA"/>
                </a:solidFill>
                <a:latin typeface="Segoe UI"/>
                <a:ea typeface="Microsoft YaHei"/>
                <a:cs typeface="Segoe UI"/>
              </a:rPr>
              <a:t>核心科学问题</a:t>
            </a:r>
          </a:p>
        </p:txBody>
      </p:sp>
      <p:sp>
        <p:nvSpPr>
          <p:cNvPr id="7" name="TextBox 7"/>
          <p:cNvSpPr txBox="1"/>
          <p:nvPr/>
        </p:nvSpPr>
        <p:spPr>
          <a:xfrm>
            <a:off x="1038225" y="1319212"/>
            <a:ext cx="10158698"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Segoe UI"/>
                <a:ea typeface="Microsoft YaHei"/>
                <a:cs typeface="Segoe UI"/>
              </a:rPr>
              <a:t>当检测校正后的物种数在全国上升，这是恢复，还是隐性同质化？</a:t>
            </a:r>
          </a:p>
        </p:txBody>
      </p:sp>
      <p:sp>
        <p:nvSpPr>
          <p:cNvPr id="8" name="TextBox 8"/>
          <p:cNvSpPr txBox="1"/>
          <p:nvPr/>
        </p:nvSpPr>
        <p:spPr>
          <a:xfrm>
            <a:off x="1050608" y="1710214"/>
            <a:ext cx="6549866"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群落是获得了功能与组成的独特性，还是积累了冗余的广栖息地泛化种而趋同？</a:t>
            </a:r>
          </a:p>
        </p:txBody>
      </p:sp>
      <p:grpSp>
        <p:nvGrpSpPr>
          <p:cNvPr id="14" name="Group 14"/>
          <p:cNvGrpSpPr/>
          <p:nvPr/>
        </p:nvGrpSpPr>
        <p:grpSpPr>
          <a:xfrm>
            <a:off x="685800" y="2228850"/>
            <a:ext cx="10820400" cy="609600"/>
            <a:chOff x="685800" y="2228850"/>
            <a:chExt cx="10820400" cy="609600"/>
          </a:xfrm>
        </p:grpSpPr>
        <p:sp>
          <p:nvSpPr>
            <p:cNvPr id="9" name="Rectangle 9"/>
            <p:cNvSpPr/>
            <p:nvPr/>
          </p:nvSpPr>
          <p:spPr>
            <a:xfrm>
              <a:off x="685800" y="2228850"/>
              <a:ext cx="10820400" cy="590550"/>
            </a:xfrm>
            <a:prstGeom prst="roundRect">
              <a:avLst>
                <a:gd name="adj" fmla="val 12903"/>
              </a:avLst>
            </a:prstGeom>
            <a:solidFill>
              <a:srgbClr val="F4F7FA"/>
            </a:solidFill>
            <a:ln>
              <a:noFill/>
            </a:ln>
          </p:spPr>
        </p:sp>
        <p:sp>
          <p:nvSpPr>
            <p:cNvPr id="10" name="Rectangle 10"/>
            <p:cNvSpPr/>
            <p:nvPr/>
          </p:nvSpPr>
          <p:spPr>
            <a:xfrm>
              <a:off x="685800" y="2228850"/>
              <a:ext cx="590550" cy="590550"/>
            </a:xfrm>
            <a:prstGeom prst="roundRect">
              <a:avLst>
                <a:gd name="adj" fmla="val 12903"/>
              </a:avLst>
            </a:prstGeom>
            <a:solidFill>
              <a:srgbClr val="2E75B6"/>
            </a:solidFill>
            <a:ln>
              <a:noFill/>
            </a:ln>
          </p:spPr>
        </p:sp>
        <p:sp>
          <p:nvSpPr>
            <p:cNvPr id="11" name="TextBox 11"/>
            <p:cNvSpPr txBox="1"/>
            <p:nvPr/>
          </p:nvSpPr>
          <p:spPr>
            <a:xfrm>
              <a:off x="825747" y="2430304"/>
              <a:ext cx="310657"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Segoe UI"/>
                  <a:ea typeface="Microsoft YaHei"/>
                  <a:cs typeface="Segoe UI"/>
                </a:rPr>
                <a:t>H1</a:t>
              </a:r>
            </a:p>
          </p:txBody>
        </p:sp>
        <p:sp>
          <p:nvSpPr>
            <p:cNvPr id="12" name="TextBox 12"/>
            <p:cNvSpPr txBox="1"/>
            <p:nvPr/>
          </p:nvSpPr>
          <p:spPr>
            <a:xfrm>
              <a:off x="1467802" y="2341721"/>
              <a:ext cx="2904106"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检测校正后的分类多样性上升</a:t>
              </a:r>
            </a:p>
          </p:txBody>
        </p:sp>
        <p:sp>
          <p:nvSpPr>
            <p:cNvPr id="13" name="TextBox 13"/>
            <p:cNvSpPr txBox="1"/>
            <p:nvPr/>
          </p:nvSpPr>
          <p:spPr>
            <a:xfrm>
              <a:off x="1470660" y="2594610"/>
              <a:ext cx="5260238"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校正后物种数、Shannon、inverse Simpson 在全国尺度呈上升趋势</a:t>
              </a:r>
            </a:p>
          </p:txBody>
        </p:sp>
      </p:grpSp>
      <p:grpSp>
        <p:nvGrpSpPr>
          <p:cNvPr id="21" name="Group 21"/>
          <p:cNvGrpSpPr/>
          <p:nvPr/>
        </p:nvGrpSpPr>
        <p:grpSpPr>
          <a:xfrm>
            <a:off x="685800" y="2914650"/>
            <a:ext cx="10820400" cy="876300"/>
            <a:chOff x="685800" y="2914650"/>
            <a:chExt cx="10820400" cy="876300"/>
          </a:xfrm>
        </p:grpSpPr>
        <p:sp>
          <p:nvSpPr>
            <p:cNvPr id="15" name="Rectangle 15"/>
            <p:cNvSpPr/>
            <p:nvPr/>
          </p:nvSpPr>
          <p:spPr>
            <a:xfrm>
              <a:off x="685800" y="2914650"/>
              <a:ext cx="10820400" cy="819150"/>
            </a:xfrm>
            <a:prstGeom prst="roundRect">
              <a:avLst>
                <a:gd name="adj" fmla="val 9302"/>
              </a:avLst>
            </a:prstGeom>
            <a:solidFill>
              <a:srgbClr val="FDF4EC"/>
            </a:solidFill>
            <a:ln>
              <a:noFill/>
            </a:ln>
          </p:spPr>
        </p:sp>
        <p:sp>
          <p:nvSpPr>
            <p:cNvPr id="16" name="Rectangle 16"/>
            <p:cNvSpPr/>
            <p:nvPr/>
          </p:nvSpPr>
          <p:spPr>
            <a:xfrm>
              <a:off x="685800" y="2914650"/>
              <a:ext cx="590550" cy="819150"/>
            </a:xfrm>
            <a:prstGeom prst="roundRect">
              <a:avLst>
                <a:gd name="adj" fmla="val 12903"/>
              </a:avLst>
            </a:prstGeom>
            <a:solidFill>
              <a:srgbClr val="D97A34"/>
            </a:solidFill>
            <a:ln>
              <a:noFill/>
            </a:ln>
          </p:spPr>
        </p:sp>
        <p:sp>
          <p:nvSpPr>
            <p:cNvPr id="17" name="TextBox 17"/>
            <p:cNvSpPr txBox="1"/>
            <p:nvPr/>
          </p:nvSpPr>
          <p:spPr>
            <a:xfrm>
              <a:off x="825747" y="3230404"/>
              <a:ext cx="310657"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Segoe UI"/>
                  <a:ea typeface="Microsoft YaHei"/>
                  <a:cs typeface="Segoe UI"/>
                </a:rPr>
                <a:t>H2</a:t>
              </a:r>
            </a:p>
          </p:txBody>
        </p:sp>
        <p:sp>
          <p:nvSpPr>
            <p:cNvPr id="18" name="TextBox 18"/>
            <p:cNvSpPr txBox="1"/>
            <p:nvPr/>
          </p:nvSpPr>
          <p:spPr>
            <a:xfrm>
              <a:off x="1467802" y="3046571"/>
              <a:ext cx="2630551" cy="289560"/>
            </a:xfrm>
            <a:prstGeom prst="rect">
              <a:avLst/>
            </a:prstGeom>
            <a:noFill/>
            <a:ln>
              <a:noFill/>
            </a:ln>
          </p:spPr>
          <p:txBody>
            <a:bodyPr wrap="none" lIns="0" tIns="0" rIns="0" bIns="0" anchor="t" anchorCtr="0">
              <a:spAutoFit/>
            </a:bodyPr>
            <a:lstStyle/>
            <a:p>
              <a:pPr algn="l"/>
              <a:r>
                <a:rPr lang="zh-CN" sz="1425" b="1" dirty="0">
                  <a:solidFill>
                    <a:srgbClr val="B3611F"/>
                  </a:solidFill>
                  <a:latin typeface="Segoe UI"/>
                  <a:ea typeface="Microsoft YaHei"/>
                  <a:cs typeface="Segoe UI"/>
                </a:rPr>
                <a:t>对立假设：恢复 vs 同质化</a:t>
              </a:r>
            </a:p>
          </p:txBody>
        </p:sp>
        <p:sp>
          <p:nvSpPr>
            <p:cNvPr id="19" name="TextBox 19"/>
            <p:cNvSpPr txBox="1"/>
            <p:nvPr/>
          </p:nvSpPr>
          <p:spPr>
            <a:xfrm>
              <a:off x="1470660" y="3318510"/>
              <a:ext cx="441198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恢复假设——功能与系统发育多样性随物种数同步上升；</a:t>
              </a:r>
            </a:p>
          </p:txBody>
        </p:sp>
        <p:sp>
          <p:nvSpPr>
            <p:cNvPr id="20" name="TextBox 20"/>
            <p:cNvSpPr txBox="1"/>
            <p:nvPr/>
          </p:nvSpPr>
          <p:spPr>
            <a:xfrm>
              <a:off x="1470660" y="3547110"/>
              <a:ext cx="4937760"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同质化假设——功能维度停滞或下降。本研究检验哪一个成立。</a:t>
              </a:r>
            </a:p>
          </p:txBody>
        </p:sp>
      </p:grpSp>
      <p:grpSp>
        <p:nvGrpSpPr>
          <p:cNvPr id="27" name="Group 27"/>
          <p:cNvGrpSpPr/>
          <p:nvPr/>
        </p:nvGrpSpPr>
        <p:grpSpPr>
          <a:xfrm>
            <a:off x="685800" y="3829050"/>
            <a:ext cx="10820400" cy="609600"/>
            <a:chOff x="685800" y="3829050"/>
            <a:chExt cx="10820400" cy="609600"/>
          </a:xfrm>
        </p:grpSpPr>
        <p:sp>
          <p:nvSpPr>
            <p:cNvPr id="22" name="Rectangle 22"/>
            <p:cNvSpPr/>
            <p:nvPr/>
          </p:nvSpPr>
          <p:spPr>
            <a:xfrm>
              <a:off x="685800" y="3829050"/>
              <a:ext cx="10820400" cy="590550"/>
            </a:xfrm>
            <a:prstGeom prst="roundRect">
              <a:avLst>
                <a:gd name="adj" fmla="val 12903"/>
              </a:avLst>
            </a:prstGeom>
            <a:solidFill>
              <a:srgbClr val="F4F7FA"/>
            </a:solidFill>
            <a:ln>
              <a:noFill/>
            </a:ln>
          </p:spPr>
        </p:sp>
        <p:sp>
          <p:nvSpPr>
            <p:cNvPr id="23" name="Rectangle 23"/>
            <p:cNvSpPr/>
            <p:nvPr/>
          </p:nvSpPr>
          <p:spPr>
            <a:xfrm>
              <a:off x="685800" y="3829050"/>
              <a:ext cx="590550" cy="590550"/>
            </a:xfrm>
            <a:prstGeom prst="roundRect">
              <a:avLst>
                <a:gd name="adj" fmla="val 12903"/>
              </a:avLst>
            </a:prstGeom>
            <a:solidFill>
              <a:srgbClr val="2E75B6"/>
            </a:solidFill>
            <a:ln>
              <a:noFill/>
            </a:ln>
          </p:spPr>
        </p:sp>
        <p:sp>
          <p:nvSpPr>
            <p:cNvPr id="24" name="TextBox 24"/>
            <p:cNvSpPr txBox="1"/>
            <p:nvPr/>
          </p:nvSpPr>
          <p:spPr>
            <a:xfrm>
              <a:off x="825747" y="4030504"/>
              <a:ext cx="310657"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Segoe UI"/>
                  <a:ea typeface="Microsoft YaHei"/>
                  <a:cs typeface="Segoe UI"/>
                </a:rPr>
                <a:t>H3</a:t>
              </a:r>
            </a:p>
          </p:txBody>
        </p:sp>
        <p:sp>
          <p:nvSpPr>
            <p:cNvPr id="25" name="TextBox 25"/>
            <p:cNvSpPr txBox="1"/>
            <p:nvPr/>
          </p:nvSpPr>
          <p:spPr>
            <a:xfrm>
              <a:off x="1467802" y="3941921"/>
              <a:ext cx="3565931"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晚期群落变化以嵌套而非替换为主导</a:t>
              </a:r>
            </a:p>
          </p:txBody>
        </p:sp>
        <p:sp>
          <p:nvSpPr>
            <p:cNvPr id="26" name="TextBox 26"/>
            <p:cNvSpPr txBox="1"/>
            <p:nvPr/>
          </p:nvSpPr>
          <p:spPr>
            <a:xfrm>
              <a:off x="1470660" y="4194810"/>
              <a:ext cx="5856122"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时间 beta 多样性从 turnover 主导转向 nestedness 主导，且格点间趋同</a:t>
              </a:r>
            </a:p>
          </p:txBody>
        </p:sp>
      </p:grpSp>
      <p:grpSp>
        <p:nvGrpSpPr>
          <p:cNvPr id="33" name="Group 33"/>
          <p:cNvGrpSpPr/>
          <p:nvPr/>
        </p:nvGrpSpPr>
        <p:grpSpPr>
          <a:xfrm>
            <a:off x="685800" y="4514850"/>
            <a:ext cx="10820400" cy="609600"/>
            <a:chOff x="685800" y="4514850"/>
            <a:chExt cx="10820400" cy="609600"/>
          </a:xfrm>
        </p:grpSpPr>
        <p:sp>
          <p:nvSpPr>
            <p:cNvPr id="28" name="Rectangle 28"/>
            <p:cNvSpPr/>
            <p:nvPr/>
          </p:nvSpPr>
          <p:spPr>
            <a:xfrm>
              <a:off x="685800" y="4514850"/>
              <a:ext cx="10820400" cy="590550"/>
            </a:xfrm>
            <a:prstGeom prst="roundRect">
              <a:avLst>
                <a:gd name="adj" fmla="val 12903"/>
              </a:avLst>
            </a:prstGeom>
            <a:solidFill>
              <a:srgbClr val="F4F7FA"/>
            </a:solidFill>
            <a:ln>
              <a:noFill/>
            </a:ln>
          </p:spPr>
        </p:sp>
        <p:sp>
          <p:nvSpPr>
            <p:cNvPr id="29" name="Rectangle 29"/>
            <p:cNvSpPr/>
            <p:nvPr/>
          </p:nvSpPr>
          <p:spPr>
            <a:xfrm>
              <a:off x="685800" y="4514850"/>
              <a:ext cx="590550" cy="590550"/>
            </a:xfrm>
            <a:prstGeom prst="roundRect">
              <a:avLst>
                <a:gd name="adj" fmla="val 12903"/>
              </a:avLst>
            </a:prstGeom>
            <a:solidFill>
              <a:srgbClr val="2E75B6"/>
            </a:solidFill>
            <a:ln>
              <a:noFill/>
            </a:ln>
          </p:spPr>
        </p:sp>
        <p:sp>
          <p:nvSpPr>
            <p:cNvPr id="30" name="TextBox 30"/>
            <p:cNvSpPr txBox="1"/>
            <p:nvPr/>
          </p:nvSpPr>
          <p:spPr>
            <a:xfrm>
              <a:off x="825747" y="4716304"/>
              <a:ext cx="310657"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Segoe UI"/>
                  <a:ea typeface="Microsoft YaHei"/>
                  <a:cs typeface="Segoe UI"/>
                </a:rPr>
                <a:t>H4</a:t>
              </a:r>
            </a:p>
          </p:txBody>
        </p:sp>
        <p:sp>
          <p:nvSpPr>
            <p:cNvPr id="31" name="TextBox 31"/>
            <p:cNvSpPr txBox="1"/>
            <p:nvPr/>
          </p:nvSpPr>
          <p:spPr>
            <a:xfrm>
              <a:off x="1467802" y="4627721"/>
              <a:ext cx="3786540"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广栖息地、泛化性状预测哪些物种扩张</a:t>
              </a:r>
            </a:p>
          </p:txBody>
        </p:sp>
        <p:sp>
          <p:nvSpPr>
            <p:cNvPr id="32" name="TextBox 32"/>
            <p:cNvSpPr txBox="1"/>
            <p:nvPr/>
          </p:nvSpPr>
          <p:spPr>
            <a:xfrm>
              <a:off x="1470660" y="4880610"/>
              <a:ext cx="406146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栖息地宽度与占域趋势正相关，食性特化与之负相关</a:t>
              </a:r>
            </a:p>
          </p:txBody>
        </p:sp>
      </p:grpSp>
      <p:grpSp>
        <p:nvGrpSpPr>
          <p:cNvPr id="39" name="Group 39"/>
          <p:cNvGrpSpPr/>
          <p:nvPr/>
        </p:nvGrpSpPr>
        <p:grpSpPr>
          <a:xfrm>
            <a:off x="685800" y="5200650"/>
            <a:ext cx="10820400" cy="609600"/>
            <a:chOff x="685800" y="5200650"/>
            <a:chExt cx="10820400" cy="609600"/>
          </a:xfrm>
        </p:grpSpPr>
        <p:sp>
          <p:nvSpPr>
            <p:cNvPr id="34" name="Rectangle 34"/>
            <p:cNvSpPr/>
            <p:nvPr/>
          </p:nvSpPr>
          <p:spPr>
            <a:xfrm>
              <a:off x="685800" y="5200650"/>
              <a:ext cx="10820400" cy="590550"/>
            </a:xfrm>
            <a:prstGeom prst="roundRect">
              <a:avLst>
                <a:gd name="adj" fmla="val 12903"/>
              </a:avLst>
            </a:prstGeom>
            <a:solidFill>
              <a:srgbClr val="F4F7FA"/>
            </a:solidFill>
            <a:ln>
              <a:noFill/>
            </a:ln>
          </p:spPr>
        </p:sp>
        <p:sp>
          <p:nvSpPr>
            <p:cNvPr id="35" name="Rectangle 35"/>
            <p:cNvSpPr/>
            <p:nvPr/>
          </p:nvSpPr>
          <p:spPr>
            <a:xfrm>
              <a:off x="685800" y="5200650"/>
              <a:ext cx="590550" cy="590550"/>
            </a:xfrm>
            <a:prstGeom prst="roundRect">
              <a:avLst>
                <a:gd name="adj" fmla="val 12903"/>
              </a:avLst>
            </a:prstGeom>
            <a:solidFill>
              <a:srgbClr val="2E75B6"/>
            </a:solidFill>
            <a:ln>
              <a:noFill/>
            </a:ln>
          </p:spPr>
        </p:sp>
        <p:sp>
          <p:nvSpPr>
            <p:cNvPr id="36" name="TextBox 36"/>
            <p:cNvSpPr txBox="1"/>
            <p:nvPr/>
          </p:nvSpPr>
          <p:spPr>
            <a:xfrm>
              <a:off x="825747" y="5402104"/>
              <a:ext cx="310657"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Segoe UI"/>
                  <a:ea typeface="Microsoft YaHei"/>
                  <a:cs typeface="Segoe UI"/>
                </a:rPr>
                <a:t>H5</a:t>
              </a:r>
            </a:p>
          </p:txBody>
        </p:sp>
        <p:sp>
          <p:nvSpPr>
            <p:cNvPr id="37" name="TextBox 37"/>
            <p:cNvSpPr txBox="1"/>
            <p:nvPr/>
          </p:nvSpPr>
          <p:spPr>
            <a:xfrm>
              <a:off x="1467802" y="5313521"/>
              <a:ext cx="5110191"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检测校正实质改变生态推断，且结论稳健于观测扩张</a:t>
              </a:r>
            </a:p>
          </p:txBody>
        </p:sp>
        <p:sp>
          <p:nvSpPr>
            <p:cNvPr id="38" name="TextBox 38"/>
            <p:cNvSpPr txBox="1"/>
            <p:nvPr/>
          </p:nvSpPr>
          <p:spPr>
            <a:xfrm>
              <a:off x="1470660" y="5566410"/>
              <a:ext cx="476250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校正改变趋势幅度与部分方向；扩张信号可经受努力混淆检验</a:t>
              </a:r>
            </a:p>
          </p:txBody>
        </p:sp>
      </p:grpSp>
      <p:sp>
        <p:nvSpPr>
          <p:cNvPr id="40" name="TextBox 40"/>
          <p:cNvSpPr txBox="1"/>
          <p:nvPr/>
        </p:nvSpPr>
        <p:spPr>
          <a:xfrm>
            <a:off x="672465" y="6116002"/>
            <a:ext cx="3975497"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来源：GCB 稿件 v6 引言末段；研究计划书目标与假设章节</a:t>
            </a:r>
          </a:p>
        </p:txBody>
      </p:sp>
      <p:sp>
        <p:nvSpPr>
          <p:cNvPr id="41" name="TextBox 41"/>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10</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12395E"/>
          </a:solidFill>
          <a:ln>
            <a:noFill/>
          </a:ln>
        </p:spPr>
      </p:sp>
      <p:sp>
        <p:nvSpPr>
          <p:cNvPr id="3" name="Rectangle 3"/>
          <p:cNvSpPr/>
          <p:nvPr/>
        </p:nvSpPr>
        <p:spPr>
          <a:xfrm>
            <a:off x="0" y="0"/>
            <a:ext cx="12192000" cy="6858000"/>
          </a:xfrm>
          <a:prstGeom prst="rect">
            <a:avLst/>
          </a:prstGeom>
          <a:solidFill>
            <a:srgbClr val="0F2740">
              <a:alpha val="25000"/>
            </a:srgbClr>
          </a:solidFill>
          <a:ln>
            <a:noFill/>
          </a:ln>
        </p:spPr>
      </p:sp>
      <p:grpSp>
        <p:nvGrpSpPr>
          <p:cNvPr id="12" name="Group 12"/>
          <p:cNvGrpSpPr/>
          <p:nvPr/>
        </p:nvGrpSpPr>
        <p:grpSpPr>
          <a:xfrm>
            <a:off x="9144000" y="2228850"/>
            <a:ext cx="2286000" cy="1828800"/>
            <a:chOff x="9144000" y="2228850"/>
            <a:chExt cx="2286000" cy="1828800"/>
          </a:xfrm>
        </p:grpSpPr>
        <p:sp>
          <p:nvSpPr>
            <p:cNvPr id="4" name="Rectangle 4"/>
            <p:cNvSpPr/>
            <p:nvPr/>
          </p:nvSpPr>
          <p:spPr>
            <a:xfrm>
              <a:off x="9144000" y="2286000"/>
              <a:ext cx="2286000" cy="14288"/>
            </a:xfrm>
            <a:prstGeom prst="rect">
              <a:avLst/>
            </a:prstGeom>
            <a:solidFill>
              <a:srgbClr val="9FC7EA">
                <a:alpha val="18000"/>
              </a:srgbClr>
            </a:solidFill>
            <a:ln>
              <a:noFill/>
            </a:ln>
          </p:spPr>
        </p:sp>
        <p:sp>
          <p:nvSpPr>
            <p:cNvPr id="5" name="Rectangle 5"/>
            <p:cNvSpPr/>
            <p:nvPr/>
          </p:nvSpPr>
          <p:spPr>
            <a:xfrm>
              <a:off x="9144000" y="2857500"/>
              <a:ext cx="2286000" cy="14288"/>
            </a:xfrm>
            <a:prstGeom prst="rect">
              <a:avLst/>
            </a:prstGeom>
            <a:solidFill>
              <a:srgbClr val="9FC7EA">
                <a:alpha val="18000"/>
              </a:srgbClr>
            </a:solidFill>
            <a:ln>
              <a:noFill/>
            </a:ln>
          </p:spPr>
        </p:sp>
        <p:sp>
          <p:nvSpPr>
            <p:cNvPr id="6" name="Rectangle 6"/>
            <p:cNvSpPr/>
            <p:nvPr/>
          </p:nvSpPr>
          <p:spPr>
            <a:xfrm>
              <a:off x="9144000" y="3429000"/>
              <a:ext cx="2286000" cy="14288"/>
            </a:xfrm>
            <a:prstGeom prst="rect">
              <a:avLst/>
            </a:prstGeom>
            <a:solidFill>
              <a:srgbClr val="D97A34">
                <a:alpha val="18000"/>
              </a:srgbClr>
            </a:solidFill>
            <a:ln>
              <a:noFill/>
            </a:ln>
          </p:spPr>
        </p:sp>
        <p:sp>
          <p:nvSpPr>
            <p:cNvPr id="7" name="Rectangle 7"/>
            <p:cNvSpPr/>
            <p:nvPr/>
          </p:nvSpPr>
          <p:spPr>
            <a:xfrm>
              <a:off x="9144000" y="4000500"/>
              <a:ext cx="2286000" cy="14288"/>
            </a:xfrm>
            <a:prstGeom prst="rect">
              <a:avLst/>
            </a:prstGeom>
            <a:solidFill>
              <a:srgbClr val="9FC7EA">
                <a:alpha val="18000"/>
              </a:srgbClr>
            </a:solidFill>
            <a:ln>
              <a:noFill/>
            </a:ln>
          </p:spPr>
        </p:sp>
        <p:sp>
          <p:nvSpPr>
            <p:cNvPr id="8" name="Ellipse 8"/>
            <p:cNvSpPr/>
            <p:nvPr/>
          </p:nvSpPr>
          <p:spPr>
            <a:xfrm>
              <a:off x="9658350" y="2228850"/>
              <a:ext cx="114300" cy="114300"/>
            </a:xfrm>
            <a:prstGeom prst="ellipse">
              <a:avLst/>
            </a:prstGeom>
            <a:solidFill>
              <a:srgbClr val="9FC7EA">
                <a:alpha val="18000"/>
              </a:srgbClr>
            </a:solidFill>
            <a:ln>
              <a:noFill/>
            </a:ln>
          </p:spPr>
        </p:sp>
        <p:sp>
          <p:nvSpPr>
            <p:cNvPr id="9" name="Ellipse 9"/>
            <p:cNvSpPr/>
            <p:nvPr/>
          </p:nvSpPr>
          <p:spPr>
            <a:xfrm>
              <a:off x="10420350" y="2800350"/>
              <a:ext cx="114300" cy="114300"/>
            </a:xfrm>
            <a:prstGeom prst="ellipse">
              <a:avLst/>
            </a:prstGeom>
            <a:solidFill>
              <a:srgbClr val="9FC7EA">
                <a:alpha val="18000"/>
              </a:srgbClr>
            </a:solidFill>
            <a:ln>
              <a:noFill/>
            </a:ln>
          </p:spPr>
        </p:sp>
        <p:sp>
          <p:nvSpPr>
            <p:cNvPr id="10" name="Ellipse 10"/>
            <p:cNvSpPr/>
            <p:nvPr/>
          </p:nvSpPr>
          <p:spPr>
            <a:xfrm>
              <a:off x="10991850" y="3371850"/>
              <a:ext cx="114300" cy="114300"/>
            </a:xfrm>
            <a:prstGeom prst="ellipse">
              <a:avLst/>
            </a:prstGeom>
            <a:solidFill>
              <a:srgbClr val="D97A34">
                <a:alpha val="18000"/>
              </a:srgbClr>
            </a:solidFill>
            <a:ln>
              <a:noFill/>
            </a:ln>
          </p:spPr>
        </p:sp>
        <p:sp>
          <p:nvSpPr>
            <p:cNvPr id="11" name="Ellipse 11"/>
            <p:cNvSpPr/>
            <p:nvPr/>
          </p:nvSpPr>
          <p:spPr>
            <a:xfrm>
              <a:off x="10039350" y="3943350"/>
              <a:ext cx="114300" cy="114300"/>
            </a:xfrm>
            <a:prstGeom prst="ellipse">
              <a:avLst/>
            </a:prstGeom>
            <a:solidFill>
              <a:srgbClr val="9FC7EA">
                <a:alpha val="18000"/>
              </a:srgbClr>
            </a:solidFill>
            <a:ln>
              <a:noFill/>
            </a:ln>
          </p:spPr>
        </p:sp>
      </p:grpSp>
      <p:sp>
        <p:nvSpPr>
          <p:cNvPr id="13" name="TextBox 13"/>
          <p:cNvSpPr txBox="1"/>
          <p:nvPr/>
        </p:nvSpPr>
        <p:spPr>
          <a:xfrm>
            <a:off x="571500" y="2076450"/>
            <a:ext cx="1761249" cy="1828800"/>
          </a:xfrm>
          <a:prstGeom prst="rect">
            <a:avLst/>
          </a:prstGeom>
          <a:noFill/>
          <a:ln>
            <a:noFill/>
          </a:ln>
        </p:spPr>
        <p:txBody>
          <a:bodyPr wrap="none" lIns="0" tIns="0" rIns="0" bIns="0" anchor="t" anchorCtr="0">
            <a:spAutoFit/>
          </a:bodyPr>
          <a:lstStyle/>
          <a:p>
            <a:pPr algn="l"/>
            <a:r>
              <a:rPr lang="zh-CN" sz="9000" b="1" dirty="0">
                <a:solidFill>
                  <a:srgbClr val="1E4E7A"/>
                </a:solidFill>
                <a:latin typeface="Segoe UI"/>
                <a:ea typeface="Microsoft YaHei"/>
                <a:cs typeface="Segoe UI"/>
              </a:rPr>
              <a:t>02</a:t>
            </a:r>
          </a:p>
        </p:txBody>
      </p:sp>
      <p:sp>
        <p:nvSpPr>
          <p:cNvPr id="14" name="Rectangle 14"/>
          <p:cNvSpPr/>
          <p:nvPr/>
        </p:nvSpPr>
        <p:spPr>
          <a:xfrm>
            <a:off x="685800" y="3390900"/>
            <a:ext cx="723900" cy="57150"/>
          </a:xfrm>
          <a:prstGeom prst="roundRect">
            <a:avLst>
              <a:gd name="adj" fmla="val 50000"/>
            </a:avLst>
          </a:prstGeom>
          <a:solidFill>
            <a:srgbClr val="D97A34"/>
          </a:solidFill>
          <a:ln>
            <a:noFill/>
          </a:ln>
        </p:spPr>
      </p:sp>
      <p:sp>
        <p:nvSpPr>
          <p:cNvPr id="15" name="TextBox 15"/>
          <p:cNvSpPr txBox="1"/>
          <p:nvPr/>
        </p:nvSpPr>
        <p:spPr>
          <a:xfrm>
            <a:off x="641985" y="3723322"/>
            <a:ext cx="2758154" cy="701040"/>
          </a:xfrm>
          <a:prstGeom prst="rect">
            <a:avLst/>
          </a:prstGeom>
          <a:noFill/>
          <a:ln>
            <a:noFill/>
          </a:ln>
        </p:spPr>
        <p:txBody>
          <a:bodyPr wrap="none" lIns="0" tIns="0" rIns="0" bIns="0" anchor="t" anchorCtr="0">
            <a:spAutoFit/>
          </a:bodyPr>
          <a:lstStyle/>
          <a:p>
            <a:pPr algn="l"/>
            <a:r>
              <a:rPr lang="zh-CN" sz="3450" b="1" dirty="0">
                <a:solidFill>
                  <a:srgbClr val="FFFFFF"/>
                </a:solidFill>
                <a:latin typeface="Segoe UI"/>
                <a:ea typeface="Microsoft YaHei"/>
                <a:cs typeface="Segoe UI"/>
              </a:rPr>
              <a:t>数据与方法</a:t>
            </a:r>
          </a:p>
        </p:txBody>
      </p:sp>
      <p:sp>
        <p:nvSpPr>
          <p:cNvPr id="16" name="TextBox 16"/>
          <p:cNvSpPr txBox="1"/>
          <p:nvPr/>
        </p:nvSpPr>
        <p:spPr>
          <a:xfrm>
            <a:off x="666750" y="4467225"/>
            <a:ext cx="7705725" cy="304800"/>
          </a:xfrm>
          <a:prstGeom prst="rect">
            <a:avLst/>
          </a:prstGeom>
          <a:noFill/>
          <a:ln>
            <a:noFill/>
          </a:ln>
        </p:spPr>
        <p:txBody>
          <a:bodyPr wrap="none" lIns="0" tIns="0" rIns="0" bIns="0" anchor="t" anchorCtr="0">
            <a:spAutoFit/>
          </a:bodyPr>
          <a:lstStyle/>
          <a:p>
            <a:pPr algn="l"/>
            <a:r>
              <a:rPr lang="zh-CN" sz="1500" dirty="0">
                <a:solidFill>
                  <a:srgbClr val="9FC7EA"/>
                </a:solidFill>
                <a:latin typeface="Segoe UI"/>
                <a:ea typeface="Microsoft YaHei"/>
                <a:cs typeface="Segoe UI"/>
              </a:rPr>
              <a:t>用空间多物种动态占域模型分离潜在占域与检测概率，并把后验传播到多个维度</a:t>
            </a:r>
          </a:p>
        </p:txBody>
      </p:sp>
      <p:sp>
        <p:nvSpPr>
          <p:cNvPr id="17" name="TextBox 17"/>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6E8CA8"/>
                </a:solidFill>
                <a:latin typeface="Segoe UI"/>
                <a:ea typeface="Microsoft YaHei"/>
                <a:cs typeface="Segoe UI"/>
              </a:rPr>
              <a:t>11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400"/>
                                        <p:tgtEl>
                                          <p:spTgt spid="3"/>
                                        </p:tgtEl>
                                      </p:cBhvr>
                                    </p:animEffect>
                                  </p:childTnLst>
                                </p:cTn>
                              </p:par>
                            </p:childTnLst>
                          </p:cTn>
                        </p:par>
                        <p:par>
                          <p:cTn id="12" fill="hold">
                            <p:stCondLst>
                              <p:cond delay="1800"/>
                            </p:stCondLst>
                            <p:childTnLst>
                              <p:par>
                                <p:cTn id="13" presetID="18" presetClass="entr" presetSubtype="12"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strips(downRight)">
                                      <p:cBhvr>
                                        <p:cTn id="15" dur="400"/>
                                        <p:tgtEl>
                                          <p:spTgt spid="12"/>
                                        </p:tgtEl>
                                      </p:cBhvr>
                                    </p:animEffect>
                                  </p:childTnLst>
                                </p:cTn>
                              </p:par>
                            </p:childTnLst>
                          </p:cTn>
                        </p:par>
                        <p:par>
                          <p:cTn id="16" fill="hold">
                            <p:stCondLst>
                              <p:cond delay="2700"/>
                            </p:stCondLst>
                            <p:childTnLst>
                              <p:par>
                                <p:cTn id="17" presetID="20"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edge">
                                      <p:cBhvr>
                                        <p:cTn id="19" dur="400"/>
                                        <p:tgtEl>
                                          <p:spTgt spid="13"/>
                                        </p:tgtEl>
                                      </p:cBhvr>
                                    </p:animEffect>
                                  </p:childTnLst>
                                </p:cTn>
                              </p:par>
                            </p:childTnLst>
                          </p:cTn>
                        </p:par>
                        <p:par>
                          <p:cTn id="20" fill="hold">
                            <p:stCondLst>
                              <p:cond delay="3600"/>
                            </p:stCondLst>
                            <p:childTnLst>
                              <p:par>
                                <p:cTn id="21" presetID="21" presetClass="entr" presetSubtype="0"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heel(4)">
                                      <p:cBhvr>
                                        <p:cTn id="23" dur="400"/>
                                        <p:tgtEl>
                                          <p:spTgt spid="14"/>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400"/>
                                        <p:tgtEl>
                                          <p:spTgt spid="15"/>
                                        </p:tgtEl>
                                      </p:cBhvr>
                                    </p:animEffect>
                                  </p:childTnLst>
                                </p:cTn>
                              </p:par>
                            </p:childTnLst>
                          </p:cTn>
                        </p:par>
                        <p:par>
                          <p:cTn id="28" fill="hold">
                            <p:stCondLst>
                              <p:cond delay="5400"/>
                            </p:stCondLst>
                            <p:childTnLst>
                              <p:par>
                                <p:cTn id="29" presetID="50" presetClass="entr" presetSubtype="0"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stretch(across)">
                                      <p:cBhvr>
                                        <p:cTn id="31" dur="400"/>
                                        <p:tgtEl>
                                          <p:spTgt spid="16"/>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2" grpId="0"/>
      <p:bldP spid="13" grpId="0"/>
      <p:bldP spid="14" grpId="0"/>
      <p:bldP spid="15" grpId="0"/>
      <p:bldP spid="16"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8962957"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25 年、全国 1,247 个网格、两套物种池的证据基础</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419397" y="801052"/>
            <a:ext cx="110013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二、数据与方法</a:t>
            </a:r>
          </a:p>
        </p:txBody>
      </p:sp>
      <p:sp>
        <p:nvSpPr>
          <p:cNvPr id="6" name="TextBox 6"/>
          <p:cNvSpPr txBox="1"/>
          <p:nvPr/>
        </p:nvSpPr>
        <p:spPr>
          <a:xfrm>
            <a:off x="664845" y="1383982"/>
            <a:ext cx="1063676" cy="335280"/>
          </a:xfrm>
          <a:prstGeom prst="rect">
            <a:avLst/>
          </a:prstGeom>
          <a:noFill/>
          <a:ln>
            <a:noFill/>
          </a:ln>
        </p:spPr>
        <p:txBody>
          <a:bodyPr wrap="none" lIns="0" tIns="0" rIns="0" bIns="0" anchor="t" anchorCtr="0">
            <a:spAutoFit/>
          </a:bodyPr>
          <a:lstStyle/>
          <a:p>
            <a:pPr algn="l"/>
            <a:r>
              <a:rPr lang="zh-CN" sz="1650" b="1" dirty="0">
                <a:solidFill>
                  <a:srgbClr val="12395E"/>
                </a:solidFill>
                <a:latin typeface="Segoe UI"/>
                <a:ea typeface="Microsoft YaHei"/>
                <a:cs typeface="Segoe UI"/>
              </a:rPr>
              <a:t>数据整合</a:t>
            </a:r>
          </a:p>
        </p:txBody>
      </p:sp>
      <p:grpSp>
        <p:nvGrpSpPr>
          <p:cNvPr id="12" name="Group 12"/>
          <p:cNvGrpSpPr/>
          <p:nvPr/>
        </p:nvGrpSpPr>
        <p:grpSpPr>
          <a:xfrm>
            <a:off x="685800" y="1752600"/>
            <a:ext cx="2438400" cy="945356"/>
            <a:chOff x="685800" y="1752600"/>
            <a:chExt cx="2438400" cy="945356"/>
          </a:xfrm>
        </p:grpSpPr>
        <p:sp>
          <p:nvSpPr>
            <p:cNvPr id="7" name="Rectangle 7"/>
            <p:cNvSpPr/>
            <p:nvPr/>
          </p:nvSpPr>
          <p:spPr>
            <a:xfrm>
              <a:off x="685800" y="1752600"/>
              <a:ext cx="2438400" cy="914400"/>
            </a:xfrm>
            <a:prstGeom prst="roundRect">
              <a:avLst>
                <a:gd name="adj" fmla="val 8333"/>
              </a:avLst>
            </a:prstGeom>
            <a:solidFill>
              <a:srgbClr val="F4F7FA"/>
            </a:solidFill>
            <a:ln>
              <a:noFill/>
            </a:ln>
          </p:spPr>
        </p:sp>
        <p:sp>
          <p:nvSpPr>
            <p:cNvPr id="8" name="Rectangle 8"/>
            <p:cNvSpPr/>
            <p:nvPr/>
          </p:nvSpPr>
          <p:spPr>
            <a:xfrm>
              <a:off x="685800" y="1752600"/>
              <a:ext cx="2438400" cy="38100"/>
            </a:xfrm>
            <a:prstGeom prst="roundRect">
              <a:avLst>
                <a:gd name="adj" fmla="val 50000"/>
              </a:avLst>
            </a:prstGeom>
            <a:solidFill>
              <a:srgbClr val="2E75B6"/>
            </a:solidFill>
            <a:ln>
              <a:noFill/>
            </a:ln>
          </p:spPr>
        </p:sp>
        <p:sp>
          <p:nvSpPr>
            <p:cNvPr id="9" name="TextBox 9"/>
            <p:cNvSpPr txBox="1"/>
            <p:nvPr/>
          </p:nvSpPr>
          <p:spPr>
            <a:xfrm>
              <a:off x="896302" y="1960721"/>
              <a:ext cx="1801063"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中国观鸟记录中心</a:t>
              </a:r>
            </a:p>
          </p:txBody>
        </p:sp>
        <p:sp>
          <p:nvSpPr>
            <p:cNvPr id="10" name="TextBox 10"/>
            <p:cNvSpPr txBox="1"/>
            <p:nvPr/>
          </p:nvSpPr>
          <p:spPr>
            <a:xfrm>
              <a:off x="900112" y="2259806"/>
              <a:ext cx="1014412"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国内主力平台</a:t>
              </a:r>
            </a:p>
          </p:txBody>
        </p:sp>
        <p:sp>
          <p:nvSpPr>
            <p:cNvPr id="11" name="TextBox 11"/>
            <p:cNvSpPr txBox="1"/>
            <p:nvPr/>
          </p:nvSpPr>
          <p:spPr>
            <a:xfrm>
              <a:off x="900112" y="2469356"/>
              <a:ext cx="1014412"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观鸟报告记录</a:t>
              </a:r>
            </a:p>
          </p:txBody>
        </p:sp>
      </p:grpSp>
      <p:sp>
        <p:nvSpPr>
          <p:cNvPr id="13" name="TextBox 13"/>
          <p:cNvSpPr txBox="1"/>
          <p:nvPr/>
        </p:nvSpPr>
        <p:spPr>
          <a:xfrm>
            <a:off x="3289935" y="2056448"/>
            <a:ext cx="209017" cy="396240"/>
          </a:xfrm>
          <a:prstGeom prst="rect">
            <a:avLst/>
          </a:prstGeom>
          <a:noFill/>
          <a:ln>
            <a:noFill/>
          </a:ln>
        </p:spPr>
        <p:txBody>
          <a:bodyPr wrap="none" lIns="0" tIns="0" rIns="0" bIns="0" anchor="t" anchorCtr="0">
            <a:spAutoFit/>
          </a:bodyPr>
          <a:lstStyle/>
          <a:p>
            <a:pPr algn="l"/>
            <a:r>
              <a:rPr lang="zh-CN" sz="1950" dirty="0">
                <a:solidFill>
                  <a:srgbClr val="B7C4D1"/>
                </a:solidFill>
                <a:latin typeface="Segoe UI"/>
                <a:ea typeface="Microsoft YaHei"/>
                <a:cs typeface="Segoe UI"/>
              </a:rPr>
              <a:t>+</a:t>
            </a:r>
          </a:p>
        </p:txBody>
      </p:sp>
      <p:grpSp>
        <p:nvGrpSpPr>
          <p:cNvPr id="19" name="Group 19"/>
          <p:cNvGrpSpPr/>
          <p:nvPr/>
        </p:nvGrpSpPr>
        <p:grpSpPr>
          <a:xfrm>
            <a:off x="3619500" y="1752600"/>
            <a:ext cx="2438400" cy="945356"/>
            <a:chOff x="3619500" y="1752600"/>
            <a:chExt cx="2438400" cy="945356"/>
          </a:xfrm>
        </p:grpSpPr>
        <p:sp>
          <p:nvSpPr>
            <p:cNvPr id="14" name="Rectangle 14"/>
            <p:cNvSpPr/>
            <p:nvPr/>
          </p:nvSpPr>
          <p:spPr>
            <a:xfrm>
              <a:off x="3619500" y="1752600"/>
              <a:ext cx="2438400" cy="914400"/>
            </a:xfrm>
            <a:prstGeom prst="roundRect">
              <a:avLst>
                <a:gd name="adj" fmla="val 8333"/>
              </a:avLst>
            </a:prstGeom>
            <a:solidFill>
              <a:srgbClr val="F4F7FA"/>
            </a:solidFill>
            <a:ln>
              <a:noFill/>
            </a:ln>
          </p:spPr>
        </p:sp>
        <p:sp>
          <p:nvSpPr>
            <p:cNvPr id="15" name="Rectangle 15"/>
            <p:cNvSpPr/>
            <p:nvPr/>
          </p:nvSpPr>
          <p:spPr>
            <a:xfrm>
              <a:off x="3619500" y="1752600"/>
              <a:ext cx="2438400" cy="38100"/>
            </a:xfrm>
            <a:prstGeom prst="roundRect">
              <a:avLst>
                <a:gd name="adj" fmla="val 50000"/>
              </a:avLst>
            </a:prstGeom>
            <a:solidFill>
              <a:srgbClr val="2E75B6"/>
            </a:solidFill>
            <a:ln>
              <a:noFill/>
            </a:ln>
          </p:spPr>
        </p:sp>
        <p:sp>
          <p:nvSpPr>
            <p:cNvPr id="16" name="TextBox 16"/>
            <p:cNvSpPr txBox="1"/>
            <p:nvPr/>
          </p:nvSpPr>
          <p:spPr>
            <a:xfrm>
              <a:off x="3830002" y="1960721"/>
              <a:ext cx="1103940"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eBird 中国</a:t>
              </a:r>
            </a:p>
          </p:txBody>
        </p:sp>
        <p:sp>
          <p:nvSpPr>
            <p:cNvPr id="17" name="TextBox 17"/>
            <p:cNvSpPr txBox="1"/>
            <p:nvPr/>
          </p:nvSpPr>
          <p:spPr>
            <a:xfrm>
              <a:off x="3833812" y="2259806"/>
              <a:ext cx="1014412"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国际平台记录</a:t>
              </a:r>
            </a:p>
          </p:txBody>
        </p:sp>
        <p:sp>
          <p:nvSpPr>
            <p:cNvPr id="18" name="TextBox 18"/>
            <p:cNvSpPr txBox="1"/>
            <p:nvPr/>
          </p:nvSpPr>
          <p:spPr>
            <a:xfrm>
              <a:off x="3833812" y="2469356"/>
              <a:ext cx="1343025"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经清洗与坐标校验</a:t>
              </a:r>
            </a:p>
          </p:txBody>
        </p:sp>
      </p:grpSp>
      <p:sp>
        <p:nvSpPr>
          <p:cNvPr id="20" name="Freeform 20"/>
          <p:cNvSpPr/>
          <p:nvPr/>
        </p:nvSpPr>
        <p:spPr>
          <a:xfrm>
            <a:off x="6172200" y="2209800"/>
            <a:ext cx="342900" cy="9525"/>
          </a:xfrm>
          <a:custGeom>
            <a:avLst/>
            <a:gdLst/>
            <a:ahLst/>
            <a:cxnLst/>
            <a:rect l="l" t="t" r="r" b="b"/>
            <a:pathLst>
              <a:path w="342900" h="9525">
                <a:moveTo>
                  <a:pt x="0" y="0"/>
                </a:moveTo>
                <a:lnTo>
                  <a:pt x="342900" y="0"/>
                </a:lnTo>
              </a:path>
            </a:pathLst>
          </a:custGeom>
          <a:solidFill>
            <a:srgbClr val="000000"/>
          </a:solidFill>
          <a:ln w="19050">
            <a:solidFill>
              <a:srgbClr val="B7C4D1"/>
            </a:solidFill>
          </a:ln>
        </p:spPr>
      </p:sp>
      <p:sp>
        <p:nvSpPr>
          <p:cNvPr id="21" name="Freeform 21"/>
          <p:cNvSpPr/>
          <p:nvPr/>
        </p:nvSpPr>
        <p:spPr>
          <a:xfrm>
            <a:off x="6457950" y="2152650"/>
            <a:ext cx="76200" cy="114300"/>
          </a:xfrm>
          <a:custGeom>
            <a:avLst/>
            <a:gdLst/>
            <a:ahLst/>
            <a:cxnLst/>
            <a:rect l="l" t="t" r="r" b="b"/>
            <a:pathLst>
              <a:path w="76200" h="114300">
                <a:moveTo>
                  <a:pt x="0" y="0"/>
                </a:moveTo>
                <a:lnTo>
                  <a:pt x="76200" y="57150"/>
                </a:lnTo>
                <a:lnTo>
                  <a:pt x="0" y="114300"/>
                </a:lnTo>
                <a:close/>
              </a:path>
            </a:pathLst>
          </a:custGeom>
          <a:solidFill>
            <a:srgbClr val="B7C4D1"/>
          </a:solidFill>
          <a:ln>
            <a:noFill/>
          </a:ln>
        </p:spPr>
      </p:sp>
      <p:grpSp>
        <p:nvGrpSpPr>
          <p:cNvPr id="26" name="Group 26"/>
          <p:cNvGrpSpPr/>
          <p:nvPr/>
        </p:nvGrpSpPr>
        <p:grpSpPr>
          <a:xfrm>
            <a:off x="6667500" y="1752600"/>
            <a:ext cx="5023468" cy="964406"/>
            <a:chOff x="6667500" y="1752600"/>
            <a:chExt cx="5023468" cy="964406"/>
          </a:xfrm>
        </p:grpSpPr>
        <p:sp>
          <p:nvSpPr>
            <p:cNvPr id="22" name="Rectangle 22"/>
            <p:cNvSpPr/>
            <p:nvPr/>
          </p:nvSpPr>
          <p:spPr>
            <a:xfrm>
              <a:off x="6667500" y="1752600"/>
              <a:ext cx="4838700" cy="914400"/>
            </a:xfrm>
            <a:prstGeom prst="roundRect">
              <a:avLst>
                <a:gd name="adj" fmla="val 8333"/>
              </a:avLst>
            </a:prstGeom>
            <a:solidFill>
              <a:srgbClr val="12395E"/>
            </a:solidFill>
            <a:ln>
              <a:noFill/>
            </a:ln>
          </p:spPr>
        </p:sp>
        <p:sp>
          <p:nvSpPr>
            <p:cNvPr id="23" name="TextBox 23"/>
            <p:cNvSpPr txBox="1"/>
            <p:nvPr/>
          </p:nvSpPr>
          <p:spPr>
            <a:xfrm>
              <a:off x="6916102" y="1960721"/>
              <a:ext cx="4774866"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Segoe UI"/>
                  <a:ea typeface="Microsoft YaHei"/>
                  <a:cs typeface="Segoe UI"/>
                </a:rPr>
                <a:t>来源感知去重（source-aware deduplication）</a:t>
              </a:r>
            </a:p>
          </p:txBody>
        </p:sp>
        <p:sp>
          <p:nvSpPr>
            <p:cNvPr id="24" name="TextBox 24"/>
            <p:cNvSpPr txBox="1"/>
            <p:nvPr/>
          </p:nvSpPr>
          <p:spPr>
            <a:xfrm>
              <a:off x="6919912" y="2278856"/>
              <a:ext cx="4228243" cy="228600"/>
            </a:xfrm>
            <a:prstGeom prst="rect">
              <a:avLst/>
            </a:prstGeom>
            <a:noFill/>
            <a:ln>
              <a:noFill/>
            </a:ln>
          </p:spPr>
          <p:txBody>
            <a:bodyPr wrap="none" lIns="0" tIns="0" rIns="0" bIns="0" anchor="t" anchorCtr="0">
              <a:spAutoFit/>
            </a:bodyPr>
            <a:lstStyle/>
            <a:p>
              <a:pPr algn="l"/>
              <a:r>
                <a:rPr lang="zh-CN" sz="1125" dirty="0">
                  <a:solidFill>
                    <a:srgbClr val="C6D8E8"/>
                  </a:solidFill>
                  <a:latin typeface="Segoe UI"/>
                  <a:ea typeface="Microsoft YaHei"/>
                  <a:cs typeface="Segoe UI"/>
                </a:rPr>
                <a:t>按「物种 × 日期 × 取整坐标 × 来源 × 观测者」去重：</a:t>
              </a:r>
            </a:p>
          </p:txBody>
        </p:sp>
        <p:sp>
          <p:nvSpPr>
            <p:cNvPr id="25" name="TextBox 25"/>
            <p:cNvSpPr txBox="1"/>
            <p:nvPr/>
          </p:nvSpPr>
          <p:spPr>
            <a:xfrm>
              <a:off x="6919912" y="2488406"/>
              <a:ext cx="3479006" cy="228600"/>
            </a:xfrm>
            <a:prstGeom prst="rect">
              <a:avLst/>
            </a:prstGeom>
            <a:noFill/>
            <a:ln>
              <a:noFill/>
            </a:ln>
          </p:spPr>
          <p:txBody>
            <a:bodyPr wrap="none" lIns="0" tIns="0" rIns="0" bIns="0" anchor="t" anchorCtr="0">
              <a:spAutoFit/>
            </a:bodyPr>
            <a:lstStyle/>
            <a:p>
              <a:pPr algn="l"/>
              <a:r>
                <a:rPr lang="zh-CN" sz="1125" dirty="0">
                  <a:solidFill>
                    <a:srgbClr val="C6D8E8"/>
                  </a:solidFill>
                  <a:latin typeface="Segoe UI"/>
                  <a:ea typeface="Microsoft YaHei"/>
                  <a:cs typeface="Segoe UI"/>
                </a:rPr>
                <a:t>剔除同源重复，但不合并跨平台的真实独立记录</a:t>
              </a:r>
            </a:p>
          </p:txBody>
        </p:sp>
      </p:grpSp>
      <p:sp>
        <p:nvSpPr>
          <p:cNvPr id="27" name="Rectangle 27"/>
          <p:cNvSpPr/>
          <p:nvPr/>
        </p:nvSpPr>
        <p:spPr>
          <a:xfrm>
            <a:off x="685800" y="2971800"/>
            <a:ext cx="10820400" cy="9525"/>
          </a:xfrm>
          <a:prstGeom prst="rect">
            <a:avLst/>
          </a:prstGeom>
          <a:solidFill>
            <a:srgbClr val="D8DFE7"/>
          </a:solidFill>
          <a:ln>
            <a:noFill/>
          </a:ln>
        </p:spPr>
      </p:sp>
      <p:sp>
        <p:nvSpPr>
          <p:cNvPr id="28" name="TextBox 28"/>
          <p:cNvSpPr txBox="1"/>
          <p:nvPr/>
        </p:nvSpPr>
        <p:spPr>
          <a:xfrm>
            <a:off x="664845" y="3212782"/>
            <a:ext cx="1063676" cy="335280"/>
          </a:xfrm>
          <a:prstGeom prst="rect">
            <a:avLst/>
          </a:prstGeom>
          <a:noFill/>
          <a:ln>
            <a:noFill/>
          </a:ln>
        </p:spPr>
        <p:txBody>
          <a:bodyPr wrap="none" lIns="0" tIns="0" rIns="0" bIns="0" anchor="t" anchorCtr="0">
            <a:spAutoFit/>
          </a:bodyPr>
          <a:lstStyle/>
          <a:p>
            <a:pPr algn="l"/>
            <a:r>
              <a:rPr lang="zh-CN" sz="1650" b="1" dirty="0">
                <a:solidFill>
                  <a:srgbClr val="12395E"/>
                </a:solidFill>
                <a:latin typeface="Segoe UI"/>
                <a:ea typeface="Microsoft YaHei"/>
                <a:cs typeface="Segoe UI"/>
              </a:rPr>
              <a:t>时空设计</a:t>
            </a:r>
          </a:p>
        </p:txBody>
      </p:sp>
      <p:sp>
        <p:nvSpPr>
          <p:cNvPr id="29" name="Rectangle 29"/>
          <p:cNvSpPr/>
          <p:nvPr/>
        </p:nvSpPr>
        <p:spPr>
          <a:xfrm>
            <a:off x="685800" y="3733800"/>
            <a:ext cx="10820400" cy="838200"/>
          </a:xfrm>
          <a:prstGeom prst="roundRect">
            <a:avLst>
              <a:gd name="adj" fmla="val 9091"/>
            </a:avLst>
          </a:prstGeom>
          <a:solidFill>
            <a:srgbClr val="F4F7FA"/>
          </a:solidFill>
          <a:ln>
            <a:noFill/>
          </a:ln>
        </p:spPr>
      </p:sp>
      <p:sp>
        <p:nvSpPr>
          <p:cNvPr id="30" name="Line 30"/>
          <p:cNvSpPr/>
          <p:nvPr/>
        </p:nvSpPr>
        <p:spPr>
          <a:xfrm>
            <a:off x="1219200" y="4152900"/>
            <a:ext cx="9753600" cy="9525"/>
          </a:xfrm>
          <a:custGeom>
            <a:avLst/>
            <a:gdLst/>
            <a:ahLst/>
            <a:cxnLst/>
            <a:rect l="l" t="t" r="r" b="b"/>
            <a:pathLst>
              <a:path w="9753600" h="9525">
                <a:moveTo>
                  <a:pt x="0" y="0"/>
                </a:moveTo>
                <a:lnTo>
                  <a:pt x="9753600" y="0"/>
                </a:lnTo>
              </a:path>
            </a:pathLst>
          </a:custGeom>
          <a:noFill/>
          <a:ln w="19050">
            <a:solidFill>
              <a:srgbClr val="B7C4D1"/>
            </a:solidFill>
          </a:ln>
        </p:spPr>
      </p:sp>
      <p:grpSp>
        <p:nvGrpSpPr>
          <p:cNvPr id="34" name="Group 34"/>
          <p:cNvGrpSpPr/>
          <p:nvPr/>
        </p:nvGrpSpPr>
        <p:grpSpPr>
          <a:xfrm>
            <a:off x="1020413" y="3860006"/>
            <a:ext cx="854774" cy="678656"/>
            <a:chOff x="1020413" y="3860006"/>
            <a:chExt cx="854774" cy="678656"/>
          </a:xfrm>
        </p:grpSpPr>
        <p:sp>
          <p:nvSpPr>
            <p:cNvPr id="31" name="Ellipse 31"/>
            <p:cNvSpPr/>
            <p:nvPr/>
          </p:nvSpPr>
          <p:spPr>
            <a:xfrm>
              <a:off x="1333500" y="4038600"/>
              <a:ext cx="228600" cy="228600"/>
            </a:xfrm>
            <a:prstGeom prst="ellipse">
              <a:avLst/>
            </a:prstGeom>
            <a:solidFill>
              <a:srgbClr val="2E75B6"/>
            </a:solidFill>
            <a:ln>
              <a:noFill/>
            </a:ln>
          </p:spPr>
        </p:sp>
        <p:sp>
          <p:nvSpPr>
            <p:cNvPr id="32" name="TextBox 32"/>
            <p:cNvSpPr txBox="1"/>
            <p:nvPr/>
          </p:nvSpPr>
          <p:spPr>
            <a:xfrm>
              <a:off x="1336851" y="3860006"/>
              <a:ext cx="221898" cy="228600"/>
            </a:xfrm>
            <a:prstGeom prst="rect">
              <a:avLst/>
            </a:prstGeom>
            <a:noFill/>
            <a:ln>
              <a:noFill/>
            </a:ln>
          </p:spPr>
          <p:txBody>
            <a:bodyPr wrap="none" lIns="0" tIns="0" rIns="0" bIns="0" anchor="t" anchorCtr="0">
              <a:spAutoFit/>
            </a:bodyPr>
            <a:lstStyle/>
            <a:p>
              <a:pPr algn="ctr"/>
              <a:r>
                <a:rPr lang="zh-CN" sz="1125" b="1" dirty="0">
                  <a:solidFill>
                    <a:srgbClr val="12395E"/>
                  </a:solidFill>
                  <a:latin typeface="Segoe UI"/>
                  <a:ea typeface="Microsoft YaHei"/>
                  <a:cs typeface="Segoe UI"/>
                </a:rPr>
                <a:t>P1</a:t>
              </a:r>
            </a:p>
          </p:txBody>
        </p:sp>
        <p:sp>
          <p:nvSpPr>
            <p:cNvPr id="33" name="TextBox 33"/>
            <p:cNvSpPr txBox="1"/>
            <p:nvPr/>
          </p:nvSpPr>
          <p:spPr>
            <a:xfrm>
              <a:off x="1020413" y="4325302"/>
              <a:ext cx="854774"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2000–2004</a:t>
              </a:r>
            </a:p>
          </p:txBody>
        </p:sp>
      </p:grpSp>
      <p:grpSp>
        <p:nvGrpSpPr>
          <p:cNvPr id="38" name="Group 38"/>
          <p:cNvGrpSpPr/>
          <p:nvPr/>
        </p:nvGrpSpPr>
        <p:grpSpPr>
          <a:xfrm>
            <a:off x="3306413" y="3860006"/>
            <a:ext cx="854774" cy="678656"/>
            <a:chOff x="3306413" y="3860006"/>
            <a:chExt cx="854774" cy="678656"/>
          </a:xfrm>
        </p:grpSpPr>
        <p:sp>
          <p:nvSpPr>
            <p:cNvPr id="35" name="Ellipse 35"/>
            <p:cNvSpPr/>
            <p:nvPr/>
          </p:nvSpPr>
          <p:spPr>
            <a:xfrm>
              <a:off x="3619500" y="4038600"/>
              <a:ext cx="228600" cy="228600"/>
            </a:xfrm>
            <a:prstGeom prst="ellipse">
              <a:avLst/>
            </a:prstGeom>
            <a:solidFill>
              <a:srgbClr val="2E75B6"/>
            </a:solidFill>
            <a:ln>
              <a:noFill/>
            </a:ln>
          </p:spPr>
        </p:sp>
        <p:sp>
          <p:nvSpPr>
            <p:cNvPr id="36" name="TextBox 36"/>
            <p:cNvSpPr txBox="1"/>
            <p:nvPr/>
          </p:nvSpPr>
          <p:spPr>
            <a:xfrm>
              <a:off x="3622851" y="3860006"/>
              <a:ext cx="221898" cy="228600"/>
            </a:xfrm>
            <a:prstGeom prst="rect">
              <a:avLst/>
            </a:prstGeom>
            <a:noFill/>
            <a:ln>
              <a:noFill/>
            </a:ln>
          </p:spPr>
          <p:txBody>
            <a:bodyPr wrap="none" lIns="0" tIns="0" rIns="0" bIns="0" anchor="t" anchorCtr="0">
              <a:spAutoFit/>
            </a:bodyPr>
            <a:lstStyle/>
            <a:p>
              <a:pPr algn="ctr"/>
              <a:r>
                <a:rPr lang="zh-CN" sz="1125" b="1" dirty="0">
                  <a:solidFill>
                    <a:srgbClr val="12395E"/>
                  </a:solidFill>
                  <a:latin typeface="Segoe UI"/>
                  <a:ea typeface="Microsoft YaHei"/>
                  <a:cs typeface="Segoe UI"/>
                </a:rPr>
                <a:t>P2</a:t>
              </a:r>
            </a:p>
          </p:txBody>
        </p:sp>
        <p:sp>
          <p:nvSpPr>
            <p:cNvPr id="37" name="TextBox 37"/>
            <p:cNvSpPr txBox="1"/>
            <p:nvPr/>
          </p:nvSpPr>
          <p:spPr>
            <a:xfrm>
              <a:off x="3306413" y="4325302"/>
              <a:ext cx="854774"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2005–2009</a:t>
              </a:r>
            </a:p>
          </p:txBody>
        </p:sp>
      </p:grpSp>
      <p:grpSp>
        <p:nvGrpSpPr>
          <p:cNvPr id="42" name="Group 42"/>
          <p:cNvGrpSpPr/>
          <p:nvPr/>
        </p:nvGrpSpPr>
        <p:grpSpPr>
          <a:xfrm>
            <a:off x="5592413" y="3860006"/>
            <a:ext cx="854774" cy="678656"/>
            <a:chOff x="5592413" y="3860006"/>
            <a:chExt cx="854774" cy="678656"/>
          </a:xfrm>
        </p:grpSpPr>
        <p:sp>
          <p:nvSpPr>
            <p:cNvPr id="39" name="Ellipse 39"/>
            <p:cNvSpPr/>
            <p:nvPr/>
          </p:nvSpPr>
          <p:spPr>
            <a:xfrm>
              <a:off x="5905500" y="4038600"/>
              <a:ext cx="228600" cy="228600"/>
            </a:xfrm>
            <a:prstGeom prst="ellipse">
              <a:avLst/>
            </a:prstGeom>
            <a:solidFill>
              <a:srgbClr val="2E75B6"/>
            </a:solidFill>
            <a:ln>
              <a:noFill/>
            </a:ln>
          </p:spPr>
        </p:sp>
        <p:sp>
          <p:nvSpPr>
            <p:cNvPr id="40" name="TextBox 40"/>
            <p:cNvSpPr txBox="1"/>
            <p:nvPr/>
          </p:nvSpPr>
          <p:spPr>
            <a:xfrm>
              <a:off x="5908851" y="3860006"/>
              <a:ext cx="221898" cy="228600"/>
            </a:xfrm>
            <a:prstGeom prst="rect">
              <a:avLst/>
            </a:prstGeom>
            <a:noFill/>
            <a:ln>
              <a:noFill/>
            </a:ln>
          </p:spPr>
          <p:txBody>
            <a:bodyPr wrap="none" lIns="0" tIns="0" rIns="0" bIns="0" anchor="t" anchorCtr="0">
              <a:spAutoFit/>
            </a:bodyPr>
            <a:lstStyle/>
            <a:p>
              <a:pPr algn="ctr"/>
              <a:r>
                <a:rPr lang="zh-CN" sz="1125" b="1" dirty="0">
                  <a:solidFill>
                    <a:srgbClr val="12395E"/>
                  </a:solidFill>
                  <a:latin typeface="Segoe UI"/>
                  <a:ea typeface="Microsoft YaHei"/>
                  <a:cs typeface="Segoe UI"/>
                </a:rPr>
                <a:t>P3</a:t>
              </a:r>
            </a:p>
          </p:txBody>
        </p:sp>
        <p:sp>
          <p:nvSpPr>
            <p:cNvPr id="41" name="TextBox 41"/>
            <p:cNvSpPr txBox="1"/>
            <p:nvPr/>
          </p:nvSpPr>
          <p:spPr>
            <a:xfrm>
              <a:off x="5592413" y="4325302"/>
              <a:ext cx="854774"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2010–2014</a:t>
              </a:r>
            </a:p>
          </p:txBody>
        </p:sp>
      </p:grpSp>
      <p:grpSp>
        <p:nvGrpSpPr>
          <p:cNvPr id="46" name="Group 46"/>
          <p:cNvGrpSpPr/>
          <p:nvPr/>
        </p:nvGrpSpPr>
        <p:grpSpPr>
          <a:xfrm>
            <a:off x="7878413" y="3860006"/>
            <a:ext cx="854774" cy="678656"/>
            <a:chOff x="7878413" y="3860006"/>
            <a:chExt cx="854774" cy="678656"/>
          </a:xfrm>
        </p:grpSpPr>
        <p:sp>
          <p:nvSpPr>
            <p:cNvPr id="43" name="Ellipse 43"/>
            <p:cNvSpPr/>
            <p:nvPr/>
          </p:nvSpPr>
          <p:spPr>
            <a:xfrm>
              <a:off x="8191500" y="4038600"/>
              <a:ext cx="228600" cy="228600"/>
            </a:xfrm>
            <a:prstGeom prst="ellipse">
              <a:avLst/>
            </a:prstGeom>
            <a:solidFill>
              <a:srgbClr val="2E75B6"/>
            </a:solidFill>
            <a:ln>
              <a:noFill/>
            </a:ln>
          </p:spPr>
        </p:sp>
        <p:sp>
          <p:nvSpPr>
            <p:cNvPr id="44" name="TextBox 44"/>
            <p:cNvSpPr txBox="1"/>
            <p:nvPr/>
          </p:nvSpPr>
          <p:spPr>
            <a:xfrm>
              <a:off x="8194851" y="3860006"/>
              <a:ext cx="221898" cy="228600"/>
            </a:xfrm>
            <a:prstGeom prst="rect">
              <a:avLst/>
            </a:prstGeom>
            <a:noFill/>
            <a:ln>
              <a:noFill/>
            </a:ln>
          </p:spPr>
          <p:txBody>
            <a:bodyPr wrap="none" lIns="0" tIns="0" rIns="0" bIns="0" anchor="t" anchorCtr="0">
              <a:spAutoFit/>
            </a:bodyPr>
            <a:lstStyle/>
            <a:p>
              <a:pPr algn="ctr"/>
              <a:r>
                <a:rPr lang="zh-CN" sz="1125" b="1" dirty="0">
                  <a:solidFill>
                    <a:srgbClr val="12395E"/>
                  </a:solidFill>
                  <a:latin typeface="Segoe UI"/>
                  <a:ea typeface="Microsoft YaHei"/>
                  <a:cs typeface="Segoe UI"/>
                </a:rPr>
                <a:t>P4</a:t>
              </a:r>
            </a:p>
          </p:txBody>
        </p:sp>
        <p:sp>
          <p:nvSpPr>
            <p:cNvPr id="45" name="TextBox 45"/>
            <p:cNvSpPr txBox="1"/>
            <p:nvPr/>
          </p:nvSpPr>
          <p:spPr>
            <a:xfrm>
              <a:off x="7878413" y="4325302"/>
              <a:ext cx="854774"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2015–2019</a:t>
              </a:r>
            </a:p>
          </p:txBody>
        </p:sp>
      </p:grpSp>
      <p:grpSp>
        <p:nvGrpSpPr>
          <p:cNvPr id="50" name="Group 50"/>
          <p:cNvGrpSpPr/>
          <p:nvPr/>
        </p:nvGrpSpPr>
        <p:grpSpPr>
          <a:xfrm>
            <a:off x="10164413" y="3860006"/>
            <a:ext cx="854774" cy="678656"/>
            <a:chOff x="10164413" y="3860006"/>
            <a:chExt cx="854774" cy="678656"/>
          </a:xfrm>
        </p:grpSpPr>
        <p:sp>
          <p:nvSpPr>
            <p:cNvPr id="47" name="Ellipse 47"/>
            <p:cNvSpPr/>
            <p:nvPr/>
          </p:nvSpPr>
          <p:spPr>
            <a:xfrm>
              <a:off x="10467975" y="4029075"/>
              <a:ext cx="247650" cy="247650"/>
            </a:xfrm>
            <a:prstGeom prst="ellipse">
              <a:avLst/>
            </a:prstGeom>
            <a:solidFill>
              <a:srgbClr val="D97A34"/>
            </a:solidFill>
            <a:ln>
              <a:noFill/>
            </a:ln>
          </p:spPr>
        </p:sp>
        <p:sp>
          <p:nvSpPr>
            <p:cNvPr id="48" name="TextBox 48"/>
            <p:cNvSpPr txBox="1"/>
            <p:nvPr/>
          </p:nvSpPr>
          <p:spPr>
            <a:xfrm>
              <a:off x="10480851" y="3860006"/>
              <a:ext cx="221898" cy="228600"/>
            </a:xfrm>
            <a:prstGeom prst="rect">
              <a:avLst/>
            </a:prstGeom>
            <a:noFill/>
            <a:ln>
              <a:noFill/>
            </a:ln>
          </p:spPr>
          <p:txBody>
            <a:bodyPr wrap="none" lIns="0" tIns="0" rIns="0" bIns="0" anchor="t" anchorCtr="0">
              <a:spAutoFit/>
            </a:bodyPr>
            <a:lstStyle/>
            <a:p>
              <a:pPr algn="ctr"/>
              <a:r>
                <a:rPr lang="zh-CN" sz="1125" b="1" dirty="0">
                  <a:solidFill>
                    <a:srgbClr val="B3611F"/>
                  </a:solidFill>
                  <a:latin typeface="Segoe UI"/>
                  <a:ea typeface="Microsoft YaHei"/>
                  <a:cs typeface="Segoe UI"/>
                </a:rPr>
                <a:t>P5</a:t>
              </a:r>
            </a:p>
          </p:txBody>
        </p:sp>
        <p:sp>
          <p:nvSpPr>
            <p:cNvPr id="49" name="TextBox 49"/>
            <p:cNvSpPr txBox="1"/>
            <p:nvPr/>
          </p:nvSpPr>
          <p:spPr>
            <a:xfrm>
              <a:off x="10164413" y="4325302"/>
              <a:ext cx="854774"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2020–2024</a:t>
              </a:r>
            </a:p>
          </p:txBody>
        </p:sp>
      </p:grpSp>
      <p:grpSp>
        <p:nvGrpSpPr>
          <p:cNvPr id="54" name="Group 54"/>
          <p:cNvGrpSpPr/>
          <p:nvPr/>
        </p:nvGrpSpPr>
        <p:grpSpPr>
          <a:xfrm>
            <a:off x="685800" y="4857750"/>
            <a:ext cx="3429000" cy="895350"/>
            <a:chOff x="685800" y="4857750"/>
            <a:chExt cx="3429000" cy="895350"/>
          </a:xfrm>
        </p:grpSpPr>
        <p:sp>
          <p:nvSpPr>
            <p:cNvPr id="51" name="Rectangle 51"/>
            <p:cNvSpPr/>
            <p:nvPr/>
          </p:nvSpPr>
          <p:spPr>
            <a:xfrm>
              <a:off x="685800" y="4857750"/>
              <a:ext cx="3429000" cy="895350"/>
            </a:xfrm>
            <a:prstGeom prst="roundRect">
              <a:avLst>
                <a:gd name="adj" fmla="val 8511"/>
              </a:avLst>
            </a:prstGeom>
            <a:solidFill>
              <a:srgbClr val="FFFFFF"/>
            </a:solidFill>
            <a:ln w="9525">
              <a:solidFill>
                <a:srgbClr val="D8DFE7"/>
              </a:solidFill>
            </a:ln>
          </p:spPr>
        </p:sp>
        <p:sp>
          <p:nvSpPr>
            <p:cNvPr id="52" name="TextBox 52"/>
            <p:cNvSpPr txBox="1"/>
            <p:nvPr/>
          </p:nvSpPr>
          <p:spPr>
            <a:xfrm>
              <a:off x="935355" y="5054918"/>
              <a:ext cx="870280" cy="274320"/>
            </a:xfrm>
            <a:prstGeom prst="rect">
              <a:avLst/>
            </a:prstGeom>
            <a:noFill/>
            <a:ln>
              <a:noFill/>
            </a:ln>
          </p:spPr>
          <p:txBody>
            <a:bodyPr wrap="none" lIns="0" tIns="0" rIns="0" bIns="0" anchor="t" anchorCtr="0">
              <a:spAutoFit/>
            </a:bodyPr>
            <a:lstStyle/>
            <a:p>
              <a:pPr algn="l"/>
              <a:r>
                <a:rPr lang="zh-CN" sz="1350" b="1" dirty="0">
                  <a:solidFill>
                    <a:srgbClr val="0F2740"/>
                  </a:solidFill>
                  <a:latin typeface="Segoe UI"/>
                  <a:ea typeface="Microsoft YaHei"/>
                  <a:cs typeface="Segoe UI"/>
                </a:rPr>
                <a:t>空间单元</a:t>
              </a:r>
            </a:p>
          </p:txBody>
        </p:sp>
        <p:sp>
          <p:nvSpPr>
            <p:cNvPr id="53" name="TextBox 53"/>
            <p:cNvSpPr txBox="1"/>
            <p:nvPr/>
          </p:nvSpPr>
          <p:spPr>
            <a:xfrm>
              <a:off x="937260" y="5356860"/>
              <a:ext cx="3046705"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100 km 等积网格，1,247 个有数据格点</a:t>
              </a:r>
            </a:p>
          </p:txBody>
        </p:sp>
      </p:grpSp>
      <p:grpSp>
        <p:nvGrpSpPr>
          <p:cNvPr id="58" name="Group 58"/>
          <p:cNvGrpSpPr/>
          <p:nvPr/>
        </p:nvGrpSpPr>
        <p:grpSpPr>
          <a:xfrm>
            <a:off x="4381500" y="4857750"/>
            <a:ext cx="3429000" cy="895350"/>
            <a:chOff x="4381500" y="4857750"/>
            <a:chExt cx="3429000" cy="895350"/>
          </a:xfrm>
        </p:grpSpPr>
        <p:sp>
          <p:nvSpPr>
            <p:cNvPr id="55" name="Rectangle 55"/>
            <p:cNvSpPr/>
            <p:nvPr/>
          </p:nvSpPr>
          <p:spPr>
            <a:xfrm>
              <a:off x="4381500" y="4857750"/>
              <a:ext cx="3429000" cy="895350"/>
            </a:xfrm>
            <a:prstGeom prst="roundRect">
              <a:avLst>
                <a:gd name="adj" fmla="val 8511"/>
              </a:avLst>
            </a:prstGeom>
            <a:solidFill>
              <a:srgbClr val="FFFFFF"/>
            </a:solidFill>
            <a:ln w="9525">
              <a:solidFill>
                <a:srgbClr val="D8DFE7"/>
              </a:solidFill>
            </a:ln>
          </p:spPr>
        </p:sp>
        <p:sp>
          <p:nvSpPr>
            <p:cNvPr id="56" name="TextBox 56"/>
            <p:cNvSpPr txBox="1"/>
            <p:nvPr/>
          </p:nvSpPr>
          <p:spPr>
            <a:xfrm>
              <a:off x="4631055" y="5054918"/>
              <a:ext cx="870280" cy="274320"/>
            </a:xfrm>
            <a:prstGeom prst="rect">
              <a:avLst/>
            </a:prstGeom>
            <a:noFill/>
            <a:ln>
              <a:noFill/>
            </a:ln>
          </p:spPr>
          <p:txBody>
            <a:bodyPr wrap="none" lIns="0" tIns="0" rIns="0" bIns="0" anchor="t" anchorCtr="0">
              <a:spAutoFit/>
            </a:bodyPr>
            <a:lstStyle/>
            <a:p>
              <a:pPr algn="l"/>
              <a:r>
                <a:rPr lang="zh-CN" sz="1350" b="1" dirty="0">
                  <a:solidFill>
                    <a:srgbClr val="0F2740"/>
                  </a:solidFill>
                  <a:latin typeface="Segoe UI"/>
                  <a:ea typeface="Microsoft YaHei"/>
                  <a:cs typeface="Segoe UI"/>
                </a:rPr>
                <a:t>重复访问</a:t>
              </a:r>
            </a:p>
          </p:txBody>
        </p:sp>
        <p:sp>
          <p:nvSpPr>
            <p:cNvPr id="57" name="TextBox 57"/>
            <p:cNvSpPr txBox="1"/>
            <p:nvPr/>
          </p:nvSpPr>
          <p:spPr>
            <a:xfrm>
              <a:off x="4632960" y="5356860"/>
              <a:ext cx="213360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期内各年作为重复观测机会</a:t>
              </a:r>
            </a:p>
          </p:txBody>
        </p:sp>
      </p:grpSp>
      <p:grpSp>
        <p:nvGrpSpPr>
          <p:cNvPr id="62" name="Group 62"/>
          <p:cNvGrpSpPr/>
          <p:nvPr/>
        </p:nvGrpSpPr>
        <p:grpSpPr>
          <a:xfrm>
            <a:off x="8077200" y="4857750"/>
            <a:ext cx="3429000" cy="895350"/>
            <a:chOff x="8077200" y="4857750"/>
            <a:chExt cx="3429000" cy="895350"/>
          </a:xfrm>
        </p:grpSpPr>
        <p:sp>
          <p:nvSpPr>
            <p:cNvPr id="59" name="Rectangle 59"/>
            <p:cNvSpPr/>
            <p:nvPr/>
          </p:nvSpPr>
          <p:spPr>
            <a:xfrm>
              <a:off x="8077200" y="4857750"/>
              <a:ext cx="3429000" cy="895350"/>
            </a:xfrm>
            <a:prstGeom prst="roundRect">
              <a:avLst>
                <a:gd name="adj" fmla="val 8511"/>
              </a:avLst>
            </a:prstGeom>
            <a:solidFill>
              <a:srgbClr val="FFFFFF"/>
            </a:solidFill>
            <a:ln w="9525">
              <a:solidFill>
                <a:srgbClr val="D8DFE7"/>
              </a:solidFill>
            </a:ln>
          </p:spPr>
        </p:sp>
        <p:sp>
          <p:nvSpPr>
            <p:cNvPr id="60" name="TextBox 60"/>
            <p:cNvSpPr txBox="1"/>
            <p:nvPr/>
          </p:nvSpPr>
          <p:spPr>
            <a:xfrm>
              <a:off x="8326755" y="5054918"/>
              <a:ext cx="870280" cy="274320"/>
            </a:xfrm>
            <a:prstGeom prst="rect">
              <a:avLst/>
            </a:prstGeom>
            <a:noFill/>
            <a:ln>
              <a:noFill/>
            </a:ln>
          </p:spPr>
          <p:txBody>
            <a:bodyPr wrap="none" lIns="0" tIns="0" rIns="0" bIns="0" anchor="t" anchorCtr="0">
              <a:spAutoFit/>
            </a:bodyPr>
            <a:lstStyle/>
            <a:p>
              <a:pPr algn="l"/>
              <a:r>
                <a:rPr lang="zh-CN" sz="1350" b="1" dirty="0">
                  <a:solidFill>
                    <a:srgbClr val="0F2740"/>
                  </a:solidFill>
                  <a:latin typeface="Segoe UI"/>
                  <a:ea typeface="Microsoft YaHei"/>
                  <a:cs typeface="Segoe UI"/>
                </a:rPr>
                <a:t>闭合假设</a:t>
              </a:r>
            </a:p>
          </p:txBody>
        </p:sp>
        <p:sp>
          <p:nvSpPr>
            <p:cNvPr id="61" name="TextBox 61"/>
            <p:cNvSpPr txBox="1"/>
            <p:nvPr/>
          </p:nvSpPr>
          <p:spPr>
            <a:xfrm>
              <a:off x="8328660" y="5356860"/>
              <a:ext cx="2636596"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松弛闭合；3 年窗口重拟合待完成</a:t>
              </a:r>
            </a:p>
          </p:txBody>
        </p:sp>
      </p:grpSp>
      <p:sp>
        <p:nvSpPr>
          <p:cNvPr id="63" name="TextBox 63"/>
          <p:cNvSpPr txBox="1"/>
          <p:nvPr/>
        </p:nvSpPr>
        <p:spPr>
          <a:xfrm>
            <a:off x="672465" y="6039802"/>
            <a:ext cx="7416727"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Rota et al. 2009（闭合假设）；Johnston et al. 2021（公民科学数据分析规范） | 来源：GCB 稿件 v6 方法</a:t>
            </a:r>
          </a:p>
        </p:txBody>
      </p:sp>
      <p:sp>
        <p:nvSpPr>
          <p:cNvPr id="64" name="TextBox 64"/>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12</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9934099"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推断框架：把观测过程显式建模，再把不确定性向下传播</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419397" y="801052"/>
            <a:ext cx="110013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二、数据与方法</a:t>
            </a:r>
          </a:p>
        </p:txBody>
      </p:sp>
      <p:pic>
        <p:nvPicPr>
          <p:cNvPr id="6" name="Image 6"/>
          <p:cNvPicPr>
            <a:picLocks noChangeAspect="1"/>
          </p:cNvPicPr>
          <p:nvPr/>
        </p:nvPicPr>
        <p:blipFill>
          <a:blip r:embed="rId2"/>
          <a:stretch>
            <a:fillRect/>
          </a:stretch>
        </p:blipFill>
        <p:spPr>
          <a:xfrm>
            <a:off x="685800" y="1428750"/>
            <a:ext cx="6791325" cy="4381500"/>
          </a:xfrm>
          <a:prstGeom prst="rect">
            <a:avLst/>
          </a:prstGeom>
        </p:spPr>
      </p:pic>
      <p:sp>
        <p:nvSpPr>
          <p:cNvPr id="7" name="Rectangle 7"/>
          <p:cNvSpPr/>
          <p:nvPr/>
        </p:nvSpPr>
        <p:spPr>
          <a:xfrm>
            <a:off x="7791450" y="1428750"/>
            <a:ext cx="3714750" cy="4381500"/>
          </a:xfrm>
          <a:prstGeom prst="roundRect">
            <a:avLst>
              <a:gd name="adj" fmla="val 2564"/>
            </a:avLst>
          </a:prstGeom>
          <a:solidFill>
            <a:srgbClr val="F4F7FA"/>
          </a:solidFill>
          <a:ln>
            <a:noFill/>
          </a:ln>
        </p:spPr>
      </p:sp>
      <p:sp>
        <p:nvSpPr>
          <p:cNvPr id="8" name="TextBox 8"/>
          <p:cNvSpPr txBox="1"/>
          <p:nvPr/>
        </p:nvSpPr>
        <p:spPr>
          <a:xfrm>
            <a:off x="8039100" y="1666875"/>
            <a:ext cx="966978" cy="304800"/>
          </a:xfrm>
          <a:prstGeom prst="rect">
            <a:avLst/>
          </a:prstGeom>
          <a:noFill/>
          <a:ln>
            <a:noFill/>
          </a:ln>
        </p:spPr>
        <p:txBody>
          <a:bodyPr wrap="none" lIns="0" tIns="0" rIns="0" bIns="0" anchor="t" anchorCtr="0">
            <a:spAutoFit/>
          </a:bodyPr>
          <a:lstStyle/>
          <a:p>
            <a:pPr algn="l"/>
            <a:r>
              <a:rPr lang="zh-CN" sz="1500" b="1" dirty="0">
                <a:solidFill>
                  <a:srgbClr val="12395E"/>
                </a:solidFill>
                <a:latin typeface="Segoe UI"/>
                <a:ea typeface="Microsoft YaHei"/>
                <a:cs typeface="Segoe UI"/>
              </a:rPr>
              <a:t>关键设计</a:t>
            </a:r>
          </a:p>
        </p:txBody>
      </p:sp>
      <p:sp>
        <p:nvSpPr>
          <p:cNvPr id="9" name="Rectangle 9"/>
          <p:cNvSpPr/>
          <p:nvPr/>
        </p:nvSpPr>
        <p:spPr>
          <a:xfrm>
            <a:off x="8058150" y="1943100"/>
            <a:ext cx="381000" cy="28575"/>
          </a:xfrm>
          <a:prstGeom prst="roundRect">
            <a:avLst>
              <a:gd name="adj" fmla="val 50000"/>
            </a:avLst>
          </a:prstGeom>
          <a:solidFill>
            <a:srgbClr val="D97A34"/>
          </a:solidFill>
          <a:ln>
            <a:noFill/>
          </a:ln>
        </p:spPr>
      </p:sp>
      <p:grpSp>
        <p:nvGrpSpPr>
          <p:cNvPr id="15" name="Group 15"/>
          <p:cNvGrpSpPr/>
          <p:nvPr/>
        </p:nvGrpSpPr>
        <p:grpSpPr>
          <a:xfrm>
            <a:off x="8039100" y="2186464"/>
            <a:ext cx="2221706" cy="701992"/>
            <a:chOff x="8039100" y="2186464"/>
            <a:chExt cx="2221706" cy="701992"/>
          </a:xfrm>
        </p:grpSpPr>
        <p:sp>
          <p:nvSpPr>
            <p:cNvPr id="10" name="Ellipse 10"/>
            <p:cNvSpPr/>
            <p:nvPr/>
          </p:nvSpPr>
          <p:spPr>
            <a:xfrm>
              <a:off x="8039100" y="2228850"/>
              <a:ext cx="266700" cy="266700"/>
            </a:xfrm>
            <a:prstGeom prst="ellipse">
              <a:avLst/>
            </a:prstGeom>
            <a:solidFill>
              <a:srgbClr val="2E75B6"/>
            </a:solidFill>
            <a:ln>
              <a:noFill/>
            </a:ln>
          </p:spPr>
        </p:sp>
        <p:sp>
          <p:nvSpPr>
            <p:cNvPr id="11" name="TextBox 11"/>
            <p:cNvSpPr txBox="1"/>
            <p:nvPr/>
          </p:nvSpPr>
          <p:spPr>
            <a:xfrm>
              <a:off x="8114413" y="2306002"/>
              <a:ext cx="11607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1</a:t>
              </a:r>
            </a:p>
          </p:txBody>
        </p:sp>
        <p:sp>
          <p:nvSpPr>
            <p:cNvPr id="12" name="TextBox 12"/>
            <p:cNvSpPr txBox="1"/>
            <p:nvPr/>
          </p:nvSpPr>
          <p:spPr>
            <a:xfrm>
              <a:off x="8422958" y="2186464"/>
              <a:ext cx="1414091" cy="259080"/>
            </a:xfrm>
            <a:prstGeom prst="rect">
              <a:avLst/>
            </a:prstGeom>
            <a:noFill/>
            <a:ln>
              <a:noFill/>
            </a:ln>
          </p:spPr>
          <p:txBody>
            <a:bodyPr wrap="none" lIns="0" tIns="0" rIns="0" bIns="0" anchor="t" anchorCtr="0">
              <a:spAutoFit/>
            </a:bodyPr>
            <a:lstStyle/>
            <a:p>
              <a:pPr algn="l"/>
              <a:r>
                <a:rPr lang="zh-CN" sz="1275" b="1" dirty="0">
                  <a:solidFill>
                    <a:srgbClr val="0F2740"/>
                  </a:solidFill>
                  <a:latin typeface="Segoe UI"/>
                  <a:ea typeface="Microsoft YaHei"/>
                  <a:cs typeface="Segoe UI"/>
                </a:rPr>
                <a:t>分离占域与检测</a:t>
              </a:r>
            </a:p>
          </p:txBody>
        </p:sp>
        <p:sp>
          <p:nvSpPr>
            <p:cNvPr id="13" name="TextBox 13"/>
            <p:cNvSpPr txBox="1"/>
            <p:nvPr/>
          </p:nvSpPr>
          <p:spPr>
            <a:xfrm>
              <a:off x="8424862" y="2450306"/>
              <a:ext cx="1835944"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检测子模型含调查努力、</a:t>
              </a:r>
            </a:p>
          </p:txBody>
        </p:sp>
        <p:sp>
          <p:nvSpPr>
            <p:cNvPr id="14" name="TextBox 14"/>
            <p:cNvSpPr txBox="1"/>
            <p:nvPr/>
          </p:nvSpPr>
          <p:spPr>
            <a:xfrm>
              <a:off x="8424862" y="2659856"/>
              <a:ext cx="1671638"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时长（来源项待补算）</a:t>
              </a:r>
            </a:p>
          </p:txBody>
        </p:sp>
      </p:grpSp>
      <p:grpSp>
        <p:nvGrpSpPr>
          <p:cNvPr id="21" name="Group 21"/>
          <p:cNvGrpSpPr/>
          <p:nvPr/>
        </p:nvGrpSpPr>
        <p:grpSpPr>
          <a:xfrm>
            <a:off x="8039100" y="3081814"/>
            <a:ext cx="2386012" cy="701992"/>
            <a:chOff x="8039100" y="3081814"/>
            <a:chExt cx="2386012" cy="701992"/>
          </a:xfrm>
        </p:grpSpPr>
        <p:sp>
          <p:nvSpPr>
            <p:cNvPr id="16" name="Ellipse 16"/>
            <p:cNvSpPr/>
            <p:nvPr/>
          </p:nvSpPr>
          <p:spPr>
            <a:xfrm>
              <a:off x="8039100" y="3124200"/>
              <a:ext cx="266700" cy="266700"/>
            </a:xfrm>
            <a:prstGeom prst="ellipse">
              <a:avLst/>
            </a:prstGeom>
            <a:solidFill>
              <a:srgbClr val="2E75B6"/>
            </a:solidFill>
            <a:ln>
              <a:noFill/>
            </a:ln>
          </p:spPr>
        </p:sp>
        <p:sp>
          <p:nvSpPr>
            <p:cNvPr id="17" name="TextBox 17"/>
            <p:cNvSpPr txBox="1"/>
            <p:nvPr/>
          </p:nvSpPr>
          <p:spPr>
            <a:xfrm>
              <a:off x="8114413" y="3201352"/>
              <a:ext cx="11607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2</a:t>
              </a:r>
            </a:p>
          </p:txBody>
        </p:sp>
        <p:sp>
          <p:nvSpPr>
            <p:cNvPr id="18" name="TextBox 18"/>
            <p:cNvSpPr txBox="1"/>
            <p:nvPr/>
          </p:nvSpPr>
          <p:spPr>
            <a:xfrm>
              <a:off x="8422958" y="3081814"/>
              <a:ext cx="1216704" cy="259080"/>
            </a:xfrm>
            <a:prstGeom prst="rect">
              <a:avLst/>
            </a:prstGeom>
            <a:noFill/>
            <a:ln>
              <a:noFill/>
            </a:ln>
          </p:spPr>
          <p:txBody>
            <a:bodyPr wrap="none" lIns="0" tIns="0" rIns="0" bIns="0" anchor="t" anchorCtr="0">
              <a:spAutoFit/>
            </a:bodyPr>
            <a:lstStyle/>
            <a:p>
              <a:pPr algn="l"/>
              <a:r>
                <a:rPr lang="zh-CN" sz="1275" b="1" dirty="0">
                  <a:solidFill>
                    <a:srgbClr val="0F2740"/>
                  </a:solidFill>
                  <a:latin typeface="Segoe UI"/>
                  <a:ea typeface="Microsoft YaHei"/>
                  <a:cs typeface="Segoe UI"/>
                </a:rPr>
                <a:t>后验整体传播</a:t>
              </a:r>
            </a:p>
          </p:txBody>
        </p:sp>
        <p:sp>
          <p:nvSpPr>
            <p:cNvPr id="19" name="TextBox 19"/>
            <p:cNvSpPr txBox="1"/>
            <p:nvPr/>
          </p:nvSpPr>
          <p:spPr>
            <a:xfrm>
              <a:off x="8424862" y="3345656"/>
              <a:ext cx="1835944"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不是先取均值再算指标，</a:t>
              </a:r>
            </a:p>
          </p:txBody>
        </p:sp>
        <p:sp>
          <p:nvSpPr>
            <p:cNvPr id="20" name="TextBox 20"/>
            <p:cNvSpPr txBox="1"/>
            <p:nvPr/>
          </p:nvSpPr>
          <p:spPr>
            <a:xfrm>
              <a:off x="8424862" y="3555206"/>
              <a:ext cx="2000250"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而是每个后验抽样都算一遍</a:t>
              </a:r>
            </a:p>
          </p:txBody>
        </p:sp>
      </p:grpSp>
      <p:grpSp>
        <p:nvGrpSpPr>
          <p:cNvPr id="27" name="Group 27"/>
          <p:cNvGrpSpPr/>
          <p:nvPr/>
        </p:nvGrpSpPr>
        <p:grpSpPr>
          <a:xfrm>
            <a:off x="8039100" y="3977164"/>
            <a:ext cx="1995336" cy="701992"/>
            <a:chOff x="8039100" y="3977164"/>
            <a:chExt cx="1995336" cy="701992"/>
          </a:xfrm>
        </p:grpSpPr>
        <p:sp>
          <p:nvSpPr>
            <p:cNvPr id="22" name="Ellipse 22"/>
            <p:cNvSpPr/>
            <p:nvPr/>
          </p:nvSpPr>
          <p:spPr>
            <a:xfrm>
              <a:off x="8039100" y="4019550"/>
              <a:ext cx="266700" cy="266700"/>
            </a:xfrm>
            <a:prstGeom prst="ellipse">
              <a:avLst/>
            </a:prstGeom>
            <a:solidFill>
              <a:srgbClr val="2E75B6"/>
            </a:solidFill>
            <a:ln>
              <a:noFill/>
            </a:ln>
          </p:spPr>
        </p:sp>
        <p:sp>
          <p:nvSpPr>
            <p:cNvPr id="23" name="TextBox 23"/>
            <p:cNvSpPr txBox="1"/>
            <p:nvPr/>
          </p:nvSpPr>
          <p:spPr>
            <a:xfrm>
              <a:off x="8114413" y="4096702"/>
              <a:ext cx="11607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3</a:t>
              </a:r>
            </a:p>
          </p:txBody>
        </p:sp>
        <p:sp>
          <p:nvSpPr>
            <p:cNvPr id="24" name="TextBox 24"/>
            <p:cNvSpPr txBox="1"/>
            <p:nvPr/>
          </p:nvSpPr>
          <p:spPr>
            <a:xfrm>
              <a:off x="8422958" y="3977164"/>
              <a:ext cx="1611478" cy="259080"/>
            </a:xfrm>
            <a:prstGeom prst="rect">
              <a:avLst/>
            </a:prstGeom>
            <a:noFill/>
            <a:ln>
              <a:noFill/>
            </a:ln>
          </p:spPr>
          <p:txBody>
            <a:bodyPr wrap="none" lIns="0" tIns="0" rIns="0" bIns="0" anchor="t" anchorCtr="0">
              <a:spAutoFit/>
            </a:bodyPr>
            <a:lstStyle/>
            <a:p>
              <a:pPr algn="l"/>
              <a:r>
                <a:rPr lang="zh-CN" sz="1275" b="1" dirty="0">
                  <a:solidFill>
                    <a:srgbClr val="0F2740"/>
                  </a:solidFill>
                  <a:latin typeface="Segoe UI"/>
                  <a:ea typeface="Microsoft YaHei"/>
                  <a:cs typeface="Segoe UI"/>
                </a:rPr>
                <a:t>四个维度同时评估</a:t>
              </a:r>
            </a:p>
          </p:txBody>
        </p:sp>
        <p:sp>
          <p:nvSpPr>
            <p:cNvPr id="25" name="TextBox 25"/>
            <p:cNvSpPr txBox="1"/>
            <p:nvPr/>
          </p:nvSpPr>
          <p:spPr>
            <a:xfrm>
              <a:off x="8424862" y="4241006"/>
              <a:ext cx="1448181"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分类 / 功能 / beta</a:t>
              </a:r>
            </a:p>
          </p:txBody>
        </p:sp>
        <p:sp>
          <p:nvSpPr>
            <p:cNvPr id="26" name="TextBox 26"/>
            <p:cNvSpPr txBox="1"/>
            <p:nvPr/>
          </p:nvSpPr>
          <p:spPr>
            <a:xfrm>
              <a:off x="8424862" y="4450556"/>
              <a:ext cx="1507331"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（系统发育待重算）</a:t>
              </a:r>
            </a:p>
          </p:txBody>
        </p:sp>
      </p:grpSp>
      <p:grpSp>
        <p:nvGrpSpPr>
          <p:cNvPr id="33" name="Group 33"/>
          <p:cNvGrpSpPr/>
          <p:nvPr/>
        </p:nvGrpSpPr>
        <p:grpSpPr>
          <a:xfrm>
            <a:off x="8039100" y="4872514"/>
            <a:ext cx="2241422" cy="701992"/>
            <a:chOff x="8039100" y="4872514"/>
            <a:chExt cx="2241422" cy="701992"/>
          </a:xfrm>
        </p:grpSpPr>
        <p:sp>
          <p:nvSpPr>
            <p:cNvPr id="28" name="Ellipse 28"/>
            <p:cNvSpPr/>
            <p:nvPr/>
          </p:nvSpPr>
          <p:spPr>
            <a:xfrm>
              <a:off x="8039100" y="4914900"/>
              <a:ext cx="266700" cy="266700"/>
            </a:xfrm>
            <a:prstGeom prst="ellipse">
              <a:avLst/>
            </a:prstGeom>
            <a:solidFill>
              <a:srgbClr val="D97A34"/>
            </a:solidFill>
            <a:ln>
              <a:noFill/>
            </a:ln>
          </p:spPr>
        </p:sp>
        <p:sp>
          <p:nvSpPr>
            <p:cNvPr id="29" name="TextBox 29"/>
            <p:cNvSpPr txBox="1"/>
            <p:nvPr/>
          </p:nvSpPr>
          <p:spPr>
            <a:xfrm>
              <a:off x="8114413" y="4992052"/>
              <a:ext cx="11607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4</a:t>
              </a:r>
            </a:p>
          </p:txBody>
        </p:sp>
        <p:sp>
          <p:nvSpPr>
            <p:cNvPr id="30" name="TextBox 30"/>
            <p:cNvSpPr txBox="1"/>
            <p:nvPr/>
          </p:nvSpPr>
          <p:spPr>
            <a:xfrm>
              <a:off x="8422958" y="4872514"/>
              <a:ext cx="1414091" cy="259080"/>
            </a:xfrm>
            <a:prstGeom prst="rect">
              <a:avLst/>
            </a:prstGeom>
            <a:noFill/>
            <a:ln>
              <a:noFill/>
            </a:ln>
          </p:spPr>
          <p:txBody>
            <a:bodyPr wrap="none" lIns="0" tIns="0" rIns="0" bIns="0" anchor="t" anchorCtr="0">
              <a:spAutoFit/>
            </a:bodyPr>
            <a:lstStyle/>
            <a:p>
              <a:pPr algn="l"/>
              <a:r>
                <a:rPr lang="zh-CN" sz="1275" b="1" dirty="0">
                  <a:solidFill>
                    <a:srgbClr val="B3611F"/>
                  </a:solidFill>
                  <a:latin typeface="Segoe UI"/>
                  <a:ea typeface="Microsoft YaHei"/>
                  <a:cs typeface="Segoe UI"/>
                </a:rPr>
                <a:t>朴素与校正对比</a:t>
              </a:r>
            </a:p>
          </p:txBody>
        </p:sp>
        <p:sp>
          <p:nvSpPr>
            <p:cNvPr id="31" name="TextBox 31"/>
            <p:cNvSpPr txBox="1"/>
            <p:nvPr/>
          </p:nvSpPr>
          <p:spPr>
            <a:xfrm>
              <a:off x="8424862" y="5136356"/>
              <a:ext cx="1855660"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量化"不校正会错多少"，</a:t>
              </a:r>
            </a:p>
          </p:txBody>
        </p:sp>
        <p:sp>
          <p:nvSpPr>
            <p:cNvPr id="32" name="TextBox 32"/>
            <p:cNvSpPr txBox="1"/>
            <p:nvPr/>
          </p:nvSpPr>
          <p:spPr>
            <a:xfrm>
              <a:off x="8424862" y="5345906"/>
              <a:ext cx="1835944"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定位最易误导监测的格点</a:t>
              </a:r>
            </a:p>
          </p:txBody>
        </p:sp>
      </p:grpSp>
      <p:sp>
        <p:nvSpPr>
          <p:cNvPr id="34" name="TextBox 34"/>
          <p:cNvSpPr txBox="1"/>
          <p:nvPr/>
        </p:nvSpPr>
        <p:spPr>
          <a:xfrm>
            <a:off x="672465" y="6039802"/>
            <a:ext cx="6004350"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来源：Fig 1，本研究（GCB 稿件 v6） | 模型实现：spOccupancy（Doser et al. 2022）</a:t>
            </a:r>
          </a:p>
        </p:txBody>
      </p:sp>
      <p:sp>
        <p:nvSpPr>
          <p:cNvPr id="35" name="TextBox 35"/>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13</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7948390"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主模型做空间推断，500 种模型只做广度检验</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419397" y="801052"/>
            <a:ext cx="110013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二、数据与方法</a:t>
            </a:r>
          </a:p>
        </p:txBody>
      </p:sp>
      <p:sp>
        <p:nvSpPr>
          <p:cNvPr id="6" name="Rectangle 6"/>
          <p:cNvSpPr/>
          <p:nvPr/>
        </p:nvSpPr>
        <p:spPr>
          <a:xfrm>
            <a:off x="685800" y="1447800"/>
            <a:ext cx="5257800" cy="3143250"/>
          </a:xfrm>
          <a:prstGeom prst="roundRect">
            <a:avLst>
              <a:gd name="adj" fmla="val 3030"/>
            </a:avLst>
          </a:prstGeom>
          <a:solidFill>
            <a:srgbClr val="12395E"/>
          </a:solidFill>
          <a:ln>
            <a:noFill/>
          </a:ln>
        </p:spPr>
      </p:sp>
      <p:sp>
        <p:nvSpPr>
          <p:cNvPr id="7" name="Rectangle 7"/>
          <p:cNvSpPr/>
          <p:nvPr/>
        </p:nvSpPr>
        <p:spPr>
          <a:xfrm>
            <a:off x="685800" y="1447800"/>
            <a:ext cx="47625" cy="3143250"/>
          </a:xfrm>
          <a:prstGeom prst="roundRect">
            <a:avLst>
              <a:gd name="adj" fmla="val 50000"/>
            </a:avLst>
          </a:prstGeom>
          <a:solidFill>
            <a:srgbClr val="2E75B6"/>
          </a:solidFill>
          <a:ln>
            <a:noFill/>
          </a:ln>
        </p:spPr>
      </p:sp>
      <p:sp>
        <p:nvSpPr>
          <p:cNvPr id="8" name="TextBox 8"/>
          <p:cNvSpPr txBox="1"/>
          <p:nvPr/>
        </p:nvSpPr>
        <p:spPr>
          <a:xfrm>
            <a:off x="976312" y="1707356"/>
            <a:ext cx="2146483" cy="228600"/>
          </a:xfrm>
          <a:prstGeom prst="rect">
            <a:avLst/>
          </a:prstGeom>
          <a:noFill/>
          <a:ln>
            <a:noFill/>
          </a:ln>
        </p:spPr>
        <p:txBody>
          <a:bodyPr wrap="none" lIns="0" tIns="0" rIns="0" bIns="0" anchor="t" anchorCtr="0">
            <a:spAutoFit/>
          </a:bodyPr>
          <a:lstStyle/>
          <a:p>
            <a:pPr algn="l"/>
            <a:r>
              <a:rPr lang="zh-CN" sz="1125" dirty="0">
                <a:solidFill>
                  <a:srgbClr val="9FC7EA"/>
                </a:solidFill>
                <a:latin typeface="Segoe UI"/>
                <a:ea typeface="Microsoft YaHei"/>
                <a:cs typeface="Segoe UI"/>
              </a:rPr>
              <a:t>主模型 PRIMARY INFERENCE</a:t>
            </a:r>
          </a:p>
        </p:txBody>
      </p:sp>
      <p:sp>
        <p:nvSpPr>
          <p:cNvPr id="9" name="TextBox 9"/>
          <p:cNvSpPr txBox="1"/>
          <p:nvPr/>
        </p:nvSpPr>
        <p:spPr>
          <a:xfrm>
            <a:off x="965835" y="1999298"/>
            <a:ext cx="2651782"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Segoe UI"/>
                <a:ea typeface="Microsoft YaHei"/>
                <a:cs typeface="Segoe UI"/>
              </a:rPr>
              <a:t>stMsPGOcc 200 种</a:t>
            </a:r>
          </a:p>
        </p:txBody>
      </p:sp>
      <p:sp>
        <p:nvSpPr>
          <p:cNvPr id="10" name="Rectangle 10"/>
          <p:cNvSpPr/>
          <p:nvPr/>
        </p:nvSpPr>
        <p:spPr>
          <a:xfrm>
            <a:off x="990600" y="2400300"/>
            <a:ext cx="4648200" cy="9525"/>
          </a:xfrm>
          <a:prstGeom prst="rect">
            <a:avLst/>
          </a:prstGeom>
          <a:solidFill>
            <a:srgbClr val="3D5F80"/>
          </a:solidFill>
          <a:ln>
            <a:noFill/>
          </a:ln>
        </p:spPr>
      </p:sp>
      <p:sp>
        <p:nvSpPr>
          <p:cNvPr id="11" name="TextBox 11"/>
          <p:cNvSpPr txBox="1"/>
          <p:nvPr/>
        </p:nvSpPr>
        <p:spPr>
          <a:xfrm>
            <a:off x="974408" y="2605564"/>
            <a:ext cx="3734314"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 空间：NNGP 空间随机效应（指数协方差）</a:t>
            </a:r>
          </a:p>
        </p:txBody>
      </p:sp>
      <p:sp>
        <p:nvSpPr>
          <p:cNvPr id="12" name="TextBox 12"/>
          <p:cNvSpPr txBox="1"/>
          <p:nvPr/>
        </p:nvSpPr>
        <p:spPr>
          <a:xfrm>
            <a:off x="974408" y="2891314"/>
            <a:ext cx="2160808"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 时间：AR(1) 动态结构</a:t>
            </a:r>
          </a:p>
        </p:txBody>
      </p:sp>
      <p:sp>
        <p:nvSpPr>
          <p:cNvPr id="13" name="TextBox 13"/>
          <p:cNvSpPr txBox="1"/>
          <p:nvPr/>
        </p:nvSpPr>
        <p:spPr>
          <a:xfrm>
            <a:off x="974408" y="3177064"/>
            <a:ext cx="4188676"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 占域协变量：气候、地形、土地覆盖、人类足迹</a:t>
            </a:r>
          </a:p>
        </p:txBody>
      </p:sp>
      <p:sp>
        <p:nvSpPr>
          <p:cNvPr id="14" name="TextBox 14"/>
          <p:cNvSpPr txBox="1"/>
          <p:nvPr/>
        </p:nvSpPr>
        <p:spPr>
          <a:xfrm>
            <a:off x="974408" y="3462814"/>
            <a:ext cx="3905631"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 检测协变量：log_events、log_duration、</a:t>
            </a:r>
          </a:p>
        </p:txBody>
      </p:sp>
      <p:sp>
        <p:nvSpPr>
          <p:cNvPr id="15" name="TextBox 15"/>
          <p:cNvSpPr txBox="1"/>
          <p:nvPr/>
        </p:nvSpPr>
        <p:spPr>
          <a:xfrm>
            <a:off x="1203008" y="3710464"/>
            <a:ext cx="2721312"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has_duration（来源项待补算）</a:t>
            </a:r>
          </a:p>
        </p:txBody>
      </p:sp>
      <p:sp>
        <p:nvSpPr>
          <p:cNvPr id="16" name="Rectangle 16"/>
          <p:cNvSpPr/>
          <p:nvPr/>
        </p:nvSpPr>
        <p:spPr>
          <a:xfrm>
            <a:off x="990600" y="4076700"/>
            <a:ext cx="4648200" cy="342900"/>
          </a:xfrm>
          <a:prstGeom prst="roundRect">
            <a:avLst>
              <a:gd name="adj" fmla="val 16667"/>
            </a:avLst>
          </a:prstGeom>
          <a:solidFill>
            <a:srgbClr val="1E4E7A"/>
          </a:solidFill>
          <a:ln>
            <a:noFill/>
          </a:ln>
        </p:spPr>
      </p:sp>
      <p:sp>
        <p:nvSpPr>
          <p:cNvPr id="17" name="TextBox 17"/>
          <p:cNvSpPr txBox="1"/>
          <p:nvPr/>
        </p:nvSpPr>
        <p:spPr>
          <a:xfrm>
            <a:off x="1165860" y="4175760"/>
            <a:ext cx="3931768" cy="243840"/>
          </a:xfrm>
          <a:prstGeom prst="rect">
            <a:avLst/>
          </a:prstGeom>
          <a:noFill/>
          <a:ln>
            <a:noFill/>
          </a:ln>
        </p:spPr>
        <p:txBody>
          <a:bodyPr wrap="none" lIns="0" tIns="0" rIns="0" bIns="0" anchor="t" anchorCtr="0">
            <a:spAutoFit/>
          </a:bodyPr>
          <a:lstStyle/>
          <a:p>
            <a:pPr algn="l"/>
            <a:r>
              <a:rPr lang="zh-CN" sz="1200" b="1" dirty="0">
                <a:solidFill>
                  <a:srgbClr val="9FC7EA"/>
                </a:solidFill>
                <a:latin typeface="Segoe UI"/>
                <a:ea typeface="Microsoft YaHei"/>
                <a:cs typeface="Segoe UI"/>
              </a:rPr>
              <a:t>唯一的空间推断依据：所有地图与空间机制结论</a:t>
            </a:r>
          </a:p>
        </p:txBody>
      </p:sp>
      <p:sp>
        <p:nvSpPr>
          <p:cNvPr id="18" name="Rectangle 18"/>
          <p:cNvSpPr/>
          <p:nvPr/>
        </p:nvSpPr>
        <p:spPr>
          <a:xfrm>
            <a:off x="6248400" y="1447800"/>
            <a:ext cx="5257800" cy="3143250"/>
          </a:xfrm>
          <a:prstGeom prst="roundRect">
            <a:avLst>
              <a:gd name="adj" fmla="val 3030"/>
            </a:avLst>
          </a:prstGeom>
          <a:solidFill>
            <a:srgbClr val="F4F7FA"/>
          </a:solidFill>
          <a:ln>
            <a:noFill/>
          </a:ln>
        </p:spPr>
      </p:sp>
      <p:sp>
        <p:nvSpPr>
          <p:cNvPr id="19" name="Rectangle 19"/>
          <p:cNvSpPr/>
          <p:nvPr/>
        </p:nvSpPr>
        <p:spPr>
          <a:xfrm>
            <a:off x="6248400" y="1447800"/>
            <a:ext cx="47625" cy="3143250"/>
          </a:xfrm>
          <a:prstGeom prst="roundRect">
            <a:avLst>
              <a:gd name="adj" fmla="val 50000"/>
            </a:avLst>
          </a:prstGeom>
          <a:solidFill>
            <a:srgbClr val="B7C4D1"/>
          </a:solidFill>
          <a:ln>
            <a:noFill/>
          </a:ln>
        </p:spPr>
      </p:sp>
      <p:sp>
        <p:nvSpPr>
          <p:cNvPr id="20" name="TextBox 20"/>
          <p:cNvSpPr txBox="1"/>
          <p:nvPr/>
        </p:nvSpPr>
        <p:spPr>
          <a:xfrm>
            <a:off x="6538912" y="1707356"/>
            <a:ext cx="1803082"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广度检验 BREADTH TEST</a:t>
            </a:r>
          </a:p>
        </p:txBody>
      </p:sp>
      <p:sp>
        <p:nvSpPr>
          <p:cNvPr id="21" name="TextBox 21"/>
          <p:cNvSpPr txBox="1"/>
          <p:nvPr/>
        </p:nvSpPr>
        <p:spPr>
          <a:xfrm>
            <a:off x="6528435" y="1999298"/>
            <a:ext cx="2482726" cy="396240"/>
          </a:xfrm>
          <a:prstGeom prst="rect">
            <a:avLst/>
          </a:prstGeom>
          <a:noFill/>
          <a:ln>
            <a:noFill/>
          </a:ln>
        </p:spPr>
        <p:txBody>
          <a:bodyPr wrap="none" lIns="0" tIns="0" rIns="0" bIns="0" anchor="t" anchorCtr="0">
            <a:spAutoFit/>
          </a:bodyPr>
          <a:lstStyle/>
          <a:p>
            <a:pPr algn="l"/>
            <a:r>
              <a:rPr lang="zh-CN" sz="1950" b="1" dirty="0">
                <a:solidFill>
                  <a:srgbClr val="0F2740"/>
                </a:solidFill>
                <a:latin typeface="Segoe UI"/>
                <a:ea typeface="Microsoft YaHei"/>
                <a:cs typeface="Segoe UI"/>
              </a:rPr>
              <a:t>tMsPGOcc 500 种</a:t>
            </a:r>
          </a:p>
        </p:txBody>
      </p:sp>
      <p:sp>
        <p:nvSpPr>
          <p:cNvPr id="22" name="Rectangle 22"/>
          <p:cNvSpPr/>
          <p:nvPr/>
        </p:nvSpPr>
        <p:spPr>
          <a:xfrm>
            <a:off x="6553200" y="2400300"/>
            <a:ext cx="4648200" cy="9525"/>
          </a:xfrm>
          <a:prstGeom prst="rect">
            <a:avLst/>
          </a:prstGeom>
          <a:solidFill>
            <a:srgbClr val="D8DFE7"/>
          </a:solidFill>
          <a:ln>
            <a:noFill/>
          </a:ln>
        </p:spPr>
      </p:sp>
      <p:sp>
        <p:nvSpPr>
          <p:cNvPr id="23" name="TextBox 23"/>
          <p:cNvSpPr txBox="1"/>
          <p:nvPr/>
        </p:nvSpPr>
        <p:spPr>
          <a:xfrm>
            <a:off x="6537008" y="2605564"/>
            <a:ext cx="3147741"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 时间模型，AR(1) + 10 个潜在因子</a:t>
            </a:r>
          </a:p>
        </p:txBody>
      </p:sp>
      <p:sp>
        <p:nvSpPr>
          <p:cNvPr id="24" name="TextBox 24"/>
          <p:cNvSpPr txBox="1"/>
          <p:nvPr/>
        </p:nvSpPr>
        <p:spPr>
          <a:xfrm>
            <a:off x="6537008" y="2891314"/>
            <a:ext cx="2566754"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 为控制 500 种的内存开销，</a:t>
            </a:r>
          </a:p>
        </p:txBody>
      </p:sp>
      <p:sp>
        <p:nvSpPr>
          <p:cNvPr id="25" name="TextBox 25"/>
          <p:cNvSpPr txBox="1"/>
          <p:nvPr/>
        </p:nvSpPr>
        <p:spPr>
          <a:xfrm>
            <a:off x="6765608" y="3138964"/>
            <a:ext cx="2058391"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刻意省略 NNGP 空间结构</a:t>
            </a:r>
          </a:p>
        </p:txBody>
      </p:sp>
      <p:sp>
        <p:nvSpPr>
          <p:cNvPr id="26" name="TextBox 26"/>
          <p:cNvSpPr txBox="1"/>
          <p:nvPr/>
        </p:nvSpPr>
        <p:spPr>
          <a:xfrm>
            <a:off x="6537008" y="3424714"/>
            <a:ext cx="2512752"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 用途：检验主结论是否只是</a:t>
            </a:r>
          </a:p>
        </p:txBody>
      </p:sp>
      <p:sp>
        <p:nvSpPr>
          <p:cNvPr id="27" name="TextBox 27"/>
          <p:cNvSpPr txBox="1"/>
          <p:nvPr/>
        </p:nvSpPr>
        <p:spPr>
          <a:xfrm>
            <a:off x="6765608" y="3672364"/>
            <a:ext cx="1516509"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200 种子集的产物</a:t>
            </a:r>
          </a:p>
        </p:txBody>
      </p:sp>
      <p:sp>
        <p:nvSpPr>
          <p:cNvPr id="28" name="Rectangle 28"/>
          <p:cNvSpPr/>
          <p:nvPr/>
        </p:nvSpPr>
        <p:spPr>
          <a:xfrm>
            <a:off x="6553200" y="4076700"/>
            <a:ext cx="4648200" cy="342900"/>
          </a:xfrm>
          <a:prstGeom prst="roundRect">
            <a:avLst>
              <a:gd name="adj" fmla="val 16667"/>
            </a:avLst>
          </a:prstGeom>
          <a:solidFill>
            <a:srgbClr val="FDF4EC"/>
          </a:solidFill>
          <a:ln>
            <a:noFill/>
          </a:ln>
        </p:spPr>
      </p:sp>
      <p:sp>
        <p:nvSpPr>
          <p:cNvPr id="29" name="TextBox 29"/>
          <p:cNvSpPr txBox="1"/>
          <p:nvPr/>
        </p:nvSpPr>
        <p:spPr>
          <a:xfrm>
            <a:off x="6728460" y="4175760"/>
            <a:ext cx="3188665" cy="243840"/>
          </a:xfrm>
          <a:prstGeom prst="rect">
            <a:avLst/>
          </a:prstGeom>
          <a:noFill/>
          <a:ln>
            <a:noFill/>
          </a:ln>
        </p:spPr>
        <p:txBody>
          <a:bodyPr wrap="none" lIns="0" tIns="0" rIns="0" bIns="0" anchor="t" anchorCtr="0">
            <a:spAutoFit/>
          </a:bodyPr>
          <a:lstStyle/>
          <a:p>
            <a:pPr algn="l"/>
            <a:r>
              <a:rPr lang="zh-CN" sz="1200" b="1" dirty="0">
                <a:solidFill>
                  <a:srgbClr val="B3611F"/>
                </a:solidFill>
                <a:latin typeface="Segoe UI"/>
                <a:ea typeface="Microsoft YaHei"/>
                <a:cs typeface="Segoe UI"/>
              </a:rPr>
              <a:t>非空间：任何空间结论都不能用它支撑</a:t>
            </a:r>
          </a:p>
        </p:txBody>
      </p:sp>
      <p:sp>
        <p:nvSpPr>
          <p:cNvPr id="30" name="Rectangle 30"/>
          <p:cNvSpPr/>
          <p:nvPr/>
        </p:nvSpPr>
        <p:spPr>
          <a:xfrm>
            <a:off x="685800" y="4876800"/>
            <a:ext cx="10820400" cy="914400"/>
          </a:xfrm>
          <a:prstGeom prst="roundRect">
            <a:avLst>
              <a:gd name="adj" fmla="val 10417"/>
            </a:avLst>
          </a:prstGeom>
          <a:solidFill>
            <a:srgbClr val="FFFFFF"/>
          </a:solidFill>
          <a:ln w="9525">
            <a:solidFill>
              <a:srgbClr val="D8DFE7"/>
            </a:solidFill>
          </a:ln>
        </p:spPr>
      </p:sp>
      <p:sp>
        <p:nvSpPr>
          <p:cNvPr id="31" name="TextBox 31"/>
          <p:cNvSpPr txBox="1"/>
          <p:nvPr/>
        </p:nvSpPr>
        <p:spPr>
          <a:xfrm>
            <a:off x="971550" y="5057775"/>
            <a:ext cx="1463928" cy="304800"/>
          </a:xfrm>
          <a:prstGeom prst="rect">
            <a:avLst/>
          </a:prstGeom>
          <a:noFill/>
          <a:ln>
            <a:noFill/>
          </a:ln>
        </p:spPr>
        <p:txBody>
          <a:bodyPr wrap="none" lIns="0" tIns="0" rIns="0" bIns="0" anchor="t" anchorCtr="0">
            <a:spAutoFit/>
          </a:bodyPr>
          <a:lstStyle/>
          <a:p>
            <a:pPr algn="l"/>
            <a:r>
              <a:rPr lang="zh-CN" sz="1500" b="1" dirty="0">
                <a:solidFill>
                  <a:srgbClr val="12395E"/>
                </a:solidFill>
                <a:latin typeface="Segoe UI"/>
                <a:ea typeface="Microsoft YaHei"/>
                <a:cs typeface="Segoe UI"/>
              </a:rPr>
              <a:t>MCMC 与诊断</a:t>
            </a:r>
          </a:p>
        </p:txBody>
      </p:sp>
      <p:sp>
        <p:nvSpPr>
          <p:cNvPr id="32" name="TextBox 32"/>
          <p:cNvSpPr txBox="1"/>
          <p:nvPr/>
        </p:nvSpPr>
        <p:spPr>
          <a:xfrm>
            <a:off x="2841308" y="5082064"/>
            <a:ext cx="4721247"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4 链 · burn-in 5,000 · thin 2 · 每链 1,250 后验抽样</a:t>
            </a:r>
          </a:p>
        </p:txBody>
      </p:sp>
      <p:sp>
        <p:nvSpPr>
          <p:cNvPr id="33" name="TextBox 33"/>
          <p:cNvSpPr txBox="1"/>
          <p:nvPr/>
        </p:nvSpPr>
        <p:spPr>
          <a:xfrm>
            <a:off x="974408" y="5444014"/>
            <a:ext cx="8534905" cy="259080"/>
          </a:xfrm>
          <a:prstGeom prst="rect">
            <a:avLst/>
          </a:prstGeom>
          <a:noFill/>
          <a:ln>
            <a:noFill/>
          </a:ln>
        </p:spPr>
        <p:txBody>
          <a:bodyPr wrap="none" lIns="0" tIns="0" rIns="0" bIns="0" anchor="t" anchorCtr="0">
            <a:spAutoFit/>
          </a:bodyPr>
          <a:lstStyle/>
          <a:p>
            <a:pPr algn="l"/>
            <a:r>
              <a:rPr lang="zh-CN" sz="1275" b="1" dirty="0">
                <a:solidFill>
                  <a:srgbClr val="2E75B6"/>
                </a:solidFill>
                <a:latin typeface="Segoe UI"/>
                <a:ea typeface="Microsoft YaHei"/>
                <a:cs typeface="Segoe UI"/>
              </a:rPr>
              <a:t>max R-hat = 1.039</a:t>
            </a:r>
            <a:r>
              <a:rPr lang="zh-CN" sz="1275" dirty="0">
                <a:solidFill>
                  <a:srgbClr val="0F2740"/>
                </a:solidFill>
                <a:latin typeface="Segoe UI"/>
                <a:ea typeface="Microsoft YaHei"/>
                <a:cs typeface="Segoe UI"/>
              </a:rPr>
              <a:t xml:space="preserve"> </a:t>
            </a:r>
            <a:r>
              <a:rPr lang="zh-CN" sz="1275" dirty="0">
                <a:solidFill>
                  <a:srgbClr val="5A6B7C"/>
                </a:solidFill>
                <a:latin typeface="Segoe UI"/>
                <a:ea typeface="Microsoft YaHei"/>
                <a:cs typeface="Segoe UI"/>
              </a:rPr>
              <a:t>（38 个群体级参数全部 &lt; 1.05）</a:t>
            </a:r>
            <a:r>
              <a:rPr lang="zh-CN" sz="1275" dirty="0">
                <a:solidFill>
                  <a:srgbClr val="0F2740"/>
                </a:solidFill>
                <a:latin typeface="Segoe UI"/>
                <a:ea typeface="Microsoft YaHei"/>
                <a:cs typeface="Segoe UI"/>
              </a:rPr>
              <a:t xml:space="preserve"> </a:t>
            </a:r>
            <a:r>
              <a:rPr lang="zh-CN" sz="1275" b="1" dirty="0">
                <a:solidFill>
                  <a:srgbClr val="2E75B6"/>
                </a:solidFill>
                <a:latin typeface="Segoe UI"/>
                <a:ea typeface="Microsoft YaHei"/>
                <a:cs typeface="Segoe UI"/>
              </a:rPr>
              <a:t xml:space="preserve"> min ESS = 70</a:t>
            </a:r>
            <a:r>
              <a:rPr lang="zh-CN" sz="1275" dirty="0">
                <a:solidFill>
                  <a:srgbClr val="0F2740"/>
                </a:solidFill>
                <a:latin typeface="Segoe UI"/>
                <a:ea typeface="Microsoft YaHei"/>
                <a:cs typeface="Segoe UI"/>
              </a:rPr>
              <a:t xml:space="preserve"> </a:t>
            </a:r>
            <a:r>
              <a:rPr lang="zh-CN" sz="1275" dirty="0">
                <a:solidFill>
                  <a:srgbClr val="5A6B7C"/>
                </a:solidFill>
                <a:latin typeface="Segoe UI"/>
                <a:ea typeface="Microsoft YaHei"/>
                <a:cs typeface="Segoe UI"/>
              </a:rPr>
              <a:t>（仅 25/38 达 1.01，计划重拟合）</a:t>
            </a:r>
          </a:p>
        </p:txBody>
      </p:sp>
      <p:sp>
        <p:nvSpPr>
          <p:cNvPr id="34" name="TextBox 34"/>
          <p:cNvSpPr txBox="1"/>
          <p:nvPr/>
        </p:nvSpPr>
        <p:spPr>
          <a:xfrm>
            <a:off x="672465" y="6039802"/>
            <a:ext cx="4989157"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来源：4 链收敛诊断表（results_v3）；GCB 稿件 v6 方法与补充材料 S4</a:t>
            </a:r>
          </a:p>
        </p:txBody>
      </p:sp>
      <p:sp>
        <p:nvSpPr>
          <p:cNvPr id="35" name="TextBox 35"/>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14</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12395E"/>
          </a:solidFill>
          <a:ln>
            <a:noFill/>
          </a:ln>
        </p:spPr>
      </p:sp>
      <p:sp>
        <p:nvSpPr>
          <p:cNvPr id="3" name="Rectangle 3"/>
          <p:cNvSpPr/>
          <p:nvPr/>
        </p:nvSpPr>
        <p:spPr>
          <a:xfrm>
            <a:off x="0" y="0"/>
            <a:ext cx="12192000" cy="6858000"/>
          </a:xfrm>
          <a:prstGeom prst="rect">
            <a:avLst/>
          </a:prstGeom>
          <a:solidFill>
            <a:srgbClr val="0F2740">
              <a:alpha val="25000"/>
            </a:srgbClr>
          </a:solidFill>
          <a:ln>
            <a:noFill/>
          </a:ln>
        </p:spPr>
      </p:sp>
      <p:grpSp>
        <p:nvGrpSpPr>
          <p:cNvPr id="8" name="Group 8"/>
          <p:cNvGrpSpPr/>
          <p:nvPr/>
        </p:nvGrpSpPr>
        <p:grpSpPr>
          <a:xfrm>
            <a:off x="8953500" y="2695575"/>
            <a:ext cx="2066925" cy="1847850"/>
            <a:chOff x="8953500" y="2695575"/>
            <a:chExt cx="2066925" cy="1847850"/>
          </a:xfrm>
        </p:grpSpPr>
        <p:sp>
          <p:nvSpPr>
            <p:cNvPr id="4" name="Polyline 4"/>
            <p:cNvSpPr/>
            <p:nvPr/>
          </p:nvSpPr>
          <p:spPr>
            <a:xfrm>
              <a:off x="8953500" y="2762250"/>
              <a:ext cx="2000250" cy="1238250"/>
            </a:xfrm>
            <a:custGeom>
              <a:avLst/>
              <a:gdLst/>
              <a:ahLst/>
              <a:cxnLst/>
              <a:rect l="l" t="t" r="r" b="b"/>
              <a:pathLst>
                <a:path w="2000250" h="1238250">
                  <a:moveTo>
                    <a:pt x="0" y="1238250"/>
                  </a:moveTo>
                  <a:lnTo>
                    <a:pt x="666750" y="952500"/>
                  </a:lnTo>
                  <a:lnTo>
                    <a:pt x="1333500" y="571500"/>
                  </a:lnTo>
                  <a:lnTo>
                    <a:pt x="2000250" y="0"/>
                  </a:lnTo>
                </a:path>
              </a:pathLst>
            </a:custGeom>
            <a:noFill/>
            <a:ln w="38100" cap="rnd">
              <a:solidFill>
                <a:srgbClr val="2E75B6">
                  <a:alpha val="30000"/>
                </a:srgbClr>
              </a:solidFill>
            </a:ln>
          </p:spPr>
        </p:sp>
        <p:sp>
          <p:nvSpPr>
            <p:cNvPr id="5" name="Polyline 5"/>
            <p:cNvSpPr/>
            <p:nvPr/>
          </p:nvSpPr>
          <p:spPr>
            <a:xfrm>
              <a:off x="8953500" y="4095750"/>
              <a:ext cx="2000250" cy="381000"/>
            </a:xfrm>
            <a:custGeom>
              <a:avLst/>
              <a:gdLst/>
              <a:ahLst/>
              <a:cxnLst/>
              <a:rect l="l" t="t" r="r" b="b"/>
              <a:pathLst>
                <a:path w="2000250" h="381000">
                  <a:moveTo>
                    <a:pt x="0" y="0"/>
                  </a:moveTo>
                  <a:lnTo>
                    <a:pt x="666750" y="114300"/>
                  </a:lnTo>
                  <a:lnTo>
                    <a:pt x="1333500" y="209550"/>
                  </a:lnTo>
                  <a:lnTo>
                    <a:pt x="2000250" y="381000"/>
                  </a:lnTo>
                </a:path>
              </a:pathLst>
            </a:custGeom>
            <a:noFill/>
            <a:ln w="38100" cap="rnd">
              <a:solidFill>
                <a:srgbClr val="D97A34">
                  <a:alpha val="30000"/>
                </a:srgbClr>
              </a:solidFill>
            </a:ln>
          </p:spPr>
        </p:sp>
        <p:sp>
          <p:nvSpPr>
            <p:cNvPr id="6" name="Ellipse 6"/>
            <p:cNvSpPr/>
            <p:nvPr/>
          </p:nvSpPr>
          <p:spPr>
            <a:xfrm>
              <a:off x="10887075" y="2695575"/>
              <a:ext cx="133350" cy="133350"/>
            </a:xfrm>
            <a:prstGeom prst="ellipse">
              <a:avLst/>
            </a:prstGeom>
            <a:solidFill>
              <a:srgbClr val="2E75B6">
                <a:alpha val="30000"/>
              </a:srgbClr>
            </a:solidFill>
            <a:ln>
              <a:noFill/>
            </a:ln>
          </p:spPr>
        </p:sp>
        <p:sp>
          <p:nvSpPr>
            <p:cNvPr id="7" name="Ellipse 7"/>
            <p:cNvSpPr/>
            <p:nvPr/>
          </p:nvSpPr>
          <p:spPr>
            <a:xfrm>
              <a:off x="10887075" y="4410075"/>
              <a:ext cx="133350" cy="133350"/>
            </a:xfrm>
            <a:prstGeom prst="ellipse">
              <a:avLst/>
            </a:prstGeom>
            <a:solidFill>
              <a:srgbClr val="D97A34">
                <a:alpha val="30000"/>
              </a:srgbClr>
            </a:solidFill>
            <a:ln>
              <a:noFill/>
            </a:ln>
          </p:spPr>
        </p:sp>
      </p:grpSp>
      <p:sp>
        <p:nvSpPr>
          <p:cNvPr id="9" name="TextBox 9"/>
          <p:cNvSpPr txBox="1"/>
          <p:nvPr/>
        </p:nvSpPr>
        <p:spPr>
          <a:xfrm>
            <a:off x="11092815" y="2706052"/>
            <a:ext cx="333375" cy="213360"/>
          </a:xfrm>
          <a:prstGeom prst="rect">
            <a:avLst/>
          </a:prstGeom>
          <a:noFill/>
          <a:ln>
            <a:noFill/>
          </a:ln>
        </p:spPr>
        <p:txBody>
          <a:bodyPr wrap="none" lIns="0" tIns="0" rIns="0" bIns="0" anchor="t" anchorCtr="0">
            <a:spAutoFit/>
          </a:bodyPr>
          <a:lstStyle/>
          <a:p>
            <a:pPr algn="l"/>
            <a:r>
              <a:rPr lang="zh-CN" sz="1050" dirty="0">
                <a:solidFill>
                  <a:srgbClr val="7FA8CC"/>
                </a:solidFill>
                <a:latin typeface="Segoe UI"/>
                <a:ea typeface="Microsoft YaHei"/>
                <a:cs typeface="Segoe UI"/>
              </a:rPr>
              <a:t>分类</a:t>
            </a:r>
          </a:p>
        </p:txBody>
      </p:sp>
      <p:sp>
        <p:nvSpPr>
          <p:cNvPr id="10" name="TextBox 10"/>
          <p:cNvSpPr txBox="1"/>
          <p:nvPr/>
        </p:nvSpPr>
        <p:spPr>
          <a:xfrm>
            <a:off x="11092815" y="4420552"/>
            <a:ext cx="333375" cy="213360"/>
          </a:xfrm>
          <a:prstGeom prst="rect">
            <a:avLst/>
          </a:prstGeom>
          <a:noFill/>
          <a:ln>
            <a:noFill/>
          </a:ln>
        </p:spPr>
        <p:txBody>
          <a:bodyPr wrap="none" lIns="0" tIns="0" rIns="0" bIns="0" anchor="t" anchorCtr="0">
            <a:spAutoFit/>
          </a:bodyPr>
          <a:lstStyle/>
          <a:p>
            <a:pPr algn="l"/>
            <a:r>
              <a:rPr lang="zh-CN" sz="1050" dirty="0">
                <a:solidFill>
                  <a:srgbClr val="C98A52"/>
                </a:solidFill>
                <a:latin typeface="Segoe UI"/>
                <a:ea typeface="Microsoft YaHei"/>
                <a:cs typeface="Segoe UI"/>
              </a:rPr>
              <a:t>功能</a:t>
            </a:r>
          </a:p>
        </p:txBody>
      </p:sp>
      <p:sp>
        <p:nvSpPr>
          <p:cNvPr id="11" name="TextBox 11"/>
          <p:cNvSpPr txBox="1"/>
          <p:nvPr/>
        </p:nvSpPr>
        <p:spPr>
          <a:xfrm>
            <a:off x="571500" y="2076450"/>
            <a:ext cx="1761249" cy="1828800"/>
          </a:xfrm>
          <a:prstGeom prst="rect">
            <a:avLst/>
          </a:prstGeom>
          <a:noFill/>
          <a:ln>
            <a:noFill/>
          </a:ln>
        </p:spPr>
        <p:txBody>
          <a:bodyPr wrap="none" lIns="0" tIns="0" rIns="0" bIns="0" anchor="t" anchorCtr="0">
            <a:spAutoFit/>
          </a:bodyPr>
          <a:lstStyle/>
          <a:p>
            <a:pPr algn="l"/>
            <a:r>
              <a:rPr lang="zh-CN" sz="9000" b="1" dirty="0">
                <a:solidFill>
                  <a:srgbClr val="1E4E7A"/>
                </a:solidFill>
                <a:latin typeface="Segoe UI"/>
                <a:ea typeface="Microsoft YaHei"/>
                <a:cs typeface="Segoe UI"/>
              </a:rPr>
              <a:t>03</a:t>
            </a:r>
          </a:p>
        </p:txBody>
      </p:sp>
      <p:sp>
        <p:nvSpPr>
          <p:cNvPr id="12" name="Rectangle 12"/>
          <p:cNvSpPr/>
          <p:nvPr/>
        </p:nvSpPr>
        <p:spPr>
          <a:xfrm>
            <a:off x="685800" y="3390900"/>
            <a:ext cx="723900" cy="57150"/>
          </a:xfrm>
          <a:prstGeom prst="roundRect">
            <a:avLst>
              <a:gd name="adj" fmla="val 50000"/>
            </a:avLst>
          </a:prstGeom>
          <a:solidFill>
            <a:srgbClr val="D97A34"/>
          </a:solidFill>
          <a:ln>
            <a:noFill/>
          </a:ln>
        </p:spPr>
      </p:sp>
      <p:sp>
        <p:nvSpPr>
          <p:cNvPr id="13" name="TextBox 13"/>
          <p:cNvSpPr txBox="1"/>
          <p:nvPr/>
        </p:nvSpPr>
        <p:spPr>
          <a:xfrm>
            <a:off x="641985" y="3723322"/>
            <a:ext cx="2224049" cy="701040"/>
          </a:xfrm>
          <a:prstGeom prst="rect">
            <a:avLst/>
          </a:prstGeom>
          <a:noFill/>
          <a:ln>
            <a:noFill/>
          </a:ln>
        </p:spPr>
        <p:txBody>
          <a:bodyPr wrap="none" lIns="0" tIns="0" rIns="0" bIns="0" anchor="t" anchorCtr="0">
            <a:spAutoFit/>
          </a:bodyPr>
          <a:lstStyle/>
          <a:p>
            <a:pPr algn="l"/>
            <a:r>
              <a:rPr lang="zh-CN" sz="3450" b="1" dirty="0">
                <a:solidFill>
                  <a:srgbClr val="FFFFFF"/>
                </a:solidFill>
                <a:latin typeface="Segoe UI"/>
                <a:ea typeface="Microsoft YaHei"/>
                <a:cs typeface="Segoe UI"/>
              </a:rPr>
              <a:t>核心发现</a:t>
            </a:r>
          </a:p>
        </p:txBody>
      </p:sp>
      <p:sp>
        <p:nvSpPr>
          <p:cNvPr id="14" name="TextBox 14"/>
          <p:cNvSpPr txBox="1"/>
          <p:nvPr/>
        </p:nvSpPr>
        <p:spPr>
          <a:xfrm>
            <a:off x="666750" y="4467225"/>
            <a:ext cx="5076825" cy="304800"/>
          </a:xfrm>
          <a:prstGeom prst="rect">
            <a:avLst/>
          </a:prstGeom>
          <a:noFill/>
          <a:ln>
            <a:noFill/>
          </a:ln>
        </p:spPr>
        <p:txBody>
          <a:bodyPr wrap="none" lIns="0" tIns="0" rIns="0" bIns="0" anchor="t" anchorCtr="0">
            <a:spAutoFit/>
          </a:bodyPr>
          <a:lstStyle/>
          <a:p>
            <a:pPr algn="l"/>
            <a:r>
              <a:rPr lang="zh-CN" sz="1500" dirty="0">
                <a:solidFill>
                  <a:srgbClr val="9FC7EA"/>
                </a:solidFill>
                <a:latin typeface="Segoe UI"/>
                <a:ea typeface="Microsoft YaHei"/>
                <a:cs typeface="Segoe UI"/>
              </a:rPr>
              <a:t>物种数上升经受住了检测校正，但功能维度没有跟上</a:t>
            </a:r>
          </a:p>
        </p:txBody>
      </p:sp>
      <p:sp>
        <p:nvSpPr>
          <p:cNvPr id="15" name="TextBox 15"/>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6E8CA8"/>
                </a:solidFill>
                <a:latin typeface="Segoe UI"/>
                <a:ea typeface="Microsoft YaHei"/>
                <a:cs typeface="Segoe UI"/>
              </a:rPr>
              <a:t>15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8524759"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H1 成立：检测校正后，物种数仍上升约四分之一</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572750" y="801052"/>
            <a:ext cx="946785"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三、核心发现</a:t>
            </a:r>
          </a:p>
        </p:txBody>
      </p:sp>
      <p:sp>
        <p:nvSpPr>
          <p:cNvPr id="6" name="Rectangle 6"/>
          <p:cNvSpPr/>
          <p:nvPr/>
        </p:nvSpPr>
        <p:spPr>
          <a:xfrm>
            <a:off x="685800" y="1447800"/>
            <a:ext cx="10820400" cy="1428750"/>
          </a:xfrm>
          <a:prstGeom prst="roundRect">
            <a:avLst>
              <a:gd name="adj" fmla="val 6667"/>
            </a:avLst>
          </a:prstGeom>
          <a:solidFill>
            <a:srgbClr val="F4F7FA"/>
          </a:solidFill>
          <a:ln>
            <a:noFill/>
          </a:ln>
        </p:spPr>
      </p:sp>
      <p:sp>
        <p:nvSpPr>
          <p:cNvPr id="7" name="Rectangle 7"/>
          <p:cNvSpPr/>
          <p:nvPr/>
        </p:nvSpPr>
        <p:spPr>
          <a:xfrm>
            <a:off x="685800" y="1447800"/>
            <a:ext cx="47625" cy="1428750"/>
          </a:xfrm>
          <a:prstGeom prst="roundRect">
            <a:avLst>
              <a:gd name="adj" fmla="val 50000"/>
            </a:avLst>
          </a:prstGeom>
          <a:solidFill>
            <a:srgbClr val="2E75B6"/>
          </a:solidFill>
          <a:ln>
            <a:noFill/>
          </a:ln>
        </p:spPr>
      </p:sp>
      <p:sp>
        <p:nvSpPr>
          <p:cNvPr id="8" name="TextBox 8"/>
          <p:cNvSpPr txBox="1"/>
          <p:nvPr/>
        </p:nvSpPr>
        <p:spPr>
          <a:xfrm>
            <a:off x="1051560" y="1699260"/>
            <a:ext cx="3993109"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200 种空间模型 · 每格校正后物种数（全国均值）</a:t>
            </a:r>
          </a:p>
        </p:txBody>
      </p:sp>
      <p:sp>
        <p:nvSpPr>
          <p:cNvPr id="9" name="TextBox 9"/>
          <p:cNvSpPr txBox="1"/>
          <p:nvPr/>
        </p:nvSpPr>
        <p:spPr>
          <a:xfrm>
            <a:off x="1009650" y="2066925"/>
            <a:ext cx="1458851" cy="914400"/>
          </a:xfrm>
          <a:prstGeom prst="rect">
            <a:avLst/>
          </a:prstGeom>
          <a:noFill/>
          <a:ln>
            <a:noFill/>
          </a:ln>
        </p:spPr>
        <p:txBody>
          <a:bodyPr wrap="none" lIns="0" tIns="0" rIns="0" bIns="0" anchor="t" anchorCtr="0">
            <a:spAutoFit/>
          </a:bodyPr>
          <a:lstStyle/>
          <a:p>
            <a:pPr algn="l"/>
            <a:r>
              <a:rPr lang="zh-CN" sz="4500" b="1" dirty="0">
                <a:solidFill>
                  <a:srgbClr val="5A6B7C"/>
                </a:solidFill>
                <a:latin typeface="Segoe UI"/>
                <a:ea typeface="Microsoft YaHei"/>
                <a:cs typeface="Segoe UI"/>
              </a:rPr>
              <a:t>79.2</a:t>
            </a:r>
          </a:p>
        </p:txBody>
      </p:sp>
      <p:sp>
        <p:nvSpPr>
          <p:cNvPr id="10" name="TextBox 10"/>
          <p:cNvSpPr txBox="1"/>
          <p:nvPr/>
        </p:nvSpPr>
        <p:spPr>
          <a:xfrm>
            <a:off x="2508885" y="2342198"/>
            <a:ext cx="334328" cy="396240"/>
          </a:xfrm>
          <a:prstGeom prst="rect">
            <a:avLst/>
          </a:prstGeom>
          <a:noFill/>
          <a:ln>
            <a:noFill/>
          </a:ln>
        </p:spPr>
        <p:txBody>
          <a:bodyPr wrap="none" lIns="0" tIns="0" rIns="0" bIns="0" anchor="t" anchorCtr="0">
            <a:spAutoFit/>
          </a:bodyPr>
          <a:lstStyle/>
          <a:p>
            <a:pPr algn="l"/>
            <a:r>
              <a:rPr lang="zh-CN" sz="1950" dirty="0">
                <a:solidFill>
                  <a:srgbClr val="5A6B7C"/>
                </a:solidFill>
                <a:latin typeface="Segoe UI"/>
                <a:ea typeface="Microsoft YaHei"/>
                <a:cs typeface="Segoe UI"/>
              </a:rPr>
              <a:t>种</a:t>
            </a:r>
          </a:p>
        </p:txBody>
      </p:sp>
      <p:sp>
        <p:nvSpPr>
          <p:cNvPr id="11" name="Freeform 11"/>
          <p:cNvSpPr/>
          <p:nvPr/>
        </p:nvSpPr>
        <p:spPr>
          <a:xfrm>
            <a:off x="3048000" y="2381250"/>
            <a:ext cx="762000" cy="9525"/>
          </a:xfrm>
          <a:custGeom>
            <a:avLst/>
            <a:gdLst/>
            <a:ahLst/>
            <a:cxnLst/>
            <a:rect l="l" t="t" r="r" b="b"/>
            <a:pathLst>
              <a:path w="762000" h="9525">
                <a:moveTo>
                  <a:pt x="0" y="0"/>
                </a:moveTo>
                <a:lnTo>
                  <a:pt x="762000" y="0"/>
                </a:lnTo>
              </a:path>
            </a:pathLst>
          </a:custGeom>
          <a:solidFill>
            <a:srgbClr val="000000"/>
          </a:solidFill>
          <a:ln w="38100">
            <a:solidFill>
              <a:srgbClr val="2E75B6"/>
            </a:solidFill>
          </a:ln>
        </p:spPr>
      </p:sp>
      <p:sp>
        <p:nvSpPr>
          <p:cNvPr id="12" name="Freeform 12"/>
          <p:cNvSpPr/>
          <p:nvPr/>
        </p:nvSpPr>
        <p:spPr>
          <a:xfrm>
            <a:off x="3733800" y="2305050"/>
            <a:ext cx="114300" cy="152400"/>
          </a:xfrm>
          <a:custGeom>
            <a:avLst/>
            <a:gdLst/>
            <a:ahLst/>
            <a:cxnLst/>
            <a:rect l="l" t="t" r="r" b="b"/>
            <a:pathLst>
              <a:path w="114300" h="152400">
                <a:moveTo>
                  <a:pt x="0" y="0"/>
                </a:moveTo>
                <a:lnTo>
                  <a:pt x="114300" y="76200"/>
                </a:lnTo>
                <a:lnTo>
                  <a:pt x="0" y="152400"/>
                </a:lnTo>
                <a:close/>
              </a:path>
            </a:pathLst>
          </a:custGeom>
          <a:solidFill>
            <a:srgbClr val="2E75B6"/>
          </a:solidFill>
          <a:ln>
            <a:noFill/>
          </a:ln>
        </p:spPr>
      </p:sp>
      <p:sp>
        <p:nvSpPr>
          <p:cNvPr id="13" name="TextBox 13"/>
          <p:cNvSpPr txBox="1"/>
          <p:nvPr/>
        </p:nvSpPr>
        <p:spPr>
          <a:xfrm>
            <a:off x="3981450" y="2066925"/>
            <a:ext cx="1842013" cy="914400"/>
          </a:xfrm>
          <a:prstGeom prst="rect">
            <a:avLst/>
          </a:prstGeom>
          <a:noFill/>
          <a:ln>
            <a:noFill/>
          </a:ln>
        </p:spPr>
        <p:txBody>
          <a:bodyPr wrap="none" lIns="0" tIns="0" rIns="0" bIns="0" anchor="t" anchorCtr="0">
            <a:spAutoFit/>
          </a:bodyPr>
          <a:lstStyle/>
          <a:p>
            <a:pPr algn="l"/>
            <a:r>
              <a:rPr lang="zh-CN" sz="4500" b="1" dirty="0">
                <a:solidFill>
                  <a:srgbClr val="12395E"/>
                </a:solidFill>
                <a:latin typeface="Segoe UI"/>
                <a:ea typeface="Microsoft YaHei"/>
                <a:cs typeface="Segoe UI"/>
              </a:rPr>
              <a:t>100.8</a:t>
            </a:r>
          </a:p>
        </p:txBody>
      </p:sp>
      <p:sp>
        <p:nvSpPr>
          <p:cNvPr id="14" name="TextBox 14"/>
          <p:cNvSpPr txBox="1"/>
          <p:nvPr/>
        </p:nvSpPr>
        <p:spPr>
          <a:xfrm>
            <a:off x="5861685" y="2342198"/>
            <a:ext cx="334328" cy="396240"/>
          </a:xfrm>
          <a:prstGeom prst="rect">
            <a:avLst/>
          </a:prstGeom>
          <a:noFill/>
          <a:ln>
            <a:noFill/>
          </a:ln>
        </p:spPr>
        <p:txBody>
          <a:bodyPr wrap="none" lIns="0" tIns="0" rIns="0" bIns="0" anchor="t" anchorCtr="0">
            <a:spAutoFit/>
          </a:bodyPr>
          <a:lstStyle/>
          <a:p>
            <a:pPr algn="l"/>
            <a:r>
              <a:rPr lang="zh-CN" sz="1950" dirty="0">
                <a:solidFill>
                  <a:srgbClr val="5A6B7C"/>
                </a:solidFill>
                <a:latin typeface="Segoe UI"/>
                <a:ea typeface="Microsoft YaHei"/>
                <a:cs typeface="Segoe UI"/>
              </a:rPr>
              <a:t>种</a:t>
            </a:r>
          </a:p>
        </p:txBody>
      </p:sp>
      <p:sp>
        <p:nvSpPr>
          <p:cNvPr id="15" name="Rectangle 15"/>
          <p:cNvSpPr/>
          <p:nvPr/>
        </p:nvSpPr>
        <p:spPr>
          <a:xfrm>
            <a:off x="6667500" y="2019300"/>
            <a:ext cx="1219200" cy="495300"/>
          </a:xfrm>
          <a:prstGeom prst="roundRect">
            <a:avLst>
              <a:gd name="adj" fmla="val 50000"/>
            </a:avLst>
          </a:prstGeom>
          <a:solidFill>
            <a:srgbClr val="2E75B6"/>
          </a:solidFill>
          <a:ln>
            <a:noFill/>
          </a:ln>
        </p:spPr>
      </p:sp>
      <p:sp>
        <p:nvSpPr>
          <p:cNvPr id="16" name="TextBox 16"/>
          <p:cNvSpPr txBox="1"/>
          <p:nvPr/>
        </p:nvSpPr>
        <p:spPr>
          <a:xfrm>
            <a:off x="6873469" y="2132648"/>
            <a:ext cx="807262"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Segoe UI"/>
                <a:ea typeface="Microsoft YaHei"/>
                <a:cs typeface="Segoe UI"/>
              </a:rPr>
              <a:t>+27%</a:t>
            </a:r>
          </a:p>
        </p:txBody>
      </p:sp>
      <p:sp>
        <p:nvSpPr>
          <p:cNvPr id="17" name="TextBox 17"/>
          <p:cNvSpPr txBox="1"/>
          <p:nvPr/>
        </p:nvSpPr>
        <p:spPr>
          <a:xfrm>
            <a:off x="8213408" y="2129314"/>
            <a:ext cx="2348884"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2000–2004 → 2020–2024</a:t>
            </a:r>
          </a:p>
        </p:txBody>
      </p:sp>
      <p:sp>
        <p:nvSpPr>
          <p:cNvPr id="18" name="TextBox 18"/>
          <p:cNvSpPr txBox="1"/>
          <p:nvPr/>
        </p:nvSpPr>
        <p:spPr>
          <a:xfrm>
            <a:off x="8214360" y="2404110"/>
            <a:ext cx="2110816"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5 个时期单调上升，无回落</a:t>
            </a:r>
          </a:p>
        </p:txBody>
      </p:sp>
      <p:grpSp>
        <p:nvGrpSpPr>
          <p:cNvPr id="23" name="Group 23"/>
          <p:cNvGrpSpPr/>
          <p:nvPr/>
        </p:nvGrpSpPr>
        <p:grpSpPr>
          <a:xfrm>
            <a:off x="685800" y="3143250"/>
            <a:ext cx="3429000" cy="1123950"/>
            <a:chOff x="685800" y="3143250"/>
            <a:chExt cx="3429000" cy="1123950"/>
          </a:xfrm>
        </p:grpSpPr>
        <p:sp>
          <p:nvSpPr>
            <p:cNvPr id="19" name="Rectangle 19"/>
            <p:cNvSpPr/>
            <p:nvPr/>
          </p:nvSpPr>
          <p:spPr>
            <a:xfrm>
              <a:off x="685800" y="3143250"/>
              <a:ext cx="3429000" cy="1123950"/>
            </a:xfrm>
            <a:prstGeom prst="roundRect">
              <a:avLst>
                <a:gd name="adj" fmla="val 6780"/>
              </a:avLst>
            </a:prstGeom>
            <a:solidFill>
              <a:srgbClr val="FFFFFF"/>
            </a:solidFill>
            <a:ln w="9525">
              <a:solidFill>
                <a:srgbClr val="D8DFE7"/>
              </a:solidFill>
            </a:ln>
          </p:spPr>
        </p:sp>
        <p:sp>
          <p:nvSpPr>
            <p:cNvPr id="20" name="TextBox 20"/>
            <p:cNvSpPr txBox="1"/>
            <p:nvPr/>
          </p:nvSpPr>
          <p:spPr>
            <a:xfrm>
              <a:off x="936308" y="3348514"/>
              <a:ext cx="1461464" cy="259080"/>
            </a:xfrm>
            <a:prstGeom prst="rect">
              <a:avLst/>
            </a:prstGeom>
            <a:noFill/>
            <a:ln>
              <a:noFill/>
            </a:ln>
          </p:spPr>
          <p:txBody>
            <a:bodyPr wrap="none" lIns="0" tIns="0" rIns="0" bIns="0" anchor="t" anchorCtr="0">
              <a:spAutoFit/>
            </a:bodyPr>
            <a:lstStyle/>
            <a:p>
              <a:pPr algn="l"/>
              <a:r>
                <a:rPr lang="zh-CN" sz="1275" b="1" dirty="0">
                  <a:solidFill>
                    <a:srgbClr val="0F2740"/>
                  </a:solidFill>
                  <a:latin typeface="Segoe UI"/>
                  <a:ea typeface="Microsoft YaHei"/>
                  <a:cs typeface="Segoe UI"/>
                </a:rPr>
                <a:t>Shannon 多样性</a:t>
              </a:r>
            </a:p>
          </p:txBody>
        </p:sp>
        <p:sp>
          <p:nvSpPr>
            <p:cNvPr id="21" name="TextBox 21"/>
            <p:cNvSpPr txBox="1"/>
            <p:nvPr/>
          </p:nvSpPr>
          <p:spPr>
            <a:xfrm>
              <a:off x="923925" y="3662362"/>
              <a:ext cx="1972961" cy="457200"/>
            </a:xfrm>
            <a:prstGeom prst="rect">
              <a:avLst/>
            </a:prstGeom>
            <a:noFill/>
            <a:ln>
              <a:noFill/>
            </a:ln>
          </p:spPr>
          <p:txBody>
            <a:bodyPr wrap="none" lIns="0" tIns="0" rIns="0" bIns="0" anchor="t" anchorCtr="0">
              <a:spAutoFit/>
            </a:bodyPr>
            <a:lstStyle/>
            <a:p>
              <a:pPr algn="l"/>
              <a:r>
                <a:rPr lang="zh-CN" sz="2250" b="1" dirty="0">
                  <a:solidFill>
                    <a:srgbClr val="12395E"/>
                  </a:solidFill>
                  <a:latin typeface="Segoe UI"/>
                  <a:ea typeface="Microsoft YaHei"/>
                  <a:cs typeface="Segoe UI"/>
                </a:rPr>
                <a:t>4.74 → 4.88</a:t>
              </a:r>
            </a:p>
          </p:txBody>
        </p:sp>
        <p:sp>
          <p:nvSpPr>
            <p:cNvPr id="22" name="TextBox 22"/>
            <p:cNvSpPr txBox="1"/>
            <p:nvPr/>
          </p:nvSpPr>
          <p:spPr>
            <a:xfrm>
              <a:off x="938212" y="4012406"/>
              <a:ext cx="685800"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同步上升</a:t>
              </a:r>
            </a:p>
          </p:txBody>
        </p:sp>
      </p:grpSp>
      <p:grpSp>
        <p:nvGrpSpPr>
          <p:cNvPr id="28" name="Group 28"/>
          <p:cNvGrpSpPr/>
          <p:nvPr/>
        </p:nvGrpSpPr>
        <p:grpSpPr>
          <a:xfrm>
            <a:off x="4381500" y="3143250"/>
            <a:ext cx="3429000" cy="1123950"/>
            <a:chOff x="4381500" y="3143250"/>
            <a:chExt cx="3429000" cy="1123950"/>
          </a:xfrm>
        </p:grpSpPr>
        <p:sp>
          <p:nvSpPr>
            <p:cNvPr id="24" name="Rectangle 24"/>
            <p:cNvSpPr/>
            <p:nvPr/>
          </p:nvSpPr>
          <p:spPr>
            <a:xfrm>
              <a:off x="4381500" y="3143250"/>
              <a:ext cx="3429000" cy="1123950"/>
            </a:xfrm>
            <a:prstGeom prst="roundRect">
              <a:avLst>
                <a:gd name="adj" fmla="val 6780"/>
              </a:avLst>
            </a:prstGeom>
            <a:solidFill>
              <a:srgbClr val="FFFFFF"/>
            </a:solidFill>
            <a:ln w="9525">
              <a:solidFill>
                <a:srgbClr val="D8DFE7"/>
              </a:solidFill>
            </a:ln>
          </p:spPr>
        </p:sp>
        <p:sp>
          <p:nvSpPr>
            <p:cNvPr id="25" name="TextBox 25"/>
            <p:cNvSpPr txBox="1"/>
            <p:nvPr/>
          </p:nvSpPr>
          <p:spPr>
            <a:xfrm>
              <a:off x="4632008" y="3348514"/>
              <a:ext cx="1532523" cy="259080"/>
            </a:xfrm>
            <a:prstGeom prst="rect">
              <a:avLst/>
            </a:prstGeom>
            <a:noFill/>
            <a:ln>
              <a:noFill/>
            </a:ln>
          </p:spPr>
          <p:txBody>
            <a:bodyPr wrap="none" lIns="0" tIns="0" rIns="0" bIns="0" anchor="t" anchorCtr="0">
              <a:spAutoFit/>
            </a:bodyPr>
            <a:lstStyle/>
            <a:p>
              <a:pPr algn="l"/>
              <a:r>
                <a:rPr lang="zh-CN" sz="1275" b="1" dirty="0">
                  <a:solidFill>
                    <a:srgbClr val="0F2740"/>
                  </a:solidFill>
                  <a:latin typeface="Segoe UI"/>
                  <a:ea typeface="Microsoft YaHei"/>
                  <a:cs typeface="Segoe UI"/>
                </a:rPr>
                <a:t>inverse Simpson</a:t>
              </a:r>
            </a:p>
          </p:txBody>
        </p:sp>
        <p:sp>
          <p:nvSpPr>
            <p:cNvPr id="26" name="TextBox 26"/>
            <p:cNvSpPr txBox="1"/>
            <p:nvPr/>
          </p:nvSpPr>
          <p:spPr>
            <a:xfrm>
              <a:off x="4619625" y="3662362"/>
              <a:ext cx="2356123" cy="457200"/>
            </a:xfrm>
            <a:prstGeom prst="rect">
              <a:avLst/>
            </a:prstGeom>
            <a:noFill/>
            <a:ln>
              <a:noFill/>
            </a:ln>
          </p:spPr>
          <p:txBody>
            <a:bodyPr wrap="none" lIns="0" tIns="0" rIns="0" bIns="0" anchor="t" anchorCtr="0">
              <a:spAutoFit/>
            </a:bodyPr>
            <a:lstStyle/>
            <a:p>
              <a:pPr algn="l"/>
              <a:r>
                <a:rPr lang="zh-CN" sz="2250" b="1" dirty="0">
                  <a:solidFill>
                    <a:srgbClr val="12395E"/>
                  </a:solidFill>
                  <a:latin typeface="Segoe UI"/>
                  <a:ea typeface="Microsoft YaHei"/>
                  <a:cs typeface="Segoe UI"/>
                </a:rPr>
                <a:t>106.4 → 126.6</a:t>
              </a:r>
            </a:p>
          </p:txBody>
        </p:sp>
        <p:sp>
          <p:nvSpPr>
            <p:cNvPr id="27" name="TextBox 27"/>
            <p:cNvSpPr txBox="1"/>
            <p:nvPr/>
          </p:nvSpPr>
          <p:spPr>
            <a:xfrm>
              <a:off x="4633912" y="4012406"/>
              <a:ext cx="685800"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同步上升</a:t>
              </a:r>
            </a:p>
          </p:txBody>
        </p:sp>
      </p:grpSp>
      <p:grpSp>
        <p:nvGrpSpPr>
          <p:cNvPr id="33" name="Group 33"/>
          <p:cNvGrpSpPr/>
          <p:nvPr/>
        </p:nvGrpSpPr>
        <p:grpSpPr>
          <a:xfrm>
            <a:off x="8077200" y="3143250"/>
            <a:ext cx="3429000" cy="1123950"/>
            <a:chOff x="8077200" y="3143250"/>
            <a:chExt cx="3429000" cy="1123950"/>
          </a:xfrm>
        </p:grpSpPr>
        <p:sp>
          <p:nvSpPr>
            <p:cNvPr id="29" name="Rectangle 29"/>
            <p:cNvSpPr/>
            <p:nvPr/>
          </p:nvSpPr>
          <p:spPr>
            <a:xfrm>
              <a:off x="8077200" y="3143250"/>
              <a:ext cx="3429000" cy="1123950"/>
            </a:xfrm>
            <a:prstGeom prst="roundRect">
              <a:avLst>
                <a:gd name="adj" fmla="val 6780"/>
              </a:avLst>
            </a:prstGeom>
            <a:solidFill>
              <a:srgbClr val="FFFFFF"/>
            </a:solidFill>
            <a:ln w="9525">
              <a:solidFill>
                <a:srgbClr val="D8DFE7"/>
              </a:solidFill>
            </a:ln>
          </p:spPr>
        </p:sp>
        <p:sp>
          <p:nvSpPr>
            <p:cNvPr id="30" name="TextBox 30"/>
            <p:cNvSpPr txBox="1"/>
            <p:nvPr/>
          </p:nvSpPr>
          <p:spPr>
            <a:xfrm>
              <a:off x="8327708" y="3348514"/>
              <a:ext cx="1698328" cy="259080"/>
            </a:xfrm>
            <a:prstGeom prst="rect">
              <a:avLst/>
            </a:prstGeom>
            <a:noFill/>
            <a:ln>
              <a:noFill/>
            </a:ln>
          </p:spPr>
          <p:txBody>
            <a:bodyPr wrap="none" lIns="0" tIns="0" rIns="0" bIns="0" anchor="t" anchorCtr="0">
              <a:spAutoFit/>
            </a:bodyPr>
            <a:lstStyle/>
            <a:p>
              <a:pPr algn="l"/>
              <a:r>
                <a:rPr lang="zh-CN" sz="1275" b="1" dirty="0">
                  <a:solidFill>
                    <a:srgbClr val="0F2740"/>
                  </a:solidFill>
                  <a:latin typeface="Segoe UI"/>
                  <a:ea typeface="Microsoft YaHei"/>
                  <a:cs typeface="Segoe UI"/>
                </a:rPr>
                <a:t>系统发育多样性 PD</a:t>
              </a:r>
            </a:p>
          </p:txBody>
        </p:sp>
        <p:sp>
          <p:nvSpPr>
            <p:cNvPr id="31" name="TextBox 31"/>
            <p:cNvSpPr txBox="1"/>
            <p:nvPr/>
          </p:nvSpPr>
          <p:spPr>
            <a:xfrm>
              <a:off x="8315325" y="3662362"/>
              <a:ext cx="1450467" cy="457200"/>
            </a:xfrm>
            <a:prstGeom prst="rect">
              <a:avLst/>
            </a:prstGeom>
            <a:noFill/>
            <a:ln>
              <a:noFill/>
            </a:ln>
          </p:spPr>
          <p:txBody>
            <a:bodyPr wrap="none" lIns="0" tIns="0" rIns="0" bIns="0" anchor="t" anchorCtr="0">
              <a:spAutoFit/>
            </a:bodyPr>
            <a:lstStyle/>
            <a:p>
              <a:pPr algn="l"/>
              <a:r>
                <a:rPr lang="zh-CN" sz="2250" b="1" dirty="0">
                  <a:solidFill>
                    <a:srgbClr val="12395E"/>
                  </a:solidFill>
                  <a:latin typeface="Segoe UI"/>
                  <a:ea typeface="Microsoft YaHei"/>
                  <a:cs typeface="Segoe UI"/>
                </a:rPr>
                <a:t>暂不报告</a:t>
              </a:r>
            </a:p>
          </p:txBody>
        </p:sp>
        <p:sp>
          <p:nvSpPr>
            <p:cNvPr id="32" name="TextBox 32"/>
            <p:cNvSpPr txBox="1"/>
            <p:nvPr/>
          </p:nvSpPr>
          <p:spPr>
            <a:xfrm>
              <a:off x="8329612" y="4012406"/>
              <a:ext cx="1507331"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估计量有误，待重算</a:t>
              </a:r>
            </a:p>
          </p:txBody>
        </p:sp>
      </p:grpSp>
      <p:sp>
        <p:nvSpPr>
          <p:cNvPr id="34" name="Rectangle 34"/>
          <p:cNvSpPr/>
          <p:nvPr/>
        </p:nvSpPr>
        <p:spPr>
          <a:xfrm>
            <a:off x="685800" y="4533900"/>
            <a:ext cx="10820400" cy="1066800"/>
          </a:xfrm>
          <a:prstGeom prst="roundRect">
            <a:avLst>
              <a:gd name="adj" fmla="val 8929"/>
            </a:avLst>
          </a:prstGeom>
          <a:solidFill>
            <a:srgbClr val="12395E"/>
          </a:solidFill>
          <a:ln>
            <a:noFill/>
          </a:ln>
        </p:spPr>
      </p:sp>
      <p:sp>
        <p:nvSpPr>
          <p:cNvPr id="35" name="TextBox 35"/>
          <p:cNvSpPr txBox="1"/>
          <p:nvPr/>
        </p:nvSpPr>
        <p:spPr>
          <a:xfrm>
            <a:off x="971550" y="4733925"/>
            <a:ext cx="3514426"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Segoe UI"/>
                <a:ea typeface="Microsoft YaHei"/>
                <a:cs typeface="Segoe UI"/>
              </a:rPr>
              <a:t>500 种广度检验：同向且幅度更大</a:t>
            </a:r>
          </a:p>
        </p:txBody>
      </p:sp>
      <p:sp>
        <p:nvSpPr>
          <p:cNvPr id="36" name="TextBox 36"/>
          <p:cNvSpPr txBox="1"/>
          <p:nvPr/>
        </p:nvSpPr>
        <p:spPr>
          <a:xfrm>
            <a:off x="973455" y="5112068"/>
            <a:ext cx="8137874" cy="274320"/>
          </a:xfrm>
          <a:prstGeom prst="rect">
            <a:avLst/>
          </a:prstGeom>
          <a:noFill/>
          <a:ln>
            <a:noFill/>
          </a:ln>
        </p:spPr>
        <p:txBody>
          <a:bodyPr wrap="none" lIns="0" tIns="0" rIns="0" bIns="0" anchor="t" anchorCtr="0">
            <a:spAutoFit/>
          </a:bodyPr>
          <a:lstStyle/>
          <a:p>
            <a:pPr algn="l"/>
            <a:r>
              <a:rPr lang="zh-CN" sz="1350" dirty="0">
                <a:solidFill>
                  <a:srgbClr val="C6D8E8"/>
                </a:solidFill>
                <a:latin typeface="Segoe UI"/>
                <a:ea typeface="Microsoft YaHei"/>
                <a:cs typeface="Segoe UI"/>
              </a:rPr>
              <a:t xml:space="preserve">校正后物种数 </a:t>
            </a:r>
            <a:r>
              <a:rPr lang="zh-CN" sz="1350" dirty="0">
                <a:solidFill>
                  <a:srgbClr val="C6D8E8"/>
                </a:solidFill>
                <a:latin typeface="Segoe UI"/>
                <a:ea typeface="Microsoft YaHei"/>
                <a:cs typeface="Segoe UI"/>
              </a:rPr>
              <a:t xml:space="preserve"> </a:t>
            </a:r>
            <a:r>
              <a:rPr lang="zh-CN" sz="1350" b="1" dirty="0">
                <a:solidFill>
                  <a:srgbClr val="9FC7EA"/>
                </a:solidFill>
                <a:latin typeface="Segoe UI"/>
                <a:ea typeface="Microsoft YaHei"/>
                <a:cs typeface="Segoe UI"/>
              </a:rPr>
              <a:t>155.0 → 195.6</a:t>
            </a:r>
            <a:r>
              <a:rPr lang="zh-CN" sz="1350" dirty="0">
                <a:solidFill>
                  <a:srgbClr val="C6D8E8"/>
                </a:solidFill>
                <a:latin typeface="Segoe UI"/>
                <a:ea typeface="Microsoft YaHei"/>
                <a:cs typeface="Segoe UI"/>
              </a:rPr>
              <a:t xml:space="preserve"> </a:t>
            </a:r>
            <a:r>
              <a:rPr lang="zh-CN" sz="1350" dirty="0">
                <a:solidFill>
                  <a:srgbClr val="C6D8E8"/>
                </a:solidFill>
                <a:latin typeface="Segoe UI"/>
                <a:ea typeface="Microsoft YaHei"/>
                <a:cs typeface="Segoe UI"/>
              </a:rPr>
              <a:t xml:space="preserve"> · Shannon 5.51 → 5.64 · inverse Simpson 218.7 → 260.3</a:t>
            </a:r>
          </a:p>
        </p:txBody>
      </p:sp>
      <p:sp>
        <p:nvSpPr>
          <p:cNvPr id="37" name="TextBox 37"/>
          <p:cNvSpPr txBox="1"/>
          <p:nvPr/>
        </p:nvSpPr>
        <p:spPr>
          <a:xfrm>
            <a:off x="975360" y="5375910"/>
            <a:ext cx="4403217" cy="243840"/>
          </a:xfrm>
          <a:prstGeom prst="rect">
            <a:avLst/>
          </a:prstGeom>
          <a:noFill/>
          <a:ln>
            <a:noFill/>
          </a:ln>
        </p:spPr>
        <p:txBody>
          <a:bodyPr wrap="none" lIns="0" tIns="0" rIns="0" bIns="0" anchor="t" anchorCtr="0">
            <a:spAutoFit/>
          </a:bodyPr>
          <a:lstStyle/>
          <a:p>
            <a:pPr algn="l"/>
            <a:r>
              <a:rPr lang="zh-CN" sz="1200" dirty="0">
                <a:solidFill>
                  <a:srgbClr val="8FB0CC"/>
                </a:solidFill>
                <a:latin typeface="Segoe UI"/>
                <a:ea typeface="Microsoft YaHei"/>
                <a:cs typeface="Segoe UI"/>
              </a:rPr>
              <a:t>全国平均每期增加 9.6 种 → 上升不是 200 种子集的产物</a:t>
            </a:r>
          </a:p>
        </p:txBody>
      </p:sp>
      <p:sp>
        <p:nvSpPr>
          <p:cNvPr id="38" name="TextBox 38"/>
          <p:cNvSpPr txBox="1"/>
          <p:nvPr/>
        </p:nvSpPr>
        <p:spPr>
          <a:xfrm>
            <a:off x="672465" y="6039802"/>
            <a:ext cx="4466225"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来源：results_v3 多样性汇总表（4 链）；GCB 稿件 v6 结果 3.1</a:t>
            </a:r>
          </a:p>
        </p:txBody>
      </p:sp>
      <p:sp>
        <p:nvSpPr>
          <p:cNvPr id="39" name="TextBox 39"/>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16</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6775914"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多维多样性的空间格局在全国高度异质</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572750" y="801052"/>
            <a:ext cx="946785"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三、核心发现</a:t>
            </a:r>
          </a:p>
        </p:txBody>
      </p:sp>
      <p:pic>
        <p:nvPicPr>
          <p:cNvPr id="6" name="Image 6"/>
          <p:cNvPicPr>
            <a:picLocks noChangeAspect="1"/>
          </p:cNvPicPr>
          <p:nvPr/>
        </p:nvPicPr>
        <p:blipFill>
          <a:blip r:embed="rId2"/>
          <a:stretch>
            <a:fillRect/>
          </a:stretch>
        </p:blipFill>
        <p:spPr>
          <a:xfrm>
            <a:off x="685800" y="1668720"/>
            <a:ext cx="4876800" cy="3996810"/>
          </a:xfrm>
          <a:prstGeom prst="rect">
            <a:avLst/>
          </a:prstGeom>
        </p:spPr>
      </p:pic>
      <p:sp>
        <p:nvSpPr>
          <p:cNvPr id="7" name="Rectangle 7"/>
          <p:cNvSpPr/>
          <p:nvPr/>
        </p:nvSpPr>
        <p:spPr>
          <a:xfrm>
            <a:off x="5867400" y="1428750"/>
            <a:ext cx="5638800" cy="4476750"/>
          </a:xfrm>
          <a:prstGeom prst="roundRect">
            <a:avLst>
              <a:gd name="adj" fmla="val 2128"/>
            </a:avLst>
          </a:prstGeom>
          <a:solidFill>
            <a:srgbClr val="F4F7FA"/>
          </a:solidFill>
          <a:ln>
            <a:noFill/>
          </a:ln>
        </p:spPr>
      </p:sp>
      <p:sp>
        <p:nvSpPr>
          <p:cNvPr id="8" name="TextBox 8"/>
          <p:cNvSpPr txBox="1"/>
          <p:nvPr/>
        </p:nvSpPr>
        <p:spPr>
          <a:xfrm>
            <a:off x="6151245" y="1688782"/>
            <a:ext cx="1574559" cy="335280"/>
          </a:xfrm>
          <a:prstGeom prst="rect">
            <a:avLst/>
          </a:prstGeom>
          <a:noFill/>
          <a:ln>
            <a:noFill/>
          </a:ln>
        </p:spPr>
        <p:txBody>
          <a:bodyPr wrap="none" lIns="0" tIns="0" rIns="0" bIns="0" anchor="t" anchorCtr="0">
            <a:spAutoFit/>
          </a:bodyPr>
          <a:lstStyle/>
          <a:p>
            <a:pPr algn="l"/>
            <a:r>
              <a:rPr lang="zh-CN" sz="1650" b="1" dirty="0">
                <a:solidFill>
                  <a:srgbClr val="12395E"/>
                </a:solidFill>
                <a:latin typeface="Segoe UI"/>
                <a:ea typeface="Microsoft YaHei"/>
                <a:cs typeface="Segoe UI"/>
              </a:rPr>
              <a:t>怎么读这张图</a:t>
            </a:r>
          </a:p>
        </p:txBody>
      </p:sp>
      <p:sp>
        <p:nvSpPr>
          <p:cNvPr id="9" name="Rectangle 9"/>
          <p:cNvSpPr/>
          <p:nvPr/>
        </p:nvSpPr>
        <p:spPr>
          <a:xfrm>
            <a:off x="6172200" y="1981200"/>
            <a:ext cx="381000" cy="28575"/>
          </a:xfrm>
          <a:prstGeom prst="roundRect">
            <a:avLst>
              <a:gd name="adj" fmla="val 50000"/>
            </a:avLst>
          </a:prstGeom>
          <a:solidFill>
            <a:srgbClr val="D97A34"/>
          </a:solidFill>
          <a:ln>
            <a:noFill/>
          </a:ln>
        </p:spPr>
      </p:sp>
      <p:sp>
        <p:nvSpPr>
          <p:cNvPr id="10" name="TextBox 10"/>
          <p:cNvSpPr txBox="1"/>
          <p:nvPr/>
        </p:nvSpPr>
        <p:spPr>
          <a:xfrm>
            <a:off x="6155055" y="2254568"/>
            <a:ext cx="4409437"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每一行是一个多样性维度，每一列是一个 5 年期，</a:t>
            </a:r>
          </a:p>
        </p:txBody>
      </p:sp>
      <p:sp>
        <p:nvSpPr>
          <p:cNvPr id="11" name="TextBox 11"/>
          <p:cNvSpPr txBox="1"/>
          <p:nvPr/>
        </p:nvSpPr>
        <p:spPr>
          <a:xfrm>
            <a:off x="6155055" y="2521268"/>
            <a:ext cx="2794635"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全部基于同一份占域后验计算。</a:t>
            </a:r>
          </a:p>
        </p:txBody>
      </p:sp>
      <p:sp>
        <p:nvSpPr>
          <p:cNvPr id="12" name="Rectangle 12"/>
          <p:cNvSpPr/>
          <p:nvPr/>
        </p:nvSpPr>
        <p:spPr>
          <a:xfrm>
            <a:off x="6172200" y="2781300"/>
            <a:ext cx="5029200" cy="9525"/>
          </a:xfrm>
          <a:prstGeom prst="rect">
            <a:avLst/>
          </a:prstGeom>
          <a:solidFill>
            <a:srgbClr val="D8DFE7"/>
          </a:solidFill>
          <a:ln>
            <a:noFill/>
          </a:ln>
        </p:spPr>
      </p:sp>
      <p:grpSp>
        <p:nvGrpSpPr>
          <p:cNvPr id="16" name="Group 16"/>
          <p:cNvGrpSpPr/>
          <p:nvPr/>
        </p:nvGrpSpPr>
        <p:grpSpPr>
          <a:xfrm>
            <a:off x="6229350" y="3092768"/>
            <a:ext cx="3943274" cy="521970"/>
            <a:chOff x="6229350" y="3092768"/>
            <a:chExt cx="3943274" cy="521970"/>
          </a:xfrm>
        </p:grpSpPr>
        <p:sp>
          <p:nvSpPr>
            <p:cNvPr id="13" name="Ellipse 13"/>
            <p:cNvSpPr/>
            <p:nvPr/>
          </p:nvSpPr>
          <p:spPr>
            <a:xfrm>
              <a:off x="6229350" y="3124200"/>
              <a:ext cx="114300" cy="114300"/>
            </a:xfrm>
            <a:prstGeom prst="ellipse">
              <a:avLst/>
            </a:prstGeom>
            <a:solidFill>
              <a:srgbClr val="2E75B6"/>
            </a:solidFill>
            <a:ln>
              <a:noFill/>
            </a:ln>
          </p:spPr>
        </p:sp>
        <p:sp>
          <p:nvSpPr>
            <p:cNvPr id="14" name="TextBox 14"/>
            <p:cNvSpPr txBox="1"/>
            <p:nvPr/>
          </p:nvSpPr>
          <p:spPr>
            <a:xfrm>
              <a:off x="6478905" y="3092768"/>
              <a:ext cx="3693719"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校正后物种数与 Shannon 在东部、湿地与</a:t>
              </a:r>
            </a:p>
          </p:txBody>
        </p:sp>
        <p:sp>
          <p:nvSpPr>
            <p:cNvPr id="15" name="TextBox 15"/>
            <p:cNvSpPr txBox="1"/>
            <p:nvPr/>
          </p:nvSpPr>
          <p:spPr>
            <a:xfrm>
              <a:off x="6478905" y="3340418"/>
              <a:ext cx="1611630"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沿海系统取值最高</a:t>
              </a:r>
            </a:p>
          </p:txBody>
        </p:sp>
      </p:grpSp>
      <p:grpSp>
        <p:nvGrpSpPr>
          <p:cNvPr id="20" name="Group 20"/>
          <p:cNvGrpSpPr/>
          <p:nvPr/>
        </p:nvGrpSpPr>
        <p:grpSpPr>
          <a:xfrm>
            <a:off x="6229350" y="3816668"/>
            <a:ext cx="3635693" cy="521970"/>
            <a:chOff x="6229350" y="3816668"/>
            <a:chExt cx="3635693" cy="521970"/>
          </a:xfrm>
        </p:grpSpPr>
        <p:sp>
          <p:nvSpPr>
            <p:cNvPr id="17" name="Ellipse 17"/>
            <p:cNvSpPr/>
            <p:nvPr/>
          </p:nvSpPr>
          <p:spPr>
            <a:xfrm>
              <a:off x="6229350" y="3848100"/>
              <a:ext cx="114300" cy="114300"/>
            </a:xfrm>
            <a:prstGeom prst="ellipse">
              <a:avLst/>
            </a:prstGeom>
            <a:solidFill>
              <a:srgbClr val="D97A34"/>
            </a:solidFill>
            <a:ln>
              <a:noFill/>
            </a:ln>
          </p:spPr>
        </p:sp>
        <p:sp>
          <p:nvSpPr>
            <p:cNvPr id="18" name="TextBox 18"/>
            <p:cNvSpPr txBox="1"/>
            <p:nvPr/>
          </p:nvSpPr>
          <p:spPr>
            <a:xfrm>
              <a:off x="6478905" y="3816668"/>
              <a:ext cx="3188970"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功能维度的空间分异模式与分类维度</a:t>
              </a:r>
            </a:p>
          </p:txBody>
        </p:sp>
        <p:sp>
          <p:nvSpPr>
            <p:cNvPr id="19" name="TextBox 19"/>
            <p:cNvSpPr txBox="1"/>
            <p:nvPr/>
          </p:nvSpPr>
          <p:spPr>
            <a:xfrm>
              <a:off x="6478905" y="4064318"/>
              <a:ext cx="3386138"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并不重合——这是后面解耦结论的伏笔</a:t>
              </a:r>
            </a:p>
          </p:txBody>
        </p:sp>
      </p:grpSp>
      <p:grpSp>
        <p:nvGrpSpPr>
          <p:cNvPr id="24" name="Group 24"/>
          <p:cNvGrpSpPr/>
          <p:nvPr/>
        </p:nvGrpSpPr>
        <p:grpSpPr>
          <a:xfrm>
            <a:off x="6229350" y="4540568"/>
            <a:ext cx="3943274" cy="521970"/>
            <a:chOff x="6229350" y="4540568"/>
            <a:chExt cx="3943274" cy="521970"/>
          </a:xfrm>
        </p:grpSpPr>
        <p:sp>
          <p:nvSpPr>
            <p:cNvPr id="21" name="Ellipse 21"/>
            <p:cNvSpPr/>
            <p:nvPr/>
          </p:nvSpPr>
          <p:spPr>
            <a:xfrm>
              <a:off x="6229350" y="4572000"/>
              <a:ext cx="114300" cy="114300"/>
            </a:xfrm>
            <a:prstGeom prst="ellipse">
              <a:avLst/>
            </a:prstGeom>
            <a:solidFill>
              <a:srgbClr val="5A6B7C"/>
            </a:solidFill>
            <a:ln>
              <a:noFill/>
            </a:ln>
          </p:spPr>
        </p:sp>
        <p:sp>
          <p:nvSpPr>
            <p:cNvPr id="22" name="TextBox 22"/>
            <p:cNvSpPr txBox="1"/>
            <p:nvPr/>
          </p:nvSpPr>
          <p:spPr>
            <a:xfrm>
              <a:off x="6478905" y="4540568"/>
              <a:ext cx="3693719"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所有地图统一 bbox；缺值格点显式显示为</a:t>
              </a:r>
            </a:p>
          </p:txBody>
        </p:sp>
        <p:sp>
          <p:nvSpPr>
            <p:cNvPr id="23" name="TextBox 23"/>
            <p:cNvSpPr txBox="1"/>
            <p:nvPr/>
          </p:nvSpPr>
          <p:spPr>
            <a:xfrm>
              <a:off x="6478905" y="4788218"/>
              <a:ext cx="3015463"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灰色，不让缺失伪装成"没有网格"</a:t>
              </a:r>
            </a:p>
          </p:txBody>
        </p:sp>
      </p:grpSp>
      <p:sp>
        <p:nvSpPr>
          <p:cNvPr id="25" name="Rectangle 25"/>
          <p:cNvSpPr/>
          <p:nvPr/>
        </p:nvSpPr>
        <p:spPr>
          <a:xfrm>
            <a:off x="6172200" y="5219700"/>
            <a:ext cx="5029200" cy="419100"/>
          </a:xfrm>
          <a:prstGeom prst="roundRect">
            <a:avLst>
              <a:gd name="adj" fmla="val 13636"/>
            </a:avLst>
          </a:prstGeom>
          <a:solidFill>
            <a:srgbClr val="FFFFFF"/>
          </a:solidFill>
          <a:ln>
            <a:noFill/>
          </a:ln>
        </p:spPr>
      </p:sp>
      <p:sp>
        <p:nvSpPr>
          <p:cNvPr id="26" name="TextBox 26"/>
          <p:cNvSpPr txBox="1"/>
          <p:nvPr/>
        </p:nvSpPr>
        <p:spPr>
          <a:xfrm>
            <a:off x="6347460" y="5356860"/>
            <a:ext cx="3581248"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空间推断仅来自 200 种 stMsPGOcc 空间模型</a:t>
            </a:r>
          </a:p>
        </p:txBody>
      </p:sp>
      <p:sp>
        <p:nvSpPr>
          <p:cNvPr id="27" name="TextBox 27"/>
          <p:cNvSpPr txBox="1"/>
          <p:nvPr/>
        </p:nvSpPr>
        <p:spPr>
          <a:xfrm>
            <a:off x="672465" y="6039802"/>
            <a:ext cx="2587657"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来源：Fig 2，本研究（GCB 稿件 v6）</a:t>
            </a:r>
          </a:p>
        </p:txBody>
      </p:sp>
      <p:sp>
        <p:nvSpPr>
          <p:cNvPr id="28" name="TextBox 28"/>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17</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7170687"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趋势地理指纹：分类增益与功能停滞并存</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572750" y="801052"/>
            <a:ext cx="946785"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三、核心发现</a:t>
            </a:r>
          </a:p>
        </p:txBody>
      </p:sp>
      <p:pic>
        <p:nvPicPr>
          <p:cNvPr id="6" name="Image 6"/>
          <p:cNvPicPr>
            <a:picLocks noChangeAspect="1"/>
          </p:cNvPicPr>
          <p:nvPr/>
        </p:nvPicPr>
        <p:blipFill>
          <a:blip r:embed="rId2"/>
          <a:stretch>
            <a:fillRect/>
          </a:stretch>
        </p:blipFill>
        <p:spPr>
          <a:xfrm>
            <a:off x="691116" y="1647429"/>
            <a:ext cx="6656867" cy="3782217"/>
          </a:xfrm>
          <a:prstGeom prst="rect">
            <a:avLst/>
          </a:prstGeom>
        </p:spPr>
      </p:pic>
      <p:sp>
        <p:nvSpPr>
          <p:cNvPr id="7" name="Rectangle 7"/>
          <p:cNvSpPr/>
          <p:nvPr/>
        </p:nvSpPr>
        <p:spPr>
          <a:xfrm>
            <a:off x="7658100" y="1428750"/>
            <a:ext cx="3848100" cy="4219575"/>
          </a:xfrm>
          <a:prstGeom prst="roundRect">
            <a:avLst>
              <a:gd name="adj" fmla="val 2475"/>
            </a:avLst>
          </a:prstGeom>
          <a:solidFill>
            <a:srgbClr val="F4F7FA"/>
          </a:solidFill>
          <a:ln>
            <a:noFill/>
          </a:ln>
        </p:spPr>
      </p:sp>
      <p:sp>
        <p:nvSpPr>
          <p:cNvPr id="8" name="TextBox 8"/>
          <p:cNvSpPr txBox="1"/>
          <p:nvPr/>
        </p:nvSpPr>
        <p:spPr>
          <a:xfrm>
            <a:off x="7903845" y="1688782"/>
            <a:ext cx="1635865" cy="335280"/>
          </a:xfrm>
          <a:prstGeom prst="rect">
            <a:avLst/>
          </a:prstGeom>
          <a:noFill/>
          <a:ln>
            <a:noFill/>
          </a:ln>
        </p:spPr>
        <p:txBody>
          <a:bodyPr wrap="none" lIns="0" tIns="0" rIns="0" bIns="0" anchor="t" anchorCtr="0">
            <a:spAutoFit/>
          </a:bodyPr>
          <a:lstStyle/>
          <a:p>
            <a:pPr algn="l"/>
            <a:r>
              <a:rPr lang="zh-CN" sz="1650" b="1" dirty="0">
                <a:solidFill>
                  <a:srgbClr val="12395E"/>
                </a:solidFill>
                <a:latin typeface="Segoe UI"/>
                <a:ea typeface="Microsoft YaHei"/>
                <a:cs typeface="Segoe UI"/>
              </a:rPr>
              <a:t>从"量"到"形"</a:t>
            </a:r>
          </a:p>
        </p:txBody>
      </p:sp>
      <p:sp>
        <p:nvSpPr>
          <p:cNvPr id="9" name="Rectangle 9"/>
          <p:cNvSpPr/>
          <p:nvPr/>
        </p:nvSpPr>
        <p:spPr>
          <a:xfrm>
            <a:off x="7924800" y="1981200"/>
            <a:ext cx="381000" cy="28575"/>
          </a:xfrm>
          <a:prstGeom prst="roundRect">
            <a:avLst>
              <a:gd name="adj" fmla="val 50000"/>
            </a:avLst>
          </a:prstGeom>
          <a:solidFill>
            <a:srgbClr val="D97A34"/>
          </a:solidFill>
          <a:ln>
            <a:noFill/>
          </a:ln>
        </p:spPr>
      </p:sp>
      <p:sp>
        <p:nvSpPr>
          <p:cNvPr id="10" name="TextBox 10"/>
          <p:cNvSpPr txBox="1"/>
          <p:nvPr/>
        </p:nvSpPr>
        <p:spPr>
          <a:xfrm>
            <a:off x="7908608" y="2224564"/>
            <a:ext cx="2080736"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上一页看的是全国均值，</a:t>
            </a:r>
          </a:p>
        </p:txBody>
      </p:sp>
      <p:sp>
        <p:nvSpPr>
          <p:cNvPr id="11" name="TextBox 11"/>
          <p:cNvSpPr txBox="1"/>
          <p:nvPr/>
        </p:nvSpPr>
        <p:spPr>
          <a:xfrm>
            <a:off x="7908608" y="2472214"/>
            <a:ext cx="1894522"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这一页看解耦在空间上</a:t>
            </a:r>
          </a:p>
        </p:txBody>
      </p:sp>
      <p:sp>
        <p:nvSpPr>
          <p:cNvPr id="12" name="TextBox 12"/>
          <p:cNvSpPr txBox="1"/>
          <p:nvPr/>
        </p:nvSpPr>
        <p:spPr>
          <a:xfrm>
            <a:off x="7908608" y="2719864"/>
            <a:ext cx="1335881"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是否同样成立。</a:t>
            </a:r>
          </a:p>
        </p:txBody>
      </p:sp>
      <p:sp>
        <p:nvSpPr>
          <p:cNvPr id="13" name="Rectangle 13"/>
          <p:cNvSpPr/>
          <p:nvPr/>
        </p:nvSpPr>
        <p:spPr>
          <a:xfrm>
            <a:off x="7924800" y="3105150"/>
            <a:ext cx="3314700" cy="9525"/>
          </a:xfrm>
          <a:prstGeom prst="rect">
            <a:avLst/>
          </a:prstGeom>
          <a:solidFill>
            <a:srgbClr val="D8DFE7"/>
          </a:solidFill>
          <a:ln>
            <a:noFill/>
          </a:ln>
        </p:spPr>
      </p:sp>
      <p:grpSp>
        <p:nvGrpSpPr>
          <p:cNvPr id="19" name="Group 19"/>
          <p:cNvGrpSpPr/>
          <p:nvPr/>
        </p:nvGrpSpPr>
        <p:grpSpPr>
          <a:xfrm>
            <a:off x="7924800" y="3352800"/>
            <a:ext cx="3314700" cy="914400"/>
            <a:chOff x="7924800" y="3352800"/>
            <a:chExt cx="3314700" cy="914400"/>
          </a:xfrm>
        </p:grpSpPr>
        <p:sp>
          <p:nvSpPr>
            <p:cNvPr id="14" name="Rectangle 14"/>
            <p:cNvSpPr/>
            <p:nvPr/>
          </p:nvSpPr>
          <p:spPr>
            <a:xfrm>
              <a:off x="7924800" y="3352800"/>
              <a:ext cx="3314700" cy="914400"/>
            </a:xfrm>
            <a:prstGeom prst="roundRect">
              <a:avLst>
                <a:gd name="adj" fmla="val 8333"/>
              </a:avLst>
            </a:prstGeom>
            <a:solidFill>
              <a:srgbClr val="FFFFFF"/>
            </a:solidFill>
            <a:ln>
              <a:noFill/>
            </a:ln>
          </p:spPr>
        </p:sp>
        <p:sp>
          <p:nvSpPr>
            <p:cNvPr id="15" name="Rectangle 15"/>
            <p:cNvSpPr/>
            <p:nvPr/>
          </p:nvSpPr>
          <p:spPr>
            <a:xfrm>
              <a:off x="7924800" y="3352800"/>
              <a:ext cx="38100" cy="914400"/>
            </a:xfrm>
            <a:prstGeom prst="roundRect">
              <a:avLst>
                <a:gd name="adj" fmla="val 50000"/>
              </a:avLst>
            </a:prstGeom>
            <a:solidFill>
              <a:srgbClr val="2E75B6"/>
            </a:solidFill>
            <a:ln>
              <a:noFill/>
            </a:ln>
          </p:spPr>
        </p:sp>
        <p:sp>
          <p:nvSpPr>
            <p:cNvPr id="16" name="TextBox 16"/>
            <p:cNvSpPr txBox="1"/>
            <p:nvPr/>
          </p:nvSpPr>
          <p:spPr>
            <a:xfrm>
              <a:off x="8136255" y="3511868"/>
              <a:ext cx="1497273" cy="274320"/>
            </a:xfrm>
            <a:prstGeom prst="rect">
              <a:avLst/>
            </a:prstGeom>
            <a:noFill/>
            <a:ln>
              <a:noFill/>
            </a:ln>
          </p:spPr>
          <p:txBody>
            <a:bodyPr wrap="none" lIns="0" tIns="0" rIns="0" bIns="0" anchor="t" anchorCtr="0">
              <a:spAutoFit/>
            </a:bodyPr>
            <a:lstStyle/>
            <a:p>
              <a:pPr algn="l"/>
              <a:r>
                <a:rPr lang="zh-CN" sz="1350" b="1" dirty="0">
                  <a:solidFill>
                    <a:srgbClr val="12395E"/>
                  </a:solidFill>
                  <a:latin typeface="Segoe UI"/>
                  <a:ea typeface="Microsoft YaHei"/>
                  <a:cs typeface="Segoe UI"/>
                </a:rPr>
                <a:t>校正物种数趋势</a:t>
              </a:r>
            </a:p>
          </p:txBody>
        </p:sp>
        <p:sp>
          <p:nvSpPr>
            <p:cNvPr id="17" name="TextBox 17"/>
            <p:cNvSpPr txBox="1"/>
            <p:nvPr/>
          </p:nvSpPr>
          <p:spPr>
            <a:xfrm>
              <a:off x="8138160" y="3813810"/>
              <a:ext cx="178308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大范围为正，且空间上</a:t>
              </a:r>
            </a:p>
          </p:txBody>
        </p:sp>
        <p:sp>
          <p:nvSpPr>
            <p:cNvPr id="18" name="TextBox 18"/>
            <p:cNvSpPr txBox="1"/>
            <p:nvPr/>
          </p:nvSpPr>
          <p:spPr>
            <a:xfrm>
              <a:off x="8138160" y="4023360"/>
              <a:ext cx="108204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呈结构化分布</a:t>
              </a:r>
            </a:p>
          </p:txBody>
        </p:sp>
      </p:grpSp>
      <p:grpSp>
        <p:nvGrpSpPr>
          <p:cNvPr id="25" name="Group 25"/>
          <p:cNvGrpSpPr/>
          <p:nvPr/>
        </p:nvGrpSpPr>
        <p:grpSpPr>
          <a:xfrm>
            <a:off x="7924800" y="4419600"/>
            <a:ext cx="3314700" cy="914400"/>
            <a:chOff x="7924800" y="4419600"/>
            <a:chExt cx="3314700" cy="914400"/>
          </a:xfrm>
        </p:grpSpPr>
        <p:sp>
          <p:nvSpPr>
            <p:cNvPr id="20" name="Rectangle 20"/>
            <p:cNvSpPr/>
            <p:nvPr/>
          </p:nvSpPr>
          <p:spPr>
            <a:xfrm>
              <a:off x="7924800" y="4419600"/>
              <a:ext cx="3314700" cy="914400"/>
            </a:xfrm>
            <a:prstGeom prst="roundRect">
              <a:avLst>
                <a:gd name="adj" fmla="val 8333"/>
              </a:avLst>
            </a:prstGeom>
            <a:solidFill>
              <a:srgbClr val="FFFFFF"/>
            </a:solidFill>
            <a:ln>
              <a:noFill/>
            </a:ln>
          </p:spPr>
        </p:sp>
        <p:sp>
          <p:nvSpPr>
            <p:cNvPr id="21" name="Rectangle 21"/>
            <p:cNvSpPr/>
            <p:nvPr/>
          </p:nvSpPr>
          <p:spPr>
            <a:xfrm>
              <a:off x="7924800" y="4419600"/>
              <a:ext cx="38100" cy="914400"/>
            </a:xfrm>
            <a:prstGeom prst="roundRect">
              <a:avLst>
                <a:gd name="adj" fmla="val 50000"/>
              </a:avLst>
            </a:prstGeom>
            <a:solidFill>
              <a:srgbClr val="D97A34"/>
            </a:solidFill>
            <a:ln>
              <a:noFill/>
            </a:ln>
          </p:spPr>
        </p:sp>
        <p:sp>
          <p:nvSpPr>
            <p:cNvPr id="22" name="TextBox 22"/>
            <p:cNvSpPr txBox="1"/>
            <p:nvPr/>
          </p:nvSpPr>
          <p:spPr>
            <a:xfrm>
              <a:off x="8136255" y="4578668"/>
              <a:ext cx="1288275" cy="274320"/>
            </a:xfrm>
            <a:prstGeom prst="rect">
              <a:avLst/>
            </a:prstGeom>
            <a:noFill/>
            <a:ln>
              <a:noFill/>
            </a:ln>
          </p:spPr>
          <p:txBody>
            <a:bodyPr wrap="none" lIns="0" tIns="0" rIns="0" bIns="0" anchor="t" anchorCtr="0">
              <a:spAutoFit/>
            </a:bodyPr>
            <a:lstStyle/>
            <a:p>
              <a:pPr algn="l"/>
              <a:r>
                <a:rPr lang="zh-CN" sz="1350" b="1" dirty="0">
                  <a:solidFill>
                    <a:srgbClr val="B3611F"/>
                  </a:solidFill>
                  <a:latin typeface="Segoe UI"/>
                  <a:ea typeface="Microsoft YaHei"/>
                  <a:cs typeface="Segoe UI"/>
                </a:rPr>
                <a:t>功能体积趋势</a:t>
              </a:r>
            </a:p>
          </p:txBody>
        </p:sp>
        <p:sp>
          <p:nvSpPr>
            <p:cNvPr id="23" name="TextBox 23"/>
            <p:cNvSpPr txBox="1"/>
            <p:nvPr/>
          </p:nvSpPr>
          <p:spPr>
            <a:xfrm>
              <a:off x="8138160" y="4880610"/>
              <a:ext cx="178308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缺乏同等幅度的增长，</a:t>
              </a:r>
            </a:p>
          </p:txBody>
        </p:sp>
        <p:sp>
          <p:nvSpPr>
            <p:cNvPr id="24" name="TextBox 24"/>
            <p:cNvSpPr txBox="1"/>
            <p:nvPr/>
          </p:nvSpPr>
          <p:spPr>
            <a:xfrm>
              <a:off x="8138160" y="5090160"/>
              <a:ext cx="178308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与物种数趋势并不重合</a:t>
              </a:r>
            </a:p>
          </p:txBody>
        </p:sp>
      </p:grpSp>
      <p:sp>
        <p:nvSpPr>
          <p:cNvPr id="26" name="TextBox 26"/>
          <p:cNvSpPr txBox="1"/>
          <p:nvPr/>
        </p:nvSpPr>
        <p:spPr>
          <a:xfrm>
            <a:off x="668655" y="5874068"/>
            <a:ext cx="6406744" cy="274320"/>
          </a:xfrm>
          <a:prstGeom prst="rect">
            <a:avLst/>
          </a:prstGeom>
          <a:noFill/>
          <a:ln>
            <a:noFill/>
          </a:ln>
        </p:spPr>
        <p:txBody>
          <a:bodyPr wrap="none" lIns="0" tIns="0" rIns="0" bIns="0" anchor="t" anchorCtr="0">
            <a:spAutoFit/>
          </a:bodyPr>
          <a:lstStyle/>
          <a:p>
            <a:pPr algn="l"/>
            <a:r>
              <a:rPr lang="zh-CN" sz="1350" b="1" dirty="0">
                <a:solidFill>
                  <a:srgbClr val="B3611F"/>
                </a:solidFill>
                <a:latin typeface="Segoe UI"/>
                <a:ea typeface="Microsoft YaHei"/>
                <a:cs typeface="Segoe UI"/>
              </a:rPr>
              <a:t>这意味着：</a:t>
            </a:r>
            <a:r>
              <a:rPr lang="zh-CN" sz="1350" dirty="0">
                <a:solidFill>
                  <a:srgbClr val="0F2740"/>
                </a:solidFill>
                <a:latin typeface="Segoe UI"/>
                <a:ea typeface="Microsoft YaHei"/>
                <a:cs typeface="Segoe UI"/>
              </a:rPr>
              <a:t xml:space="preserve"> </a:t>
            </a:r>
            <a:r>
              <a:rPr lang="zh-CN" sz="1350" dirty="0">
                <a:solidFill>
                  <a:srgbClr val="0F2740"/>
                </a:solidFill>
                <a:latin typeface="Segoe UI"/>
                <a:ea typeface="Microsoft YaHei"/>
                <a:cs typeface="Segoe UI"/>
              </a:rPr>
              <a:t>解耦不是全国平均掩盖下的假象，在空间格局上同样看得见。</a:t>
            </a:r>
          </a:p>
        </p:txBody>
      </p:sp>
      <p:sp>
        <p:nvSpPr>
          <p:cNvPr id="27" name="TextBox 27"/>
          <p:cNvSpPr txBox="1"/>
          <p:nvPr/>
        </p:nvSpPr>
        <p:spPr>
          <a:xfrm>
            <a:off x="672465" y="6211252"/>
            <a:ext cx="5323465"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来源：Fig 3，本研究（GCB 稿件 v6） · 趋势以 z 分数呈现并做不确定性掩膜</a:t>
            </a:r>
          </a:p>
        </p:txBody>
      </p:sp>
      <p:sp>
        <p:nvSpPr>
          <p:cNvPr id="28" name="TextBox 28"/>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18</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D97A34"/>
          </a:solidFill>
          <a:ln>
            <a:noFill/>
          </a:ln>
        </p:spPr>
      </p:sp>
      <p:sp>
        <p:nvSpPr>
          <p:cNvPr id="4" name="TextBox 4"/>
          <p:cNvSpPr txBox="1"/>
          <p:nvPr/>
        </p:nvSpPr>
        <p:spPr>
          <a:xfrm>
            <a:off x="653415" y="677228"/>
            <a:ext cx="7170687"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核心发现：分类维度上升，功能维度反向</a:t>
            </a:r>
          </a:p>
        </p:txBody>
      </p:sp>
      <p:sp>
        <p:nvSpPr>
          <p:cNvPr id="5" name="Rectangle 5"/>
          <p:cNvSpPr/>
          <p:nvPr/>
        </p:nvSpPr>
        <p:spPr>
          <a:xfrm>
            <a:off x="685800" y="1181100"/>
            <a:ext cx="10820400" cy="9525"/>
          </a:xfrm>
          <a:prstGeom prst="rect">
            <a:avLst/>
          </a:prstGeom>
          <a:solidFill>
            <a:srgbClr val="D8DFE7"/>
          </a:solidFill>
          <a:ln>
            <a:noFill/>
          </a:ln>
        </p:spPr>
      </p:sp>
      <p:sp>
        <p:nvSpPr>
          <p:cNvPr id="6" name="TextBox 6"/>
          <p:cNvSpPr txBox="1"/>
          <p:nvPr/>
        </p:nvSpPr>
        <p:spPr>
          <a:xfrm>
            <a:off x="9499282" y="839152"/>
            <a:ext cx="2020252" cy="213360"/>
          </a:xfrm>
          <a:prstGeom prst="rect">
            <a:avLst/>
          </a:prstGeom>
          <a:noFill/>
          <a:ln>
            <a:noFill/>
          </a:ln>
        </p:spPr>
        <p:txBody>
          <a:bodyPr wrap="none" lIns="0" tIns="0" rIns="0" bIns="0" anchor="t" anchorCtr="0">
            <a:spAutoFit/>
          </a:bodyPr>
          <a:lstStyle/>
          <a:p>
            <a:pPr algn="r"/>
            <a:r>
              <a:rPr lang="zh-CN" sz="1050" dirty="0">
                <a:solidFill>
                  <a:srgbClr val="B3611F"/>
                </a:solidFill>
                <a:latin typeface="Segoe UI"/>
                <a:ea typeface="Microsoft YaHei"/>
                <a:cs typeface="Segoe UI"/>
              </a:rPr>
              <a:t>三、核心发现 · KEY RESULT</a:t>
            </a:r>
          </a:p>
        </p:txBody>
      </p:sp>
      <p:pic>
        <p:nvPicPr>
          <p:cNvPr id="7" name="Image 7"/>
          <p:cNvPicPr>
            <a:picLocks noChangeAspect="1"/>
          </p:cNvPicPr>
          <p:nvPr/>
        </p:nvPicPr>
        <p:blipFill>
          <a:blip r:embed="rId2"/>
          <a:stretch>
            <a:fillRect/>
          </a:stretch>
        </p:blipFill>
        <p:spPr>
          <a:xfrm>
            <a:off x="688771" y="1447800"/>
            <a:ext cx="5099458" cy="4457700"/>
          </a:xfrm>
          <a:prstGeom prst="rect">
            <a:avLst/>
          </a:prstGeom>
        </p:spPr>
      </p:pic>
      <p:sp>
        <p:nvSpPr>
          <p:cNvPr id="8" name="Rectangle 8"/>
          <p:cNvSpPr/>
          <p:nvPr/>
        </p:nvSpPr>
        <p:spPr>
          <a:xfrm>
            <a:off x="6096000" y="1447800"/>
            <a:ext cx="5410200" cy="1866900"/>
          </a:xfrm>
          <a:prstGeom prst="roundRect">
            <a:avLst>
              <a:gd name="adj" fmla="val 5102"/>
            </a:avLst>
          </a:prstGeom>
          <a:solidFill>
            <a:srgbClr val="F4F7FA"/>
          </a:solidFill>
          <a:ln>
            <a:noFill/>
          </a:ln>
        </p:spPr>
      </p:sp>
      <p:sp>
        <p:nvSpPr>
          <p:cNvPr id="9" name="Rectangle 9"/>
          <p:cNvSpPr/>
          <p:nvPr/>
        </p:nvSpPr>
        <p:spPr>
          <a:xfrm>
            <a:off x="6096000" y="1447800"/>
            <a:ext cx="47625" cy="1866900"/>
          </a:xfrm>
          <a:prstGeom prst="roundRect">
            <a:avLst>
              <a:gd name="adj" fmla="val 50000"/>
            </a:avLst>
          </a:prstGeom>
          <a:solidFill>
            <a:srgbClr val="2E75B6"/>
          </a:solidFill>
          <a:ln>
            <a:noFill/>
          </a:ln>
        </p:spPr>
      </p:sp>
      <p:sp>
        <p:nvSpPr>
          <p:cNvPr id="10" name="TextBox 10"/>
          <p:cNvSpPr txBox="1"/>
          <p:nvPr/>
        </p:nvSpPr>
        <p:spPr>
          <a:xfrm>
            <a:off x="6380798" y="1658779"/>
            <a:ext cx="1259157" cy="320040"/>
          </a:xfrm>
          <a:prstGeom prst="rect">
            <a:avLst/>
          </a:prstGeom>
          <a:noFill/>
          <a:ln>
            <a:noFill/>
          </a:ln>
        </p:spPr>
        <p:txBody>
          <a:bodyPr wrap="none" lIns="0" tIns="0" rIns="0" bIns="0" anchor="t" anchorCtr="0">
            <a:spAutoFit/>
          </a:bodyPr>
          <a:lstStyle/>
          <a:p>
            <a:pPr algn="l"/>
            <a:r>
              <a:rPr lang="zh-CN" sz="1575" b="1" dirty="0">
                <a:solidFill>
                  <a:srgbClr val="12395E"/>
                </a:solidFill>
                <a:latin typeface="Segoe UI"/>
                <a:ea typeface="Microsoft YaHei"/>
                <a:cs typeface="Segoe UI"/>
              </a:rPr>
              <a:t>上升的维度</a:t>
            </a:r>
          </a:p>
        </p:txBody>
      </p:sp>
      <p:sp>
        <p:nvSpPr>
          <p:cNvPr id="11" name="TextBox 11"/>
          <p:cNvSpPr txBox="1"/>
          <p:nvPr/>
        </p:nvSpPr>
        <p:spPr>
          <a:xfrm>
            <a:off x="6383655" y="2045018"/>
            <a:ext cx="3228404"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 校正后物种数 · Shannon 多样性</a:t>
            </a:r>
          </a:p>
        </p:txBody>
      </p:sp>
      <p:sp>
        <p:nvSpPr>
          <p:cNvPr id="12" name="TextBox 12"/>
          <p:cNvSpPr txBox="1"/>
          <p:nvPr/>
        </p:nvSpPr>
        <p:spPr>
          <a:xfrm>
            <a:off x="6383655" y="2330768"/>
            <a:ext cx="3125876"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 inverse Simpson （PD 待重算）</a:t>
            </a:r>
          </a:p>
        </p:txBody>
      </p:sp>
      <p:sp>
        <p:nvSpPr>
          <p:cNvPr id="13" name="Rectangle 13"/>
          <p:cNvSpPr/>
          <p:nvPr/>
        </p:nvSpPr>
        <p:spPr>
          <a:xfrm>
            <a:off x="6400800" y="2705100"/>
            <a:ext cx="4800600" cy="419100"/>
          </a:xfrm>
          <a:prstGeom prst="roundRect">
            <a:avLst>
              <a:gd name="adj" fmla="val 13636"/>
            </a:avLst>
          </a:prstGeom>
          <a:solidFill>
            <a:srgbClr val="FFFFFF"/>
          </a:solidFill>
          <a:ln>
            <a:noFill/>
          </a:ln>
        </p:spPr>
      </p:sp>
      <p:sp>
        <p:nvSpPr>
          <p:cNvPr id="14" name="TextBox 14"/>
          <p:cNvSpPr txBox="1"/>
          <p:nvPr/>
        </p:nvSpPr>
        <p:spPr>
          <a:xfrm>
            <a:off x="6576060" y="2842260"/>
            <a:ext cx="2978353"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两套物种池（200 / 500 种）方向一致</a:t>
            </a:r>
          </a:p>
        </p:txBody>
      </p:sp>
      <p:sp>
        <p:nvSpPr>
          <p:cNvPr id="15" name="Rectangle 15"/>
          <p:cNvSpPr/>
          <p:nvPr/>
        </p:nvSpPr>
        <p:spPr>
          <a:xfrm>
            <a:off x="6096000" y="3505200"/>
            <a:ext cx="5410200" cy="1866900"/>
          </a:xfrm>
          <a:prstGeom prst="roundRect">
            <a:avLst>
              <a:gd name="adj" fmla="val 5102"/>
            </a:avLst>
          </a:prstGeom>
          <a:solidFill>
            <a:srgbClr val="FDF4EC"/>
          </a:solidFill>
          <a:ln>
            <a:noFill/>
          </a:ln>
        </p:spPr>
      </p:sp>
      <p:sp>
        <p:nvSpPr>
          <p:cNvPr id="16" name="Rectangle 16"/>
          <p:cNvSpPr/>
          <p:nvPr/>
        </p:nvSpPr>
        <p:spPr>
          <a:xfrm>
            <a:off x="6096000" y="3505200"/>
            <a:ext cx="47625" cy="1866900"/>
          </a:xfrm>
          <a:prstGeom prst="roundRect">
            <a:avLst>
              <a:gd name="adj" fmla="val 50000"/>
            </a:avLst>
          </a:prstGeom>
          <a:solidFill>
            <a:srgbClr val="D97A34"/>
          </a:solidFill>
          <a:ln>
            <a:noFill/>
          </a:ln>
        </p:spPr>
      </p:sp>
      <p:sp>
        <p:nvSpPr>
          <p:cNvPr id="17" name="TextBox 17"/>
          <p:cNvSpPr txBox="1"/>
          <p:nvPr/>
        </p:nvSpPr>
        <p:spPr>
          <a:xfrm>
            <a:off x="6380798" y="3716179"/>
            <a:ext cx="2283245" cy="320040"/>
          </a:xfrm>
          <a:prstGeom prst="rect">
            <a:avLst/>
          </a:prstGeom>
          <a:noFill/>
          <a:ln>
            <a:noFill/>
          </a:ln>
        </p:spPr>
        <p:txBody>
          <a:bodyPr wrap="none" lIns="0" tIns="0" rIns="0" bIns="0" anchor="t" anchorCtr="0">
            <a:spAutoFit/>
          </a:bodyPr>
          <a:lstStyle/>
          <a:p>
            <a:pPr algn="l"/>
            <a:r>
              <a:rPr lang="zh-CN" sz="1575" b="1" dirty="0">
                <a:solidFill>
                  <a:srgbClr val="B3611F"/>
                </a:solidFill>
                <a:latin typeface="Segoe UI"/>
                <a:ea typeface="Microsoft YaHei"/>
                <a:cs typeface="Segoe UI"/>
              </a:rPr>
              <a:t>未上升 / 反向的维度</a:t>
            </a:r>
          </a:p>
        </p:txBody>
      </p:sp>
      <p:sp>
        <p:nvSpPr>
          <p:cNvPr id="18" name="TextBox 18"/>
          <p:cNvSpPr txBox="1"/>
          <p:nvPr/>
        </p:nvSpPr>
        <p:spPr>
          <a:xfrm>
            <a:off x="6383655" y="4102418"/>
            <a:ext cx="3677945"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 功能体积 trait volume 1.383 → 1.365</a:t>
            </a:r>
          </a:p>
        </p:txBody>
      </p:sp>
      <p:sp>
        <p:nvSpPr>
          <p:cNvPr id="19" name="TextBox 19"/>
          <p:cNvSpPr txBox="1"/>
          <p:nvPr/>
        </p:nvSpPr>
        <p:spPr>
          <a:xfrm>
            <a:off x="6383655" y="4388168"/>
            <a:ext cx="2329320"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 Rao's Q 1.705 → 1.680</a:t>
            </a:r>
          </a:p>
        </p:txBody>
      </p:sp>
      <p:sp>
        <p:nvSpPr>
          <p:cNvPr id="20" name="Rectangle 20"/>
          <p:cNvSpPr/>
          <p:nvPr/>
        </p:nvSpPr>
        <p:spPr>
          <a:xfrm>
            <a:off x="6400800" y="4762500"/>
            <a:ext cx="4800600" cy="419100"/>
          </a:xfrm>
          <a:prstGeom prst="roundRect">
            <a:avLst>
              <a:gd name="adj" fmla="val 13636"/>
            </a:avLst>
          </a:prstGeom>
          <a:solidFill>
            <a:srgbClr val="FFFFFF"/>
          </a:solidFill>
          <a:ln>
            <a:noFill/>
          </a:ln>
        </p:spPr>
      </p:sp>
      <p:sp>
        <p:nvSpPr>
          <p:cNvPr id="21" name="TextBox 21"/>
          <p:cNvSpPr txBox="1"/>
          <p:nvPr/>
        </p:nvSpPr>
        <p:spPr>
          <a:xfrm>
            <a:off x="6576060" y="4899660"/>
            <a:ext cx="3162376" cy="243840"/>
          </a:xfrm>
          <a:prstGeom prst="rect">
            <a:avLst/>
          </a:prstGeom>
          <a:noFill/>
          <a:ln>
            <a:noFill/>
          </a:ln>
        </p:spPr>
        <p:txBody>
          <a:bodyPr wrap="none" lIns="0" tIns="0" rIns="0" bIns="0" anchor="t" anchorCtr="0">
            <a:spAutoFit/>
          </a:bodyPr>
          <a:lstStyle/>
          <a:p>
            <a:pPr algn="l"/>
            <a:r>
              <a:rPr lang="zh-CN" sz="1200" dirty="0">
                <a:solidFill>
                  <a:srgbClr val="B3611F"/>
                </a:solidFill>
                <a:latin typeface="Segoe UI"/>
                <a:ea typeface="Microsoft YaHei"/>
                <a:cs typeface="Segoe UI"/>
              </a:rPr>
              <a:t>5 个时期单调下降：幅度虽小，方向稳定</a:t>
            </a:r>
          </a:p>
        </p:txBody>
      </p:sp>
      <p:sp>
        <p:nvSpPr>
          <p:cNvPr id="22" name="Rectangle 22"/>
          <p:cNvSpPr/>
          <p:nvPr/>
        </p:nvSpPr>
        <p:spPr>
          <a:xfrm>
            <a:off x="6096000" y="5562600"/>
            <a:ext cx="5410200" cy="495300"/>
          </a:xfrm>
          <a:prstGeom prst="roundRect">
            <a:avLst>
              <a:gd name="adj" fmla="val 15385"/>
            </a:avLst>
          </a:prstGeom>
          <a:solidFill>
            <a:srgbClr val="12395E"/>
          </a:solidFill>
          <a:ln>
            <a:noFill/>
          </a:ln>
        </p:spPr>
      </p:sp>
      <p:sp>
        <p:nvSpPr>
          <p:cNvPr id="23" name="TextBox 23"/>
          <p:cNvSpPr txBox="1"/>
          <p:nvPr/>
        </p:nvSpPr>
        <p:spPr>
          <a:xfrm>
            <a:off x="7508988" y="5713571"/>
            <a:ext cx="2584223"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Segoe UI"/>
                <a:ea typeface="Microsoft YaHei"/>
                <a:cs typeface="Segoe UI"/>
              </a:rPr>
              <a:t>H2 的"恢复假设"不被支持</a:t>
            </a:r>
          </a:p>
        </p:txBody>
      </p:sp>
      <p:sp>
        <p:nvSpPr>
          <p:cNvPr id="24" name="TextBox 24"/>
          <p:cNvSpPr txBox="1"/>
          <p:nvPr/>
        </p:nvSpPr>
        <p:spPr>
          <a:xfrm>
            <a:off x="672465" y="6039802"/>
            <a:ext cx="4384948"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来源：Fig 4，本研究（GCB 稿件 v6） · a 端点变化 b 全国轨迹</a:t>
            </a:r>
          </a:p>
        </p:txBody>
      </p:sp>
      <p:sp>
        <p:nvSpPr>
          <p:cNvPr id="25" name="TextBox 25"/>
          <p:cNvSpPr txBox="1"/>
          <p:nvPr/>
        </p:nvSpPr>
        <p:spPr>
          <a:xfrm>
            <a:off x="672465" y="6249352"/>
            <a:ext cx="5547360"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功能同质化主张的最终强弱，将依功能指标斜率的后验可信区间定档（见局限页）</a:t>
            </a:r>
          </a:p>
        </p:txBody>
      </p:sp>
      <p:sp>
        <p:nvSpPr>
          <p:cNvPr id="26" name="TextBox 26"/>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19</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7735212"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H3 成立：晚期群落变化由替换转为嵌套主导</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572750" y="801052"/>
            <a:ext cx="946785"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三、核心发现</a:t>
            </a:r>
          </a:p>
        </p:txBody>
      </p:sp>
      <p:sp>
        <p:nvSpPr>
          <p:cNvPr id="6" name="TextBox 6"/>
          <p:cNvSpPr txBox="1"/>
          <p:nvPr/>
        </p:nvSpPr>
        <p:spPr>
          <a:xfrm>
            <a:off x="668655" y="1397318"/>
            <a:ext cx="7053453" cy="274320"/>
          </a:xfrm>
          <a:prstGeom prst="rect">
            <a:avLst/>
          </a:prstGeom>
          <a:noFill/>
          <a:ln>
            <a:noFill/>
          </a:ln>
        </p:spPr>
        <p:txBody>
          <a:bodyPr wrap="none" lIns="0" tIns="0" rIns="0" bIns="0" anchor="t" anchorCtr="0">
            <a:spAutoFit/>
          </a:bodyPr>
          <a:lstStyle/>
          <a:p>
            <a:pPr algn="l"/>
            <a:r>
              <a:rPr lang="zh-CN" sz="1350" dirty="0">
                <a:solidFill>
                  <a:srgbClr val="5A6B7C"/>
                </a:solidFill>
                <a:latin typeface="Segoe UI"/>
                <a:ea typeface="Microsoft YaHei"/>
                <a:cs typeface="Segoe UI"/>
              </a:rPr>
              <a:t>时间 beta 多样性中 turnover（物种替换）所占比例 · 概率加权 Baselga 分解</a:t>
            </a:r>
          </a:p>
        </p:txBody>
      </p:sp>
      <p:sp>
        <p:nvSpPr>
          <p:cNvPr id="7" name="Rectangle 7"/>
          <p:cNvSpPr/>
          <p:nvPr/>
        </p:nvSpPr>
        <p:spPr>
          <a:xfrm>
            <a:off x="685800" y="1752600"/>
            <a:ext cx="6667500" cy="3486150"/>
          </a:xfrm>
          <a:prstGeom prst="roundRect">
            <a:avLst>
              <a:gd name="adj" fmla="val 2732"/>
            </a:avLst>
          </a:prstGeom>
          <a:solidFill>
            <a:srgbClr val="F4F7FA"/>
          </a:solidFill>
          <a:ln>
            <a:noFill/>
          </a:ln>
        </p:spPr>
      </p:sp>
      <p:sp>
        <p:nvSpPr>
          <p:cNvPr id="8" name="TextBox 8"/>
          <p:cNvSpPr txBox="1"/>
          <p:nvPr/>
        </p:nvSpPr>
        <p:spPr>
          <a:xfrm>
            <a:off x="811578" y="2096452"/>
            <a:ext cx="32570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80%</a:t>
            </a:r>
          </a:p>
        </p:txBody>
      </p:sp>
      <p:sp>
        <p:nvSpPr>
          <p:cNvPr id="9" name="TextBox 9"/>
          <p:cNvSpPr txBox="1"/>
          <p:nvPr/>
        </p:nvSpPr>
        <p:spPr>
          <a:xfrm>
            <a:off x="811578" y="2744152"/>
            <a:ext cx="32570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60%</a:t>
            </a:r>
          </a:p>
        </p:txBody>
      </p:sp>
      <p:sp>
        <p:nvSpPr>
          <p:cNvPr id="10" name="TextBox 10"/>
          <p:cNvSpPr txBox="1"/>
          <p:nvPr/>
        </p:nvSpPr>
        <p:spPr>
          <a:xfrm>
            <a:off x="811578" y="3391852"/>
            <a:ext cx="32570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40%</a:t>
            </a:r>
          </a:p>
        </p:txBody>
      </p:sp>
      <p:sp>
        <p:nvSpPr>
          <p:cNvPr id="11" name="TextBox 11"/>
          <p:cNvSpPr txBox="1"/>
          <p:nvPr/>
        </p:nvSpPr>
        <p:spPr>
          <a:xfrm>
            <a:off x="811578" y="4039552"/>
            <a:ext cx="32570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20%</a:t>
            </a:r>
          </a:p>
        </p:txBody>
      </p:sp>
      <p:sp>
        <p:nvSpPr>
          <p:cNvPr id="12" name="TextBox 12"/>
          <p:cNvSpPr txBox="1"/>
          <p:nvPr/>
        </p:nvSpPr>
        <p:spPr>
          <a:xfrm>
            <a:off x="895922" y="4687252"/>
            <a:ext cx="241364"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0%</a:t>
            </a:r>
          </a:p>
        </p:txBody>
      </p:sp>
      <p:sp>
        <p:nvSpPr>
          <p:cNvPr id="13" name="Line 13"/>
          <p:cNvSpPr/>
          <p:nvPr/>
        </p:nvSpPr>
        <p:spPr>
          <a:xfrm>
            <a:off x="1219200" y="2152650"/>
            <a:ext cx="5829300" cy="9525"/>
          </a:xfrm>
          <a:custGeom>
            <a:avLst/>
            <a:gdLst/>
            <a:ahLst/>
            <a:cxnLst/>
            <a:rect l="l" t="t" r="r" b="b"/>
            <a:pathLst>
              <a:path w="5829300" h="9525">
                <a:moveTo>
                  <a:pt x="0" y="0"/>
                </a:moveTo>
                <a:lnTo>
                  <a:pt x="5829300" y="0"/>
                </a:lnTo>
              </a:path>
            </a:pathLst>
          </a:custGeom>
          <a:noFill/>
          <a:ln w="9525">
            <a:solidFill>
              <a:srgbClr val="E4EAF0"/>
            </a:solidFill>
          </a:ln>
        </p:spPr>
      </p:sp>
      <p:sp>
        <p:nvSpPr>
          <p:cNvPr id="14" name="Line 14"/>
          <p:cNvSpPr/>
          <p:nvPr/>
        </p:nvSpPr>
        <p:spPr>
          <a:xfrm>
            <a:off x="1219200" y="2800350"/>
            <a:ext cx="5829300" cy="9525"/>
          </a:xfrm>
          <a:custGeom>
            <a:avLst/>
            <a:gdLst/>
            <a:ahLst/>
            <a:cxnLst/>
            <a:rect l="l" t="t" r="r" b="b"/>
            <a:pathLst>
              <a:path w="5829300" h="9525">
                <a:moveTo>
                  <a:pt x="0" y="0"/>
                </a:moveTo>
                <a:lnTo>
                  <a:pt x="5829300" y="0"/>
                </a:lnTo>
              </a:path>
            </a:pathLst>
          </a:custGeom>
          <a:noFill/>
          <a:ln w="9525">
            <a:solidFill>
              <a:srgbClr val="E4EAF0"/>
            </a:solidFill>
          </a:ln>
        </p:spPr>
      </p:sp>
      <p:sp>
        <p:nvSpPr>
          <p:cNvPr id="15" name="Line 15"/>
          <p:cNvSpPr/>
          <p:nvPr/>
        </p:nvSpPr>
        <p:spPr>
          <a:xfrm>
            <a:off x="1219200" y="3448050"/>
            <a:ext cx="5829300" cy="9525"/>
          </a:xfrm>
          <a:custGeom>
            <a:avLst/>
            <a:gdLst/>
            <a:ahLst/>
            <a:cxnLst/>
            <a:rect l="l" t="t" r="r" b="b"/>
            <a:pathLst>
              <a:path w="5829300" h="9525">
                <a:moveTo>
                  <a:pt x="0" y="0"/>
                </a:moveTo>
                <a:lnTo>
                  <a:pt x="5829300" y="0"/>
                </a:lnTo>
              </a:path>
            </a:pathLst>
          </a:custGeom>
          <a:noFill/>
          <a:ln w="9525">
            <a:solidFill>
              <a:srgbClr val="E4EAF0"/>
            </a:solidFill>
          </a:ln>
        </p:spPr>
      </p:sp>
      <p:sp>
        <p:nvSpPr>
          <p:cNvPr id="16" name="Line 16"/>
          <p:cNvSpPr/>
          <p:nvPr/>
        </p:nvSpPr>
        <p:spPr>
          <a:xfrm>
            <a:off x="1219200" y="4095750"/>
            <a:ext cx="5829300" cy="9525"/>
          </a:xfrm>
          <a:custGeom>
            <a:avLst/>
            <a:gdLst/>
            <a:ahLst/>
            <a:cxnLst/>
            <a:rect l="l" t="t" r="r" b="b"/>
            <a:pathLst>
              <a:path w="5829300" h="9525">
                <a:moveTo>
                  <a:pt x="0" y="0"/>
                </a:moveTo>
                <a:lnTo>
                  <a:pt x="5829300" y="0"/>
                </a:lnTo>
              </a:path>
            </a:pathLst>
          </a:custGeom>
          <a:noFill/>
          <a:ln w="9525">
            <a:solidFill>
              <a:srgbClr val="E4EAF0"/>
            </a:solidFill>
          </a:ln>
        </p:spPr>
      </p:sp>
      <p:sp>
        <p:nvSpPr>
          <p:cNvPr id="17" name="Line 17"/>
          <p:cNvSpPr/>
          <p:nvPr/>
        </p:nvSpPr>
        <p:spPr>
          <a:xfrm>
            <a:off x="1219200" y="4743450"/>
            <a:ext cx="5829300" cy="9525"/>
          </a:xfrm>
          <a:custGeom>
            <a:avLst/>
            <a:gdLst/>
            <a:ahLst/>
            <a:cxnLst/>
            <a:rect l="l" t="t" r="r" b="b"/>
            <a:pathLst>
              <a:path w="5829300" h="9525">
                <a:moveTo>
                  <a:pt x="0" y="0"/>
                </a:moveTo>
                <a:lnTo>
                  <a:pt x="5829300" y="0"/>
                </a:lnTo>
              </a:path>
            </a:pathLst>
          </a:custGeom>
          <a:noFill/>
          <a:ln w="14288">
            <a:solidFill>
              <a:srgbClr val="B7C4D1"/>
            </a:solidFill>
          </a:ln>
        </p:spPr>
      </p:sp>
      <p:sp>
        <p:nvSpPr>
          <p:cNvPr id="18" name="Polyline 18"/>
          <p:cNvSpPr/>
          <p:nvPr/>
        </p:nvSpPr>
        <p:spPr>
          <a:xfrm>
            <a:off x="1905000" y="2609850"/>
            <a:ext cx="4286250" cy="1771650"/>
          </a:xfrm>
          <a:custGeom>
            <a:avLst/>
            <a:gdLst/>
            <a:ahLst/>
            <a:cxnLst/>
            <a:rect l="l" t="t" r="r" b="b"/>
            <a:pathLst>
              <a:path w="4286250" h="1771650">
                <a:moveTo>
                  <a:pt x="0" y="0"/>
                </a:moveTo>
                <a:lnTo>
                  <a:pt x="1428750" y="742950"/>
                </a:lnTo>
                <a:lnTo>
                  <a:pt x="2857500" y="390525"/>
                </a:lnTo>
                <a:lnTo>
                  <a:pt x="4286250" y="1771650"/>
                </a:lnTo>
              </a:path>
            </a:pathLst>
          </a:custGeom>
          <a:noFill/>
          <a:ln w="38100" cap="rnd">
            <a:solidFill>
              <a:srgbClr val="2E75B6"/>
            </a:solidFill>
          </a:ln>
        </p:spPr>
      </p:sp>
      <p:sp>
        <p:nvSpPr>
          <p:cNvPr id="19" name="Ellipse 19"/>
          <p:cNvSpPr/>
          <p:nvPr/>
        </p:nvSpPr>
        <p:spPr>
          <a:xfrm>
            <a:off x="1828800" y="2533650"/>
            <a:ext cx="152400" cy="152400"/>
          </a:xfrm>
          <a:prstGeom prst="ellipse">
            <a:avLst/>
          </a:prstGeom>
          <a:solidFill>
            <a:srgbClr val="2E75B6"/>
          </a:solidFill>
          <a:ln>
            <a:noFill/>
          </a:ln>
        </p:spPr>
      </p:sp>
      <p:sp>
        <p:nvSpPr>
          <p:cNvPr id="20" name="Ellipse 20"/>
          <p:cNvSpPr/>
          <p:nvPr/>
        </p:nvSpPr>
        <p:spPr>
          <a:xfrm>
            <a:off x="3257550" y="3276600"/>
            <a:ext cx="152400" cy="152400"/>
          </a:xfrm>
          <a:prstGeom prst="ellipse">
            <a:avLst/>
          </a:prstGeom>
          <a:solidFill>
            <a:srgbClr val="2E75B6"/>
          </a:solidFill>
          <a:ln>
            <a:noFill/>
          </a:ln>
        </p:spPr>
      </p:sp>
      <p:sp>
        <p:nvSpPr>
          <p:cNvPr id="21" name="Ellipse 21"/>
          <p:cNvSpPr/>
          <p:nvPr/>
        </p:nvSpPr>
        <p:spPr>
          <a:xfrm>
            <a:off x="4686300" y="2924175"/>
            <a:ext cx="152400" cy="152400"/>
          </a:xfrm>
          <a:prstGeom prst="ellipse">
            <a:avLst/>
          </a:prstGeom>
          <a:solidFill>
            <a:srgbClr val="2E75B6"/>
          </a:solidFill>
          <a:ln>
            <a:noFill/>
          </a:ln>
        </p:spPr>
      </p:sp>
      <p:sp>
        <p:nvSpPr>
          <p:cNvPr id="22" name="Ellipse 22"/>
          <p:cNvSpPr/>
          <p:nvPr/>
        </p:nvSpPr>
        <p:spPr>
          <a:xfrm>
            <a:off x="6096000" y="4286250"/>
            <a:ext cx="190500" cy="190500"/>
          </a:xfrm>
          <a:prstGeom prst="ellipse">
            <a:avLst/>
          </a:prstGeom>
          <a:solidFill>
            <a:srgbClr val="D97A34"/>
          </a:solidFill>
          <a:ln>
            <a:noFill/>
          </a:ln>
        </p:spPr>
      </p:sp>
      <p:sp>
        <p:nvSpPr>
          <p:cNvPr id="23" name="TextBox 23"/>
          <p:cNvSpPr txBox="1"/>
          <p:nvPr/>
        </p:nvSpPr>
        <p:spPr>
          <a:xfrm>
            <a:off x="1648624" y="2355056"/>
            <a:ext cx="512753" cy="228600"/>
          </a:xfrm>
          <a:prstGeom prst="rect">
            <a:avLst/>
          </a:prstGeom>
          <a:noFill/>
          <a:ln>
            <a:noFill/>
          </a:ln>
        </p:spPr>
        <p:txBody>
          <a:bodyPr wrap="none" lIns="0" tIns="0" rIns="0" bIns="0" anchor="t" anchorCtr="0">
            <a:spAutoFit/>
          </a:bodyPr>
          <a:lstStyle/>
          <a:p>
            <a:pPr algn="ctr"/>
            <a:r>
              <a:rPr lang="zh-CN" sz="1125" b="1" dirty="0">
                <a:solidFill>
                  <a:srgbClr val="12395E"/>
                </a:solidFill>
                <a:latin typeface="Segoe UI"/>
                <a:ea typeface="Microsoft YaHei"/>
                <a:cs typeface="Segoe UI"/>
              </a:rPr>
              <a:t>65.9%</a:t>
            </a:r>
          </a:p>
        </p:txBody>
      </p:sp>
      <p:sp>
        <p:nvSpPr>
          <p:cNvPr id="24" name="TextBox 24"/>
          <p:cNvSpPr txBox="1"/>
          <p:nvPr/>
        </p:nvSpPr>
        <p:spPr>
          <a:xfrm>
            <a:off x="3077374" y="3098006"/>
            <a:ext cx="512753" cy="228600"/>
          </a:xfrm>
          <a:prstGeom prst="rect">
            <a:avLst/>
          </a:prstGeom>
          <a:noFill/>
          <a:ln>
            <a:noFill/>
          </a:ln>
        </p:spPr>
        <p:txBody>
          <a:bodyPr wrap="none" lIns="0" tIns="0" rIns="0" bIns="0" anchor="t" anchorCtr="0">
            <a:spAutoFit/>
          </a:bodyPr>
          <a:lstStyle/>
          <a:p>
            <a:pPr algn="ctr"/>
            <a:r>
              <a:rPr lang="zh-CN" sz="1125" b="1" dirty="0">
                <a:solidFill>
                  <a:srgbClr val="12395E"/>
                </a:solidFill>
                <a:latin typeface="Segoe UI"/>
                <a:ea typeface="Microsoft YaHei"/>
                <a:cs typeface="Segoe UI"/>
              </a:rPr>
              <a:t>42.8%</a:t>
            </a:r>
          </a:p>
        </p:txBody>
      </p:sp>
      <p:sp>
        <p:nvSpPr>
          <p:cNvPr id="25" name="TextBox 25"/>
          <p:cNvSpPr txBox="1"/>
          <p:nvPr/>
        </p:nvSpPr>
        <p:spPr>
          <a:xfrm>
            <a:off x="4506124" y="2745581"/>
            <a:ext cx="512753" cy="228600"/>
          </a:xfrm>
          <a:prstGeom prst="rect">
            <a:avLst/>
          </a:prstGeom>
          <a:noFill/>
          <a:ln>
            <a:noFill/>
          </a:ln>
        </p:spPr>
        <p:txBody>
          <a:bodyPr wrap="none" lIns="0" tIns="0" rIns="0" bIns="0" anchor="t" anchorCtr="0">
            <a:spAutoFit/>
          </a:bodyPr>
          <a:lstStyle/>
          <a:p>
            <a:pPr algn="ctr"/>
            <a:r>
              <a:rPr lang="zh-CN" sz="1125" b="1" dirty="0">
                <a:solidFill>
                  <a:srgbClr val="12395E"/>
                </a:solidFill>
                <a:latin typeface="Segoe UI"/>
                <a:ea typeface="Microsoft YaHei"/>
                <a:cs typeface="Segoe UI"/>
              </a:rPr>
              <a:t>53.8%</a:t>
            </a:r>
          </a:p>
        </p:txBody>
      </p:sp>
      <p:sp>
        <p:nvSpPr>
          <p:cNvPr id="26" name="TextBox 26"/>
          <p:cNvSpPr txBox="1"/>
          <p:nvPr/>
        </p:nvSpPr>
        <p:spPr>
          <a:xfrm>
            <a:off x="5900690" y="3939064"/>
            <a:ext cx="581120" cy="259080"/>
          </a:xfrm>
          <a:prstGeom prst="rect">
            <a:avLst/>
          </a:prstGeom>
          <a:noFill/>
          <a:ln>
            <a:noFill/>
          </a:ln>
        </p:spPr>
        <p:txBody>
          <a:bodyPr wrap="none" lIns="0" tIns="0" rIns="0" bIns="0" anchor="t" anchorCtr="0">
            <a:spAutoFit/>
          </a:bodyPr>
          <a:lstStyle/>
          <a:p>
            <a:pPr algn="ctr"/>
            <a:r>
              <a:rPr lang="zh-CN" sz="1275" b="1" dirty="0">
                <a:solidFill>
                  <a:srgbClr val="B3611F"/>
                </a:solidFill>
                <a:latin typeface="Segoe UI"/>
                <a:ea typeface="Microsoft YaHei"/>
                <a:cs typeface="Segoe UI"/>
              </a:rPr>
              <a:t>11.3%</a:t>
            </a:r>
          </a:p>
        </p:txBody>
      </p:sp>
      <p:sp>
        <p:nvSpPr>
          <p:cNvPr id="27" name="Polyline 27"/>
          <p:cNvSpPr/>
          <p:nvPr/>
        </p:nvSpPr>
        <p:spPr>
          <a:xfrm>
            <a:off x="1905000" y="2295525"/>
            <a:ext cx="4286250" cy="1819275"/>
          </a:xfrm>
          <a:custGeom>
            <a:avLst/>
            <a:gdLst/>
            <a:ahLst/>
            <a:cxnLst/>
            <a:rect l="l" t="t" r="r" b="b"/>
            <a:pathLst>
              <a:path w="4286250" h="1819275">
                <a:moveTo>
                  <a:pt x="0" y="0"/>
                </a:moveTo>
                <a:lnTo>
                  <a:pt x="1428750" y="666750"/>
                </a:lnTo>
                <a:lnTo>
                  <a:pt x="2857500" y="333375"/>
                </a:lnTo>
                <a:lnTo>
                  <a:pt x="4286250" y="1819275"/>
                </a:lnTo>
              </a:path>
            </a:pathLst>
          </a:custGeom>
          <a:noFill/>
          <a:ln w="28575">
            <a:solidFill>
              <a:srgbClr val="9FC7EA"/>
            </a:solidFill>
            <a:custDash>
              <a:ds d="233333" sp="166666"/>
            </a:custDash>
          </a:ln>
        </p:spPr>
      </p:sp>
      <p:sp>
        <p:nvSpPr>
          <p:cNvPr id="28" name="Ellipse 28"/>
          <p:cNvSpPr/>
          <p:nvPr/>
        </p:nvSpPr>
        <p:spPr>
          <a:xfrm>
            <a:off x="1857375" y="2247900"/>
            <a:ext cx="95250" cy="95250"/>
          </a:xfrm>
          <a:prstGeom prst="ellipse">
            <a:avLst/>
          </a:prstGeom>
          <a:solidFill>
            <a:srgbClr val="9FC7EA"/>
          </a:solidFill>
          <a:ln>
            <a:noFill/>
          </a:ln>
        </p:spPr>
      </p:sp>
      <p:sp>
        <p:nvSpPr>
          <p:cNvPr id="29" name="Ellipse 29"/>
          <p:cNvSpPr/>
          <p:nvPr/>
        </p:nvSpPr>
        <p:spPr>
          <a:xfrm>
            <a:off x="3286125" y="2914650"/>
            <a:ext cx="95250" cy="95250"/>
          </a:xfrm>
          <a:prstGeom prst="ellipse">
            <a:avLst/>
          </a:prstGeom>
          <a:solidFill>
            <a:srgbClr val="9FC7EA"/>
          </a:solidFill>
          <a:ln>
            <a:noFill/>
          </a:ln>
        </p:spPr>
      </p:sp>
      <p:sp>
        <p:nvSpPr>
          <p:cNvPr id="30" name="Ellipse 30"/>
          <p:cNvSpPr/>
          <p:nvPr/>
        </p:nvSpPr>
        <p:spPr>
          <a:xfrm>
            <a:off x="4714875" y="2581275"/>
            <a:ext cx="95250" cy="95250"/>
          </a:xfrm>
          <a:prstGeom prst="ellipse">
            <a:avLst/>
          </a:prstGeom>
          <a:solidFill>
            <a:srgbClr val="9FC7EA"/>
          </a:solidFill>
          <a:ln>
            <a:noFill/>
          </a:ln>
        </p:spPr>
      </p:sp>
      <p:sp>
        <p:nvSpPr>
          <p:cNvPr id="31" name="Ellipse 31"/>
          <p:cNvSpPr/>
          <p:nvPr/>
        </p:nvSpPr>
        <p:spPr>
          <a:xfrm>
            <a:off x="6143625" y="4067175"/>
            <a:ext cx="95250" cy="95250"/>
          </a:xfrm>
          <a:prstGeom prst="ellipse">
            <a:avLst/>
          </a:prstGeom>
          <a:solidFill>
            <a:srgbClr val="9FC7EA"/>
          </a:solidFill>
          <a:ln>
            <a:noFill/>
          </a:ln>
        </p:spPr>
      </p:sp>
      <p:sp>
        <p:nvSpPr>
          <p:cNvPr id="32" name="TextBox 32"/>
          <p:cNvSpPr txBox="1"/>
          <p:nvPr/>
        </p:nvSpPr>
        <p:spPr>
          <a:xfrm>
            <a:off x="1644767" y="4877752"/>
            <a:ext cx="520465"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P1→P2</a:t>
            </a:r>
          </a:p>
        </p:txBody>
      </p:sp>
      <p:sp>
        <p:nvSpPr>
          <p:cNvPr id="33" name="TextBox 33"/>
          <p:cNvSpPr txBox="1"/>
          <p:nvPr/>
        </p:nvSpPr>
        <p:spPr>
          <a:xfrm>
            <a:off x="3073517" y="4877752"/>
            <a:ext cx="520465"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P2→P3</a:t>
            </a:r>
          </a:p>
        </p:txBody>
      </p:sp>
      <p:sp>
        <p:nvSpPr>
          <p:cNvPr id="34" name="TextBox 34"/>
          <p:cNvSpPr txBox="1"/>
          <p:nvPr/>
        </p:nvSpPr>
        <p:spPr>
          <a:xfrm>
            <a:off x="4502267" y="4877752"/>
            <a:ext cx="520465"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P3→P4</a:t>
            </a:r>
          </a:p>
        </p:txBody>
      </p:sp>
      <p:sp>
        <p:nvSpPr>
          <p:cNvPr id="35" name="TextBox 35"/>
          <p:cNvSpPr txBox="1"/>
          <p:nvPr/>
        </p:nvSpPr>
        <p:spPr>
          <a:xfrm>
            <a:off x="5931017" y="4877752"/>
            <a:ext cx="520465" cy="213360"/>
          </a:xfrm>
          <a:prstGeom prst="rect">
            <a:avLst/>
          </a:prstGeom>
          <a:noFill/>
          <a:ln>
            <a:noFill/>
          </a:ln>
        </p:spPr>
        <p:txBody>
          <a:bodyPr wrap="none" lIns="0" tIns="0" rIns="0" bIns="0" anchor="t" anchorCtr="0">
            <a:spAutoFit/>
          </a:bodyPr>
          <a:lstStyle/>
          <a:p>
            <a:pPr algn="ctr"/>
            <a:r>
              <a:rPr lang="zh-CN" sz="1050" dirty="0">
                <a:solidFill>
                  <a:srgbClr val="B3611F"/>
                </a:solidFill>
                <a:latin typeface="Segoe UI"/>
                <a:ea typeface="Microsoft YaHei"/>
                <a:cs typeface="Segoe UI"/>
              </a:rPr>
              <a:t>P4→P5</a:t>
            </a:r>
          </a:p>
        </p:txBody>
      </p:sp>
      <p:sp>
        <p:nvSpPr>
          <p:cNvPr id="36" name="Line 36"/>
          <p:cNvSpPr/>
          <p:nvPr/>
        </p:nvSpPr>
        <p:spPr>
          <a:xfrm>
            <a:off x="4476750" y="1981200"/>
            <a:ext cx="304800" cy="9525"/>
          </a:xfrm>
          <a:custGeom>
            <a:avLst/>
            <a:gdLst/>
            <a:ahLst/>
            <a:cxnLst/>
            <a:rect l="l" t="t" r="r" b="b"/>
            <a:pathLst>
              <a:path w="304800" h="9525">
                <a:moveTo>
                  <a:pt x="0" y="0"/>
                </a:moveTo>
                <a:lnTo>
                  <a:pt x="304800" y="0"/>
                </a:lnTo>
              </a:path>
            </a:pathLst>
          </a:custGeom>
          <a:noFill/>
          <a:ln w="38100">
            <a:solidFill>
              <a:srgbClr val="2E75B6"/>
            </a:solidFill>
          </a:ln>
        </p:spPr>
      </p:sp>
      <p:sp>
        <p:nvSpPr>
          <p:cNvPr id="37" name="TextBox 37"/>
          <p:cNvSpPr txBox="1"/>
          <p:nvPr/>
        </p:nvSpPr>
        <p:spPr>
          <a:xfrm>
            <a:off x="4844415" y="1915478"/>
            <a:ext cx="1095537"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200 种空间模型</a:t>
            </a:r>
          </a:p>
        </p:txBody>
      </p:sp>
      <p:sp>
        <p:nvSpPr>
          <p:cNvPr id="38" name="Line 38"/>
          <p:cNvSpPr/>
          <p:nvPr/>
        </p:nvSpPr>
        <p:spPr>
          <a:xfrm>
            <a:off x="5905500" y="1981200"/>
            <a:ext cx="304800" cy="9525"/>
          </a:xfrm>
          <a:custGeom>
            <a:avLst/>
            <a:gdLst/>
            <a:ahLst/>
            <a:cxnLst/>
            <a:rect l="l" t="t" r="r" b="b"/>
            <a:pathLst>
              <a:path w="304800" h="9525">
                <a:moveTo>
                  <a:pt x="0" y="0"/>
                </a:moveTo>
                <a:lnTo>
                  <a:pt x="304800" y="0"/>
                </a:lnTo>
              </a:path>
            </a:pathLst>
          </a:custGeom>
          <a:noFill/>
          <a:ln w="28575">
            <a:solidFill>
              <a:srgbClr val="9FC7EA"/>
            </a:solidFill>
            <a:custDash>
              <a:ds d="233333" sp="166666"/>
            </a:custDash>
          </a:ln>
        </p:spPr>
      </p:sp>
      <p:sp>
        <p:nvSpPr>
          <p:cNvPr id="39" name="TextBox 39"/>
          <p:cNvSpPr txBox="1"/>
          <p:nvPr/>
        </p:nvSpPr>
        <p:spPr>
          <a:xfrm>
            <a:off x="6273165" y="1915478"/>
            <a:ext cx="482127"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500 种</a:t>
            </a:r>
          </a:p>
        </p:txBody>
      </p:sp>
      <p:sp>
        <p:nvSpPr>
          <p:cNvPr id="40" name="Rectangle 40"/>
          <p:cNvSpPr/>
          <p:nvPr/>
        </p:nvSpPr>
        <p:spPr>
          <a:xfrm>
            <a:off x="7658100" y="1752600"/>
            <a:ext cx="3848100" cy="1619250"/>
          </a:xfrm>
          <a:prstGeom prst="roundRect">
            <a:avLst>
              <a:gd name="adj" fmla="val 5882"/>
            </a:avLst>
          </a:prstGeom>
          <a:solidFill>
            <a:srgbClr val="FDF4EC"/>
          </a:solidFill>
          <a:ln>
            <a:noFill/>
          </a:ln>
        </p:spPr>
      </p:sp>
      <p:sp>
        <p:nvSpPr>
          <p:cNvPr id="41" name="Rectangle 41"/>
          <p:cNvSpPr/>
          <p:nvPr/>
        </p:nvSpPr>
        <p:spPr>
          <a:xfrm>
            <a:off x="7658100" y="1752600"/>
            <a:ext cx="47625" cy="1619250"/>
          </a:xfrm>
          <a:prstGeom prst="roundRect">
            <a:avLst>
              <a:gd name="adj" fmla="val 50000"/>
            </a:avLst>
          </a:prstGeom>
          <a:solidFill>
            <a:srgbClr val="D97A34"/>
          </a:solidFill>
          <a:ln>
            <a:noFill/>
          </a:ln>
        </p:spPr>
      </p:sp>
      <p:sp>
        <p:nvSpPr>
          <p:cNvPr id="42" name="TextBox 42"/>
          <p:cNvSpPr txBox="1"/>
          <p:nvPr/>
        </p:nvSpPr>
        <p:spPr>
          <a:xfrm>
            <a:off x="7943850" y="1971675"/>
            <a:ext cx="1895856" cy="304800"/>
          </a:xfrm>
          <a:prstGeom prst="rect">
            <a:avLst/>
          </a:prstGeom>
          <a:noFill/>
          <a:ln>
            <a:noFill/>
          </a:ln>
        </p:spPr>
        <p:txBody>
          <a:bodyPr wrap="none" lIns="0" tIns="0" rIns="0" bIns="0" anchor="t" anchorCtr="0">
            <a:spAutoFit/>
          </a:bodyPr>
          <a:lstStyle/>
          <a:p>
            <a:pPr algn="l"/>
            <a:r>
              <a:rPr lang="zh-CN" sz="1500" b="1" dirty="0">
                <a:solidFill>
                  <a:srgbClr val="B3611F"/>
                </a:solidFill>
                <a:latin typeface="Segoe UI"/>
                <a:ea typeface="Microsoft YaHei"/>
                <a:cs typeface="Segoe UI"/>
              </a:rPr>
              <a:t>最后一期近乎崩塌</a:t>
            </a:r>
          </a:p>
        </p:txBody>
      </p:sp>
      <p:sp>
        <p:nvSpPr>
          <p:cNvPr id="43" name="TextBox 43"/>
          <p:cNvSpPr txBox="1"/>
          <p:nvPr/>
        </p:nvSpPr>
        <p:spPr>
          <a:xfrm>
            <a:off x="7946708" y="2338864"/>
            <a:ext cx="2434542"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turnover 占比降到 11.3%，</a:t>
            </a:r>
          </a:p>
        </p:txBody>
      </p:sp>
      <p:sp>
        <p:nvSpPr>
          <p:cNvPr id="44" name="TextBox 44"/>
          <p:cNvSpPr txBox="1"/>
          <p:nvPr/>
        </p:nvSpPr>
        <p:spPr>
          <a:xfrm>
            <a:off x="7946708" y="2586514"/>
            <a:ext cx="2652412"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95% 可信区间上界仅 0.166——</a:t>
            </a:r>
          </a:p>
        </p:txBody>
      </p:sp>
      <p:sp>
        <p:nvSpPr>
          <p:cNvPr id="45" name="TextBox 45"/>
          <p:cNvSpPr txBox="1"/>
          <p:nvPr/>
        </p:nvSpPr>
        <p:spPr>
          <a:xfrm>
            <a:off x="7946708" y="2834164"/>
            <a:ext cx="2810694"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nestedness 主导在统计上稳健。</a:t>
            </a:r>
          </a:p>
        </p:txBody>
      </p:sp>
      <p:sp>
        <p:nvSpPr>
          <p:cNvPr id="46" name="Rectangle 46"/>
          <p:cNvSpPr/>
          <p:nvPr/>
        </p:nvSpPr>
        <p:spPr>
          <a:xfrm>
            <a:off x="7658100" y="3562350"/>
            <a:ext cx="3848100" cy="1676400"/>
          </a:xfrm>
          <a:prstGeom prst="roundRect">
            <a:avLst>
              <a:gd name="adj" fmla="val 5682"/>
            </a:avLst>
          </a:prstGeom>
          <a:solidFill>
            <a:srgbClr val="12395E"/>
          </a:solidFill>
          <a:ln>
            <a:noFill/>
          </a:ln>
        </p:spPr>
      </p:sp>
      <p:sp>
        <p:nvSpPr>
          <p:cNvPr id="47" name="TextBox 47"/>
          <p:cNvSpPr txBox="1"/>
          <p:nvPr/>
        </p:nvSpPr>
        <p:spPr>
          <a:xfrm>
            <a:off x="7943850" y="3781425"/>
            <a:ext cx="966978"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Segoe UI"/>
                <a:ea typeface="Microsoft YaHei"/>
                <a:cs typeface="Segoe UI"/>
              </a:rPr>
              <a:t>关键推理</a:t>
            </a:r>
          </a:p>
        </p:txBody>
      </p:sp>
      <p:sp>
        <p:nvSpPr>
          <p:cNvPr id="48" name="TextBox 48"/>
          <p:cNvSpPr txBox="1"/>
          <p:nvPr/>
        </p:nvSpPr>
        <p:spPr>
          <a:xfrm>
            <a:off x="7946708" y="4148614"/>
            <a:ext cx="1708309"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同期物种数在上升，</a:t>
            </a:r>
          </a:p>
        </p:txBody>
      </p:sp>
      <p:sp>
        <p:nvSpPr>
          <p:cNvPr id="49" name="TextBox 49"/>
          <p:cNvSpPr txBox="1"/>
          <p:nvPr/>
        </p:nvSpPr>
        <p:spPr>
          <a:xfrm>
            <a:off x="7946708" y="4396264"/>
            <a:ext cx="2453164"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所以嵌套不是局域灭绝导致的</a:t>
            </a:r>
          </a:p>
        </p:txBody>
      </p:sp>
      <p:sp>
        <p:nvSpPr>
          <p:cNvPr id="50" name="TextBox 50"/>
          <p:cNvSpPr txBox="1"/>
          <p:nvPr/>
        </p:nvSpPr>
        <p:spPr>
          <a:xfrm>
            <a:off x="7946708" y="4643914"/>
            <a:ext cx="2639377"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贫化子集，而是广布种到处累积</a:t>
            </a:r>
          </a:p>
        </p:txBody>
      </p:sp>
      <p:sp>
        <p:nvSpPr>
          <p:cNvPr id="51" name="TextBox 51"/>
          <p:cNvSpPr txBox="1"/>
          <p:nvPr/>
        </p:nvSpPr>
        <p:spPr>
          <a:xfrm>
            <a:off x="7946708" y="4891564"/>
            <a:ext cx="1522095"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形成的嵌套超集。</a:t>
            </a:r>
          </a:p>
        </p:txBody>
      </p:sp>
      <p:sp>
        <p:nvSpPr>
          <p:cNvPr id="52" name="TextBox 52"/>
          <p:cNvSpPr txBox="1"/>
          <p:nvPr/>
        </p:nvSpPr>
        <p:spPr>
          <a:xfrm>
            <a:off x="667702" y="5523071"/>
            <a:ext cx="8036376" cy="289560"/>
          </a:xfrm>
          <a:prstGeom prst="rect">
            <a:avLst/>
          </a:prstGeom>
          <a:noFill/>
          <a:ln>
            <a:noFill/>
          </a:ln>
        </p:spPr>
        <p:txBody>
          <a:bodyPr wrap="none" lIns="0" tIns="0" rIns="0" bIns="0" anchor="t" anchorCtr="0">
            <a:spAutoFit/>
          </a:bodyPr>
          <a:lstStyle/>
          <a:p>
            <a:pPr algn="l"/>
            <a:r>
              <a:rPr lang="zh-CN" sz="1425" b="1" dirty="0">
                <a:solidFill>
                  <a:srgbClr val="12395E"/>
                </a:solidFill>
                <a:latin typeface="Segoe UI"/>
                <a:ea typeface="Microsoft YaHei"/>
                <a:cs typeface="Segoe UI"/>
              </a:rPr>
              <a:t>一句话：</a:t>
            </a:r>
            <a:r>
              <a:rPr lang="zh-CN" sz="1425" dirty="0">
                <a:solidFill>
                  <a:srgbClr val="0F2740"/>
                </a:solidFill>
                <a:latin typeface="Segoe UI"/>
                <a:ea typeface="Microsoft YaHei"/>
                <a:cs typeface="Segoe UI"/>
              </a:rPr>
              <a:t xml:space="preserve"> </a:t>
            </a:r>
            <a:r>
              <a:rPr lang="zh-CN" sz="1425" dirty="0">
                <a:solidFill>
                  <a:srgbClr val="0F2740"/>
                </a:solidFill>
                <a:latin typeface="Segoe UI"/>
                <a:ea typeface="Microsoft YaHei"/>
                <a:cs typeface="Segoe UI"/>
              </a:rPr>
              <a:t>群落不再是"你有我无"的相互替换，而是越来越像同一份名单的子集与超集。</a:t>
            </a:r>
          </a:p>
        </p:txBody>
      </p:sp>
      <p:sp>
        <p:nvSpPr>
          <p:cNvPr id="53" name="TextBox 53"/>
          <p:cNvSpPr txBox="1"/>
          <p:nvPr/>
        </p:nvSpPr>
        <p:spPr>
          <a:xfrm>
            <a:off x="672465" y="6039802"/>
            <a:ext cx="7013410"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来源：results_v3 Baselga 全国汇总表（n = 1,247 格）；Baselga 2010, 2012；GCB 稿件 v6 结果 3.3</a:t>
            </a:r>
          </a:p>
        </p:txBody>
      </p:sp>
      <p:sp>
        <p:nvSpPr>
          <p:cNvPr id="54" name="TextBox 54"/>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20</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9144552"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赢家多为水鸟与开阔生境种，收缩种多见山地森林鸟</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572750" y="801052"/>
            <a:ext cx="946785"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三、核心发现</a:t>
            </a:r>
          </a:p>
        </p:txBody>
      </p:sp>
      <p:pic>
        <p:nvPicPr>
          <p:cNvPr id="6" name="Image 6"/>
          <p:cNvPicPr>
            <a:picLocks noChangeAspect="1"/>
          </p:cNvPicPr>
          <p:nvPr/>
        </p:nvPicPr>
        <p:blipFill>
          <a:blip r:embed="rId2"/>
          <a:stretch>
            <a:fillRect/>
          </a:stretch>
        </p:blipFill>
        <p:spPr>
          <a:xfrm>
            <a:off x="689216" y="1428750"/>
            <a:ext cx="5746268" cy="4457700"/>
          </a:xfrm>
          <a:prstGeom prst="rect">
            <a:avLst/>
          </a:prstGeom>
        </p:spPr>
      </p:pic>
      <p:sp>
        <p:nvSpPr>
          <p:cNvPr id="7" name="Rectangle 7"/>
          <p:cNvSpPr/>
          <p:nvPr/>
        </p:nvSpPr>
        <p:spPr>
          <a:xfrm>
            <a:off x="6743700" y="1428750"/>
            <a:ext cx="4762500" cy="1219200"/>
          </a:xfrm>
          <a:prstGeom prst="roundRect">
            <a:avLst>
              <a:gd name="adj" fmla="val 7812"/>
            </a:avLst>
          </a:prstGeom>
          <a:solidFill>
            <a:srgbClr val="F4F7FA"/>
          </a:solidFill>
          <a:ln>
            <a:noFill/>
          </a:ln>
        </p:spPr>
      </p:sp>
      <p:sp>
        <p:nvSpPr>
          <p:cNvPr id="8" name="TextBox 8"/>
          <p:cNvSpPr txBox="1"/>
          <p:nvPr/>
        </p:nvSpPr>
        <p:spPr>
          <a:xfrm>
            <a:off x="6993255" y="1644968"/>
            <a:ext cx="2535991" cy="274320"/>
          </a:xfrm>
          <a:prstGeom prst="rect">
            <a:avLst/>
          </a:prstGeom>
          <a:noFill/>
          <a:ln>
            <a:noFill/>
          </a:ln>
        </p:spPr>
        <p:txBody>
          <a:bodyPr wrap="none" lIns="0" tIns="0" rIns="0" bIns="0" anchor="t" anchorCtr="0">
            <a:spAutoFit/>
          </a:bodyPr>
          <a:lstStyle/>
          <a:p>
            <a:pPr algn="l"/>
            <a:r>
              <a:rPr lang="zh-CN" sz="1350" b="1" dirty="0">
                <a:solidFill>
                  <a:srgbClr val="12395E"/>
                </a:solidFill>
                <a:latin typeface="Segoe UI"/>
                <a:ea typeface="Microsoft YaHei"/>
                <a:cs typeface="Segoe UI"/>
              </a:rPr>
              <a:t>200 种空间模型的趋势分类</a:t>
            </a:r>
          </a:p>
        </p:txBody>
      </p:sp>
      <p:sp>
        <p:nvSpPr>
          <p:cNvPr id="9" name="TextBox 9"/>
          <p:cNvSpPr txBox="1"/>
          <p:nvPr/>
        </p:nvSpPr>
        <p:spPr>
          <a:xfrm>
            <a:off x="6817738" y="1981200"/>
            <a:ext cx="842524" cy="609600"/>
          </a:xfrm>
          <a:prstGeom prst="rect">
            <a:avLst/>
          </a:prstGeom>
          <a:noFill/>
          <a:ln>
            <a:noFill/>
          </a:ln>
        </p:spPr>
        <p:txBody>
          <a:bodyPr wrap="none" lIns="0" tIns="0" rIns="0" bIns="0" anchor="t" anchorCtr="0">
            <a:spAutoFit/>
          </a:bodyPr>
          <a:lstStyle/>
          <a:p>
            <a:pPr algn="ctr"/>
            <a:r>
              <a:rPr lang="zh-CN" sz="3000" b="1" dirty="0">
                <a:solidFill>
                  <a:srgbClr val="2E75B6"/>
                </a:solidFill>
                <a:latin typeface="Segoe UI"/>
                <a:ea typeface="Microsoft YaHei"/>
                <a:cs typeface="Segoe UI"/>
              </a:rPr>
              <a:t>136</a:t>
            </a:r>
          </a:p>
        </p:txBody>
      </p:sp>
      <p:sp>
        <p:nvSpPr>
          <p:cNvPr id="10" name="TextBox 10"/>
          <p:cNvSpPr txBox="1"/>
          <p:nvPr/>
        </p:nvSpPr>
        <p:spPr>
          <a:xfrm>
            <a:off x="7060406" y="2412206"/>
            <a:ext cx="357188" cy="228600"/>
          </a:xfrm>
          <a:prstGeom prst="rect">
            <a:avLst/>
          </a:prstGeom>
          <a:noFill/>
          <a:ln>
            <a:noFill/>
          </a:ln>
        </p:spPr>
        <p:txBody>
          <a:bodyPr wrap="none" lIns="0" tIns="0" rIns="0" bIns="0" anchor="t" anchorCtr="0">
            <a:spAutoFit/>
          </a:bodyPr>
          <a:lstStyle/>
          <a:p>
            <a:pPr algn="ctr"/>
            <a:r>
              <a:rPr lang="zh-CN" sz="1125" dirty="0">
                <a:solidFill>
                  <a:srgbClr val="5A6B7C"/>
                </a:solidFill>
                <a:latin typeface="Segoe UI"/>
                <a:ea typeface="Microsoft YaHei"/>
                <a:cs typeface="Segoe UI"/>
              </a:rPr>
              <a:t>扩张</a:t>
            </a:r>
          </a:p>
        </p:txBody>
      </p:sp>
      <p:sp>
        <p:nvSpPr>
          <p:cNvPr id="11" name="TextBox 11"/>
          <p:cNvSpPr txBox="1"/>
          <p:nvPr/>
        </p:nvSpPr>
        <p:spPr>
          <a:xfrm>
            <a:off x="8469459" y="1981200"/>
            <a:ext cx="587083" cy="609600"/>
          </a:xfrm>
          <a:prstGeom prst="rect">
            <a:avLst/>
          </a:prstGeom>
          <a:noFill/>
          <a:ln>
            <a:noFill/>
          </a:ln>
        </p:spPr>
        <p:txBody>
          <a:bodyPr wrap="none" lIns="0" tIns="0" rIns="0" bIns="0" anchor="t" anchorCtr="0">
            <a:spAutoFit/>
          </a:bodyPr>
          <a:lstStyle/>
          <a:p>
            <a:pPr algn="ctr"/>
            <a:r>
              <a:rPr lang="zh-CN" sz="3000" b="1" dirty="0">
                <a:solidFill>
                  <a:srgbClr val="5A6B7C"/>
                </a:solidFill>
                <a:latin typeface="Segoe UI"/>
                <a:ea typeface="Microsoft YaHei"/>
                <a:cs typeface="Segoe UI"/>
              </a:rPr>
              <a:t>62</a:t>
            </a:r>
          </a:p>
        </p:txBody>
      </p:sp>
      <p:sp>
        <p:nvSpPr>
          <p:cNvPr id="12" name="TextBox 12"/>
          <p:cNvSpPr txBox="1"/>
          <p:nvPr/>
        </p:nvSpPr>
        <p:spPr>
          <a:xfrm>
            <a:off x="8584406" y="2412206"/>
            <a:ext cx="357188" cy="228600"/>
          </a:xfrm>
          <a:prstGeom prst="rect">
            <a:avLst/>
          </a:prstGeom>
          <a:noFill/>
          <a:ln>
            <a:noFill/>
          </a:ln>
        </p:spPr>
        <p:txBody>
          <a:bodyPr wrap="none" lIns="0" tIns="0" rIns="0" bIns="0" anchor="t" anchorCtr="0">
            <a:spAutoFit/>
          </a:bodyPr>
          <a:lstStyle/>
          <a:p>
            <a:pPr algn="ctr"/>
            <a:r>
              <a:rPr lang="zh-CN" sz="1125" dirty="0">
                <a:solidFill>
                  <a:srgbClr val="5A6B7C"/>
                </a:solidFill>
                <a:latin typeface="Segoe UI"/>
                <a:ea typeface="Microsoft YaHei"/>
                <a:cs typeface="Segoe UI"/>
              </a:rPr>
              <a:t>稳定</a:t>
            </a:r>
          </a:p>
        </p:txBody>
      </p:sp>
      <p:sp>
        <p:nvSpPr>
          <p:cNvPr id="13" name="TextBox 13"/>
          <p:cNvSpPr txBox="1"/>
          <p:nvPr/>
        </p:nvSpPr>
        <p:spPr>
          <a:xfrm>
            <a:off x="10216429" y="1981200"/>
            <a:ext cx="331641" cy="609600"/>
          </a:xfrm>
          <a:prstGeom prst="rect">
            <a:avLst/>
          </a:prstGeom>
          <a:noFill/>
          <a:ln>
            <a:noFill/>
          </a:ln>
        </p:spPr>
        <p:txBody>
          <a:bodyPr wrap="none" lIns="0" tIns="0" rIns="0" bIns="0" anchor="t" anchorCtr="0">
            <a:spAutoFit/>
          </a:bodyPr>
          <a:lstStyle/>
          <a:p>
            <a:pPr algn="ctr"/>
            <a:r>
              <a:rPr lang="zh-CN" sz="3000" b="1" dirty="0">
                <a:solidFill>
                  <a:srgbClr val="D97A34"/>
                </a:solidFill>
                <a:latin typeface="Segoe UI"/>
                <a:ea typeface="Microsoft YaHei"/>
                <a:cs typeface="Segoe UI"/>
              </a:rPr>
              <a:t>2</a:t>
            </a:r>
          </a:p>
        </p:txBody>
      </p:sp>
      <p:sp>
        <p:nvSpPr>
          <p:cNvPr id="14" name="TextBox 14"/>
          <p:cNvSpPr txBox="1"/>
          <p:nvPr/>
        </p:nvSpPr>
        <p:spPr>
          <a:xfrm>
            <a:off x="10203656" y="2412206"/>
            <a:ext cx="357188" cy="228600"/>
          </a:xfrm>
          <a:prstGeom prst="rect">
            <a:avLst/>
          </a:prstGeom>
          <a:noFill/>
          <a:ln>
            <a:noFill/>
          </a:ln>
        </p:spPr>
        <p:txBody>
          <a:bodyPr wrap="none" lIns="0" tIns="0" rIns="0" bIns="0" anchor="t" anchorCtr="0">
            <a:spAutoFit/>
          </a:bodyPr>
          <a:lstStyle/>
          <a:p>
            <a:pPr algn="ctr"/>
            <a:r>
              <a:rPr lang="zh-CN" sz="1125" dirty="0">
                <a:solidFill>
                  <a:srgbClr val="5A6B7C"/>
                </a:solidFill>
                <a:latin typeface="Segoe UI"/>
                <a:ea typeface="Microsoft YaHei"/>
                <a:cs typeface="Segoe UI"/>
              </a:rPr>
              <a:t>收缩</a:t>
            </a:r>
          </a:p>
        </p:txBody>
      </p:sp>
      <p:sp>
        <p:nvSpPr>
          <p:cNvPr id="15" name="Rectangle 15"/>
          <p:cNvSpPr/>
          <p:nvPr/>
        </p:nvSpPr>
        <p:spPr>
          <a:xfrm>
            <a:off x="6743700" y="2838450"/>
            <a:ext cx="4762500" cy="1447800"/>
          </a:xfrm>
          <a:prstGeom prst="roundRect">
            <a:avLst>
              <a:gd name="adj" fmla="val 6579"/>
            </a:avLst>
          </a:prstGeom>
          <a:solidFill>
            <a:srgbClr val="FFFFFF"/>
          </a:solidFill>
          <a:ln w="9525">
            <a:solidFill>
              <a:srgbClr val="D8DFE7"/>
            </a:solidFill>
          </a:ln>
        </p:spPr>
      </p:sp>
      <p:sp>
        <p:nvSpPr>
          <p:cNvPr id="16" name="Rectangle 16"/>
          <p:cNvSpPr/>
          <p:nvPr/>
        </p:nvSpPr>
        <p:spPr>
          <a:xfrm>
            <a:off x="6743700" y="2838450"/>
            <a:ext cx="38100" cy="1447800"/>
          </a:xfrm>
          <a:prstGeom prst="roundRect">
            <a:avLst>
              <a:gd name="adj" fmla="val 50000"/>
            </a:avLst>
          </a:prstGeom>
          <a:solidFill>
            <a:srgbClr val="2E75B6"/>
          </a:solidFill>
          <a:ln>
            <a:noFill/>
          </a:ln>
        </p:spPr>
      </p:sp>
      <p:sp>
        <p:nvSpPr>
          <p:cNvPr id="17" name="TextBox 17"/>
          <p:cNvSpPr txBox="1"/>
          <p:nvPr/>
        </p:nvSpPr>
        <p:spPr>
          <a:xfrm>
            <a:off x="6992302" y="3008471"/>
            <a:ext cx="3345323" cy="289560"/>
          </a:xfrm>
          <a:prstGeom prst="rect">
            <a:avLst/>
          </a:prstGeom>
          <a:noFill/>
          <a:ln>
            <a:noFill/>
          </a:ln>
        </p:spPr>
        <p:txBody>
          <a:bodyPr wrap="none" lIns="0" tIns="0" rIns="0" bIns="0" anchor="t" anchorCtr="0">
            <a:spAutoFit/>
          </a:bodyPr>
          <a:lstStyle/>
          <a:p>
            <a:pPr algn="l"/>
            <a:r>
              <a:rPr lang="zh-CN" sz="1425" b="1" dirty="0">
                <a:solidFill>
                  <a:srgbClr val="12395E"/>
                </a:solidFill>
                <a:latin typeface="Segoe UI"/>
                <a:ea typeface="Microsoft YaHei"/>
                <a:cs typeface="Segoe UI"/>
              </a:rPr>
              <a:t>赢家：水鸟、开阔地与人伴生类群</a:t>
            </a:r>
          </a:p>
        </p:txBody>
      </p:sp>
      <p:sp>
        <p:nvSpPr>
          <p:cNvPr id="18" name="TextBox 18"/>
          <p:cNvSpPr txBox="1"/>
          <p:nvPr/>
        </p:nvSpPr>
        <p:spPr>
          <a:xfrm>
            <a:off x="6995160" y="3337560"/>
            <a:ext cx="4369918"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白骨顶 Fulica atra · 凤头蜂鹰 Pernis ptilorhynchus</a:t>
            </a:r>
          </a:p>
        </p:txBody>
      </p:sp>
      <p:sp>
        <p:nvSpPr>
          <p:cNvPr id="19" name="TextBox 19"/>
          <p:cNvSpPr txBox="1"/>
          <p:nvPr/>
        </p:nvSpPr>
        <p:spPr>
          <a:xfrm>
            <a:off x="6995160" y="3585210"/>
            <a:ext cx="2687422"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星头啄木鸟 Picoides canicapillus</a:t>
            </a:r>
          </a:p>
        </p:txBody>
      </p:sp>
      <p:sp>
        <p:nvSpPr>
          <p:cNvPr id="20" name="TextBox 20"/>
          <p:cNvSpPr txBox="1"/>
          <p:nvPr/>
        </p:nvSpPr>
        <p:spPr>
          <a:xfrm>
            <a:off x="6995160" y="3832860"/>
            <a:ext cx="4664354"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须浮鸥 Chlidonias hybrida · 灰头麦鸡 Vanellus cinereus</a:t>
            </a:r>
          </a:p>
        </p:txBody>
      </p:sp>
      <p:sp>
        <p:nvSpPr>
          <p:cNvPr id="21" name="Rectangle 21"/>
          <p:cNvSpPr/>
          <p:nvPr/>
        </p:nvSpPr>
        <p:spPr>
          <a:xfrm>
            <a:off x="6743700" y="4438650"/>
            <a:ext cx="4762500" cy="1447800"/>
          </a:xfrm>
          <a:prstGeom prst="roundRect">
            <a:avLst>
              <a:gd name="adj" fmla="val 6579"/>
            </a:avLst>
          </a:prstGeom>
          <a:solidFill>
            <a:srgbClr val="FDF4EC"/>
          </a:solidFill>
          <a:ln>
            <a:noFill/>
          </a:ln>
        </p:spPr>
      </p:sp>
      <p:sp>
        <p:nvSpPr>
          <p:cNvPr id="22" name="Rectangle 22"/>
          <p:cNvSpPr/>
          <p:nvPr/>
        </p:nvSpPr>
        <p:spPr>
          <a:xfrm>
            <a:off x="6743700" y="4438650"/>
            <a:ext cx="38100" cy="1447800"/>
          </a:xfrm>
          <a:prstGeom prst="roundRect">
            <a:avLst>
              <a:gd name="adj" fmla="val 50000"/>
            </a:avLst>
          </a:prstGeom>
          <a:solidFill>
            <a:srgbClr val="D97A34"/>
          </a:solidFill>
          <a:ln>
            <a:noFill/>
          </a:ln>
        </p:spPr>
      </p:sp>
      <p:sp>
        <p:nvSpPr>
          <p:cNvPr id="23" name="TextBox 23"/>
          <p:cNvSpPr txBox="1"/>
          <p:nvPr/>
        </p:nvSpPr>
        <p:spPr>
          <a:xfrm>
            <a:off x="6992302" y="4608671"/>
            <a:ext cx="2939403" cy="289560"/>
          </a:xfrm>
          <a:prstGeom prst="rect">
            <a:avLst/>
          </a:prstGeom>
          <a:noFill/>
          <a:ln>
            <a:noFill/>
          </a:ln>
        </p:spPr>
        <p:txBody>
          <a:bodyPr wrap="none" lIns="0" tIns="0" rIns="0" bIns="0" anchor="t" anchorCtr="0">
            <a:spAutoFit/>
          </a:bodyPr>
          <a:lstStyle/>
          <a:p>
            <a:pPr algn="l"/>
            <a:r>
              <a:rPr lang="zh-CN" sz="1425" b="1" dirty="0">
                <a:solidFill>
                  <a:srgbClr val="B3611F"/>
                </a:solidFill>
                <a:latin typeface="Segoe UI"/>
                <a:ea typeface="Microsoft YaHei"/>
                <a:cs typeface="Segoe UI"/>
              </a:rPr>
              <a:t>收缩种：200 种模型中仅 2 种</a:t>
            </a:r>
          </a:p>
        </p:txBody>
      </p:sp>
      <p:sp>
        <p:nvSpPr>
          <p:cNvPr id="24" name="TextBox 24"/>
          <p:cNvSpPr txBox="1"/>
          <p:nvPr/>
        </p:nvSpPr>
        <p:spPr>
          <a:xfrm>
            <a:off x="6995160" y="4937760"/>
            <a:ext cx="4538167"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原鸽 Columba livia · 黑冠山雀 Periparus rubidiventris</a:t>
            </a:r>
          </a:p>
        </p:txBody>
      </p:sp>
      <p:sp>
        <p:nvSpPr>
          <p:cNvPr id="25" name="TextBox 25"/>
          <p:cNvSpPr txBox="1"/>
          <p:nvPr/>
        </p:nvSpPr>
        <p:spPr>
          <a:xfrm>
            <a:off x="6995160" y="5185410"/>
            <a:ext cx="4862398"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500 种模型中多为山地森林鸟：比氏鹟莺 Seicercus valentini</a:t>
            </a:r>
          </a:p>
        </p:txBody>
      </p:sp>
      <p:sp>
        <p:nvSpPr>
          <p:cNvPr id="26" name="TextBox 26"/>
          <p:cNvSpPr txBox="1"/>
          <p:nvPr/>
        </p:nvSpPr>
        <p:spPr>
          <a:xfrm>
            <a:off x="6995160" y="5433060"/>
            <a:ext cx="5042916"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白斑尾柳莺 P. ogilviegranti · 霍氏旋木雀 C. hodgsoni · 血雉</a:t>
            </a:r>
          </a:p>
        </p:txBody>
      </p:sp>
      <p:sp>
        <p:nvSpPr>
          <p:cNvPr id="27" name="TextBox 27"/>
          <p:cNvSpPr txBox="1"/>
          <p:nvPr/>
        </p:nvSpPr>
        <p:spPr>
          <a:xfrm>
            <a:off x="672465" y="6039802"/>
            <a:ext cx="4766796"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来源：Fig 5，本研究 · 物种身份为描述性证据；性状关联检验见下页</a:t>
            </a:r>
          </a:p>
        </p:txBody>
      </p:sp>
      <p:sp>
        <p:nvSpPr>
          <p:cNvPr id="28" name="TextBox 28"/>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21</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6771966"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H5b 成立：检测校正实质改变生态推断</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572750" y="801052"/>
            <a:ext cx="946785"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三、核心发现</a:t>
            </a:r>
          </a:p>
        </p:txBody>
      </p:sp>
      <p:pic>
        <p:nvPicPr>
          <p:cNvPr id="6" name="Image 6"/>
          <p:cNvPicPr>
            <a:picLocks noChangeAspect="1"/>
          </p:cNvPicPr>
          <p:nvPr/>
        </p:nvPicPr>
        <p:blipFill>
          <a:blip r:embed="rId2"/>
          <a:stretch>
            <a:fillRect/>
          </a:stretch>
        </p:blipFill>
        <p:spPr>
          <a:xfrm>
            <a:off x="685800" y="1428750"/>
            <a:ext cx="5829300" cy="4457700"/>
          </a:xfrm>
          <a:prstGeom prst="rect">
            <a:avLst/>
          </a:prstGeom>
        </p:spPr>
      </p:pic>
      <p:sp>
        <p:nvSpPr>
          <p:cNvPr id="7" name="Rectangle 7"/>
          <p:cNvSpPr/>
          <p:nvPr/>
        </p:nvSpPr>
        <p:spPr>
          <a:xfrm>
            <a:off x="6819900" y="1428750"/>
            <a:ext cx="4686300" cy="2019300"/>
          </a:xfrm>
          <a:prstGeom prst="roundRect">
            <a:avLst>
              <a:gd name="adj" fmla="val 4717"/>
            </a:avLst>
          </a:prstGeom>
          <a:solidFill>
            <a:srgbClr val="F4F7FA"/>
          </a:solidFill>
          <a:ln>
            <a:noFill/>
          </a:ln>
        </p:spPr>
      </p:sp>
      <p:sp>
        <p:nvSpPr>
          <p:cNvPr id="8" name="TextBox 8"/>
          <p:cNvSpPr txBox="1"/>
          <p:nvPr/>
        </p:nvSpPr>
        <p:spPr>
          <a:xfrm>
            <a:off x="7067550" y="1647825"/>
            <a:ext cx="1895856" cy="304800"/>
          </a:xfrm>
          <a:prstGeom prst="rect">
            <a:avLst/>
          </a:prstGeom>
          <a:noFill/>
          <a:ln>
            <a:noFill/>
          </a:ln>
        </p:spPr>
        <p:txBody>
          <a:bodyPr wrap="none" lIns="0" tIns="0" rIns="0" bIns="0" anchor="t" anchorCtr="0">
            <a:spAutoFit/>
          </a:bodyPr>
          <a:lstStyle/>
          <a:p>
            <a:pPr algn="l"/>
            <a:r>
              <a:rPr lang="zh-CN" sz="1500" b="1" dirty="0">
                <a:solidFill>
                  <a:srgbClr val="12395E"/>
                </a:solidFill>
                <a:latin typeface="Segoe UI"/>
                <a:ea typeface="Microsoft YaHei"/>
                <a:cs typeface="Segoe UI"/>
              </a:rPr>
              <a:t>校正不是简单缩放</a:t>
            </a:r>
          </a:p>
        </p:txBody>
      </p:sp>
      <p:sp>
        <p:nvSpPr>
          <p:cNvPr id="9" name="Rectangle 9"/>
          <p:cNvSpPr/>
          <p:nvPr/>
        </p:nvSpPr>
        <p:spPr>
          <a:xfrm>
            <a:off x="7086600" y="1924050"/>
            <a:ext cx="381000" cy="28575"/>
          </a:xfrm>
          <a:prstGeom prst="roundRect">
            <a:avLst>
              <a:gd name="adj" fmla="val 50000"/>
            </a:avLst>
          </a:prstGeom>
          <a:solidFill>
            <a:srgbClr val="D97A34"/>
          </a:solidFill>
          <a:ln>
            <a:noFill/>
          </a:ln>
        </p:spPr>
      </p:sp>
      <p:sp>
        <p:nvSpPr>
          <p:cNvPr id="10" name="TextBox 10"/>
          <p:cNvSpPr txBox="1"/>
          <p:nvPr/>
        </p:nvSpPr>
        <p:spPr>
          <a:xfrm>
            <a:off x="7503795" y="2155508"/>
            <a:ext cx="616437" cy="640080"/>
          </a:xfrm>
          <a:prstGeom prst="rect">
            <a:avLst/>
          </a:prstGeom>
          <a:noFill/>
          <a:ln>
            <a:noFill/>
          </a:ln>
        </p:spPr>
        <p:txBody>
          <a:bodyPr wrap="none" lIns="0" tIns="0" rIns="0" bIns="0" anchor="t" anchorCtr="0">
            <a:spAutoFit/>
          </a:bodyPr>
          <a:lstStyle/>
          <a:p>
            <a:pPr algn="l"/>
            <a:r>
              <a:rPr lang="zh-CN" sz="3150" b="1" dirty="0">
                <a:solidFill>
                  <a:srgbClr val="D97A34"/>
                </a:solidFill>
                <a:latin typeface="Segoe UI"/>
                <a:ea typeface="Microsoft YaHei"/>
                <a:cs typeface="Segoe UI"/>
              </a:rPr>
              <a:t>37</a:t>
            </a:r>
          </a:p>
        </p:txBody>
      </p:sp>
      <p:sp>
        <p:nvSpPr>
          <p:cNvPr id="11" name="TextBox 11"/>
          <p:cNvSpPr txBox="1"/>
          <p:nvPr/>
        </p:nvSpPr>
        <p:spPr>
          <a:xfrm>
            <a:off x="8136255" y="2349818"/>
            <a:ext cx="1611630" cy="274320"/>
          </a:xfrm>
          <a:prstGeom prst="rect">
            <a:avLst/>
          </a:prstGeom>
          <a:noFill/>
          <a:ln>
            <a:noFill/>
          </a:ln>
        </p:spPr>
        <p:txBody>
          <a:bodyPr wrap="none" lIns="0" tIns="0" rIns="0" bIns="0" anchor="t" anchorCtr="0">
            <a:spAutoFit/>
          </a:bodyPr>
          <a:lstStyle/>
          <a:p>
            <a:pPr algn="l"/>
            <a:r>
              <a:rPr lang="zh-CN" sz="1350" dirty="0">
                <a:solidFill>
                  <a:srgbClr val="0F2740"/>
                </a:solidFill>
                <a:latin typeface="Segoe UI"/>
                <a:ea typeface="Microsoft YaHei"/>
                <a:cs typeface="Segoe UI"/>
              </a:rPr>
              <a:t>格趋势方向被逆转</a:t>
            </a:r>
          </a:p>
        </p:txBody>
      </p:sp>
      <p:sp>
        <p:nvSpPr>
          <p:cNvPr id="12" name="TextBox 12"/>
          <p:cNvSpPr txBox="1"/>
          <p:nvPr/>
        </p:nvSpPr>
        <p:spPr>
          <a:xfrm>
            <a:off x="7529512" y="2621756"/>
            <a:ext cx="2473452"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 1,247 格（3.0%），200 种模型</a:t>
            </a:r>
          </a:p>
        </p:txBody>
      </p:sp>
      <p:sp>
        <p:nvSpPr>
          <p:cNvPr id="13" name="TextBox 13"/>
          <p:cNvSpPr txBox="1"/>
          <p:nvPr/>
        </p:nvSpPr>
        <p:spPr>
          <a:xfrm>
            <a:off x="7515225" y="2900362"/>
            <a:ext cx="440312" cy="457200"/>
          </a:xfrm>
          <a:prstGeom prst="rect">
            <a:avLst/>
          </a:prstGeom>
          <a:noFill/>
          <a:ln>
            <a:noFill/>
          </a:ln>
        </p:spPr>
        <p:txBody>
          <a:bodyPr wrap="none" lIns="0" tIns="0" rIns="0" bIns="0" anchor="t" anchorCtr="0">
            <a:spAutoFit/>
          </a:bodyPr>
          <a:lstStyle/>
          <a:p>
            <a:pPr algn="l"/>
            <a:r>
              <a:rPr lang="zh-CN" sz="2250" b="1" dirty="0">
                <a:solidFill>
                  <a:srgbClr val="5A6B7C"/>
                </a:solidFill>
                <a:latin typeface="Segoe UI"/>
                <a:ea typeface="Microsoft YaHei"/>
                <a:cs typeface="Segoe UI"/>
              </a:rPr>
              <a:t>25</a:t>
            </a:r>
          </a:p>
        </p:txBody>
      </p:sp>
      <p:sp>
        <p:nvSpPr>
          <p:cNvPr id="14" name="TextBox 14"/>
          <p:cNvSpPr txBox="1"/>
          <p:nvPr/>
        </p:nvSpPr>
        <p:spPr>
          <a:xfrm>
            <a:off x="8137208" y="3005614"/>
            <a:ext cx="2490406"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格逆转（2.0%），500 种模型</a:t>
            </a:r>
          </a:p>
        </p:txBody>
      </p:sp>
      <p:sp>
        <p:nvSpPr>
          <p:cNvPr id="15" name="Rectangle 15"/>
          <p:cNvSpPr/>
          <p:nvPr/>
        </p:nvSpPr>
        <p:spPr>
          <a:xfrm>
            <a:off x="6819900" y="3638550"/>
            <a:ext cx="4686300" cy="1066800"/>
          </a:xfrm>
          <a:prstGeom prst="roundRect">
            <a:avLst>
              <a:gd name="adj" fmla="val 8929"/>
            </a:avLst>
          </a:prstGeom>
          <a:solidFill>
            <a:srgbClr val="FFFFFF"/>
          </a:solidFill>
          <a:ln w="9525">
            <a:solidFill>
              <a:srgbClr val="D8DFE7"/>
            </a:solidFill>
          </a:ln>
        </p:spPr>
      </p:sp>
      <p:sp>
        <p:nvSpPr>
          <p:cNvPr id="16" name="TextBox 16"/>
          <p:cNvSpPr txBox="1"/>
          <p:nvPr/>
        </p:nvSpPr>
        <p:spPr>
          <a:xfrm>
            <a:off x="7069455" y="3835718"/>
            <a:ext cx="1706270" cy="274320"/>
          </a:xfrm>
          <a:prstGeom prst="rect">
            <a:avLst/>
          </a:prstGeom>
          <a:noFill/>
          <a:ln>
            <a:noFill/>
          </a:ln>
        </p:spPr>
        <p:txBody>
          <a:bodyPr wrap="none" lIns="0" tIns="0" rIns="0" bIns="0" anchor="t" anchorCtr="0">
            <a:spAutoFit/>
          </a:bodyPr>
          <a:lstStyle/>
          <a:p>
            <a:pPr algn="l"/>
            <a:r>
              <a:rPr lang="zh-CN" sz="1350" b="1" dirty="0">
                <a:solidFill>
                  <a:srgbClr val="0F2740"/>
                </a:solidFill>
                <a:latin typeface="Segoe UI"/>
                <a:ea typeface="Microsoft YaHei"/>
                <a:cs typeface="Segoe UI"/>
              </a:rPr>
              <a:t>主要改变的是幅度</a:t>
            </a:r>
          </a:p>
        </p:txBody>
      </p:sp>
      <p:sp>
        <p:nvSpPr>
          <p:cNvPr id="17" name="TextBox 17"/>
          <p:cNvSpPr txBox="1"/>
          <p:nvPr/>
        </p:nvSpPr>
        <p:spPr>
          <a:xfrm>
            <a:off x="7071360" y="4156710"/>
            <a:ext cx="2720721"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趋势中位绝对差：6.0（200 种）与</a:t>
            </a:r>
          </a:p>
        </p:txBody>
      </p:sp>
      <p:sp>
        <p:nvSpPr>
          <p:cNvPr id="18" name="TextBox 18"/>
          <p:cNvSpPr txBox="1"/>
          <p:nvPr/>
        </p:nvSpPr>
        <p:spPr>
          <a:xfrm>
            <a:off x="7071360" y="4385310"/>
            <a:ext cx="2405253"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8.7（500 种）校正物种数 / 期</a:t>
            </a:r>
          </a:p>
        </p:txBody>
      </p:sp>
      <p:sp>
        <p:nvSpPr>
          <p:cNvPr id="19" name="Rectangle 19"/>
          <p:cNvSpPr/>
          <p:nvPr/>
        </p:nvSpPr>
        <p:spPr>
          <a:xfrm>
            <a:off x="6819900" y="4895850"/>
            <a:ext cx="4686300" cy="990600"/>
          </a:xfrm>
          <a:prstGeom prst="roundRect">
            <a:avLst>
              <a:gd name="adj" fmla="val 9615"/>
            </a:avLst>
          </a:prstGeom>
          <a:solidFill>
            <a:srgbClr val="12395E"/>
          </a:solidFill>
          <a:ln>
            <a:noFill/>
          </a:ln>
        </p:spPr>
      </p:sp>
      <p:sp>
        <p:nvSpPr>
          <p:cNvPr id="20" name="TextBox 20"/>
          <p:cNvSpPr txBox="1"/>
          <p:nvPr/>
        </p:nvSpPr>
        <p:spPr>
          <a:xfrm>
            <a:off x="7069455" y="5093018"/>
            <a:ext cx="1706270"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Segoe UI"/>
                <a:ea typeface="Microsoft YaHei"/>
                <a:cs typeface="Segoe UI"/>
              </a:rPr>
              <a:t>对监测的直接含义</a:t>
            </a:r>
          </a:p>
        </p:txBody>
      </p:sp>
      <p:sp>
        <p:nvSpPr>
          <p:cNvPr id="21" name="TextBox 21"/>
          <p:cNvSpPr txBox="1"/>
          <p:nvPr/>
        </p:nvSpPr>
        <p:spPr>
          <a:xfrm>
            <a:off x="7071360" y="5414010"/>
            <a:ext cx="2834640"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朴素与校正趋势不一致的格点，正是</a:t>
            </a:r>
          </a:p>
        </p:txBody>
      </p:sp>
      <p:sp>
        <p:nvSpPr>
          <p:cNvPr id="22" name="TextBox 22"/>
          <p:cNvSpPr txBox="1"/>
          <p:nvPr/>
        </p:nvSpPr>
        <p:spPr>
          <a:xfrm>
            <a:off x="7071360" y="5642610"/>
            <a:ext cx="2484120"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未校正数据最会误导监测的地方</a:t>
            </a:r>
          </a:p>
        </p:txBody>
      </p:sp>
      <p:sp>
        <p:nvSpPr>
          <p:cNvPr id="23" name="TextBox 23"/>
          <p:cNvSpPr txBox="1"/>
          <p:nvPr/>
        </p:nvSpPr>
        <p:spPr>
          <a:xfrm>
            <a:off x="672465" y="6039802"/>
            <a:ext cx="5716048"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来源：Fig 6，本研究（GCB 稿件 v6） · 朴素占位记录趋势 vs 检测校正后占域趋势</a:t>
            </a:r>
          </a:p>
        </p:txBody>
      </p:sp>
      <p:sp>
        <p:nvSpPr>
          <p:cNvPr id="24" name="TextBox 24"/>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22</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8402379"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四项检验削弱但未排除"观测扩张"这一替代解释</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572750" y="801052"/>
            <a:ext cx="946785"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三、核心发现</a:t>
            </a:r>
          </a:p>
        </p:txBody>
      </p:sp>
      <p:sp>
        <p:nvSpPr>
          <p:cNvPr id="6" name="Rectangle 6"/>
          <p:cNvSpPr/>
          <p:nvPr/>
        </p:nvSpPr>
        <p:spPr>
          <a:xfrm>
            <a:off x="685800" y="1428750"/>
            <a:ext cx="10820400" cy="628650"/>
          </a:xfrm>
          <a:prstGeom prst="roundRect">
            <a:avLst>
              <a:gd name="adj" fmla="val 12121"/>
            </a:avLst>
          </a:prstGeom>
          <a:solidFill>
            <a:srgbClr val="FDF4EC"/>
          </a:solidFill>
          <a:ln>
            <a:noFill/>
          </a:ln>
        </p:spPr>
      </p:sp>
      <p:sp>
        <p:nvSpPr>
          <p:cNvPr id="7" name="Rectangle 7"/>
          <p:cNvSpPr/>
          <p:nvPr/>
        </p:nvSpPr>
        <p:spPr>
          <a:xfrm>
            <a:off x="685800" y="1428750"/>
            <a:ext cx="47625" cy="628650"/>
          </a:xfrm>
          <a:prstGeom prst="roundRect">
            <a:avLst>
              <a:gd name="adj" fmla="val 50000"/>
            </a:avLst>
          </a:prstGeom>
          <a:solidFill>
            <a:srgbClr val="D97A34"/>
          </a:solidFill>
          <a:ln>
            <a:noFill/>
          </a:ln>
        </p:spPr>
      </p:sp>
      <p:sp>
        <p:nvSpPr>
          <p:cNvPr id="8" name="TextBox 8"/>
          <p:cNvSpPr txBox="1"/>
          <p:nvPr/>
        </p:nvSpPr>
        <p:spPr>
          <a:xfrm>
            <a:off x="1013460" y="1584960"/>
            <a:ext cx="959358" cy="243840"/>
          </a:xfrm>
          <a:prstGeom prst="rect">
            <a:avLst/>
          </a:prstGeom>
          <a:noFill/>
          <a:ln>
            <a:noFill/>
          </a:ln>
        </p:spPr>
        <p:txBody>
          <a:bodyPr wrap="none" lIns="0" tIns="0" rIns="0" bIns="0" anchor="t" anchorCtr="0">
            <a:spAutoFit/>
          </a:bodyPr>
          <a:lstStyle/>
          <a:p>
            <a:pPr algn="l"/>
            <a:r>
              <a:rPr lang="zh-CN" sz="1200" b="1" dirty="0">
                <a:solidFill>
                  <a:srgbClr val="B3611F"/>
                </a:solidFill>
                <a:latin typeface="Segoe UI"/>
                <a:ea typeface="Microsoft YaHei"/>
                <a:cs typeface="Segoe UI"/>
              </a:rPr>
              <a:t>最强的质疑</a:t>
            </a:r>
          </a:p>
        </p:txBody>
      </p:sp>
      <p:sp>
        <p:nvSpPr>
          <p:cNvPr id="9" name="TextBox 9"/>
          <p:cNvSpPr txBox="1"/>
          <p:nvPr/>
        </p:nvSpPr>
        <p:spPr>
          <a:xfrm>
            <a:off x="1010602" y="1808321"/>
            <a:ext cx="7969777" cy="289560"/>
          </a:xfrm>
          <a:prstGeom prst="rect">
            <a:avLst/>
          </a:prstGeom>
          <a:noFill/>
          <a:ln>
            <a:noFill/>
          </a:ln>
        </p:spPr>
        <p:txBody>
          <a:bodyPr wrap="none" lIns="0" tIns="0" rIns="0" bIns="0" anchor="t" anchorCtr="0">
            <a:spAutoFit/>
          </a:bodyPr>
          <a:lstStyle/>
          <a:p>
            <a:pPr algn="l"/>
            <a:r>
              <a:rPr lang="zh-CN" sz="1425" dirty="0">
                <a:solidFill>
                  <a:srgbClr val="0F2740"/>
                </a:solidFill>
                <a:latin typeface="Segoe UI"/>
                <a:ea typeface="Microsoft YaHei"/>
                <a:cs typeface="Segoe UI"/>
              </a:rPr>
              <a:t>努力在涨、检测在涨、占域也在涨——你如何排除"扩张"只是没吸收干净的努力残差？</a:t>
            </a:r>
          </a:p>
        </p:txBody>
      </p:sp>
      <p:grpSp>
        <p:nvGrpSpPr>
          <p:cNvPr id="20" name="Group 20"/>
          <p:cNvGrpSpPr/>
          <p:nvPr/>
        </p:nvGrpSpPr>
        <p:grpSpPr>
          <a:xfrm>
            <a:off x="685800" y="2286000"/>
            <a:ext cx="2590800" cy="2057400"/>
            <a:chOff x="685800" y="2286000"/>
            <a:chExt cx="2590800" cy="2057400"/>
          </a:xfrm>
        </p:grpSpPr>
        <p:sp>
          <p:nvSpPr>
            <p:cNvPr id="10" name="Rectangle 10"/>
            <p:cNvSpPr/>
            <p:nvPr/>
          </p:nvSpPr>
          <p:spPr>
            <a:xfrm>
              <a:off x="685800" y="2286000"/>
              <a:ext cx="2590800" cy="2057400"/>
            </a:xfrm>
            <a:prstGeom prst="roundRect">
              <a:avLst>
                <a:gd name="adj" fmla="val 4630"/>
              </a:avLst>
            </a:prstGeom>
            <a:solidFill>
              <a:srgbClr val="F4F7FA"/>
            </a:solidFill>
            <a:ln>
              <a:noFill/>
            </a:ln>
          </p:spPr>
        </p:sp>
        <p:sp>
          <p:nvSpPr>
            <p:cNvPr id="11" name="Rectangle 11"/>
            <p:cNvSpPr/>
            <p:nvPr/>
          </p:nvSpPr>
          <p:spPr>
            <a:xfrm>
              <a:off x="685800" y="2286000"/>
              <a:ext cx="2590800" cy="38100"/>
            </a:xfrm>
            <a:prstGeom prst="roundRect">
              <a:avLst>
                <a:gd name="adj" fmla="val 50000"/>
              </a:avLst>
            </a:prstGeom>
            <a:solidFill>
              <a:srgbClr val="2E75B6"/>
            </a:solidFill>
            <a:ln>
              <a:noFill/>
            </a:ln>
          </p:spPr>
        </p:sp>
        <p:sp>
          <p:nvSpPr>
            <p:cNvPr id="12" name="Ellipse 12"/>
            <p:cNvSpPr/>
            <p:nvPr/>
          </p:nvSpPr>
          <p:spPr>
            <a:xfrm>
              <a:off x="857250" y="2533650"/>
              <a:ext cx="342900" cy="342900"/>
            </a:xfrm>
            <a:prstGeom prst="ellipse">
              <a:avLst/>
            </a:prstGeom>
            <a:solidFill>
              <a:srgbClr val="2E75B6"/>
            </a:solidFill>
            <a:ln>
              <a:noFill/>
            </a:ln>
          </p:spPr>
        </p:sp>
        <p:sp>
          <p:nvSpPr>
            <p:cNvPr id="13" name="TextBox 13"/>
            <p:cNvSpPr txBox="1"/>
            <p:nvPr/>
          </p:nvSpPr>
          <p:spPr>
            <a:xfrm>
              <a:off x="958226" y="2634139"/>
              <a:ext cx="140948"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a:ea typeface="Microsoft YaHei"/>
                  <a:cs typeface="Segoe UI"/>
                </a:rPr>
                <a:t>1</a:t>
              </a:r>
            </a:p>
          </p:txBody>
        </p:sp>
        <p:sp>
          <p:nvSpPr>
            <p:cNvPr id="14" name="TextBox 14"/>
            <p:cNvSpPr txBox="1"/>
            <p:nvPr/>
          </p:nvSpPr>
          <p:spPr>
            <a:xfrm>
              <a:off x="1316355" y="2626042"/>
              <a:ext cx="1706270" cy="274320"/>
            </a:xfrm>
            <a:prstGeom prst="rect">
              <a:avLst/>
            </a:prstGeom>
            <a:noFill/>
            <a:ln>
              <a:noFill/>
            </a:ln>
          </p:spPr>
          <p:txBody>
            <a:bodyPr wrap="none" lIns="0" tIns="0" rIns="0" bIns="0" anchor="t" anchorCtr="0">
              <a:spAutoFit/>
            </a:bodyPr>
            <a:lstStyle/>
            <a:p>
              <a:pPr algn="l"/>
              <a:r>
                <a:rPr lang="zh-CN" sz="1350" b="1" dirty="0">
                  <a:solidFill>
                    <a:srgbClr val="12395E"/>
                  </a:solidFill>
                  <a:latin typeface="Segoe UI"/>
                  <a:ea typeface="Microsoft YaHei"/>
                  <a:cs typeface="Segoe UI"/>
                </a:rPr>
                <a:t>努力被检测层吸收</a:t>
              </a:r>
            </a:p>
          </p:txBody>
        </p:sp>
        <p:sp>
          <p:nvSpPr>
            <p:cNvPr id="15" name="TextBox 15"/>
            <p:cNvSpPr txBox="1"/>
            <p:nvPr/>
          </p:nvSpPr>
          <p:spPr>
            <a:xfrm>
              <a:off x="937260" y="3070860"/>
              <a:ext cx="195834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检测概率随调查努力显著</a:t>
              </a:r>
            </a:p>
          </p:txBody>
        </p:sp>
        <p:sp>
          <p:nvSpPr>
            <p:cNvPr id="16" name="TextBox 16"/>
            <p:cNvSpPr txBox="1"/>
            <p:nvPr/>
          </p:nvSpPr>
          <p:spPr>
            <a:xfrm>
              <a:off x="937260" y="3299460"/>
              <a:ext cx="195834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上升，说明努力增长进入</a:t>
              </a:r>
            </a:p>
          </p:txBody>
        </p:sp>
        <p:sp>
          <p:nvSpPr>
            <p:cNvPr id="17" name="TextBox 17"/>
            <p:cNvSpPr txBox="1"/>
            <p:nvPr/>
          </p:nvSpPr>
          <p:spPr>
            <a:xfrm>
              <a:off x="937260" y="3528060"/>
              <a:ext cx="178308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的是观测层而非占域层</a:t>
              </a:r>
            </a:p>
          </p:txBody>
        </p:sp>
        <p:sp>
          <p:nvSpPr>
            <p:cNvPr id="18" name="Rectangle 18"/>
            <p:cNvSpPr/>
            <p:nvPr/>
          </p:nvSpPr>
          <p:spPr>
            <a:xfrm>
              <a:off x="952500" y="3810000"/>
              <a:ext cx="2057400" cy="342900"/>
            </a:xfrm>
            <a:prstGeom prst="roundRect">
              <a:avLst>
                <a:gd name="adj" fmla="val 16667"/>
              </a:avLst>
            </a:prstGeom>
            <a:solidFill>
              <a:srgbClr val="FFFFFF"/>
            </a:solidFill>
            <a:ln>
              <a:noFill/>
            </a:ln>
          </p:spPr>
        </p:sp>
        <p:sp>
          <p:nvSpPr>
            <p:cNvPr id="19" name="TextBox 19"/>
            <p:cNvSpPr txBox="1"/>
            <p:nvPr/>
          </p:nvSpPr>
          <p:spPr>
            <a:xfrm>
              <a:off x="1545561" y="3900964"/>
              <a:ext cx="871278" cy="259080"/>
            </a:xfrm>
            <a:prstGeom prst="rect">
              <a:avLst/>
            </a:prstGeom>
            <a:noFill/>
            <a:ln>
              <a:noFill/>
            </a:ln>
          </p:spPr>
          <p:txBody>
            <a:bodyPr wrap="none" lIns="0" tIns="0" rIns="0" bIns="0" anchor="t" anchorCtr="0">
              <a:spAutoFit/>
            </a:bodyPr>
            <a:lstStyle/>
            <a:p>
              <a:pPr algn="ctr"/>
              <a:r>
                <a:rPr lang="zh-CN" sz="1275" b="1" dirty="0">
                  <a:solidFill>
                    <a:srgbClr val="2E75B6"/>
                  </a:solidFill>
                  <a:latin typeface="Segoe UI"/>
                  <a:ea typeface="Microsoft YaHei"/>
                  <a:cs typeface="Segoe UI"/>
                </a:rPr>
                <a:t>斜率 0.93</a:t>
              </a:r>
            </a:p>
          </p:txBody>
        </p:sp>
      </p:grpSp>
      <p:grpSp>
        <p:nvGrpSpPr>
          <p:cNvPr id="31" name="Group 31"/>
          <p:cNvGrpSpPr/>
          <p:nvPr/>
        </p:nvGrpSpPr>
        <p:grpSpPr>
          <a:xfrm>
            <a:off x="3429000" y="2286000"/>
            <a:ext cx="2590800" cy="2057400"/>
            <a:chOff x="3429000" y="2286000"/>
            <a:chExt cx="2590800" cy="2057400"/>
          </a:xfrm>
        </p:grpSpPr>
        <p:sp>
          <p:nvSpPr>
            <p:cNvPr id="21" name="Rectangle 21"/>
            <p:cNvSpPr/>
            <p:nvPr/>
          </p:nvSpPr>
          <p:spPr>
            <a:xfrm>
              <a:off x="3429000" y="2286000"/>
              <a:ext cx="2590800" cy="2057400"/>
            </a:xfrm>
            <a:prstGeom prst="roundRect">
              <a:avLst>
                <a:gd name="adj" fmla="val 4630"/>
              </a:avLst>
            </a:prstGeom>
            <a:solidFill>
              <a:srgbClr val="F4F7FA"/>
            </a:solidFill>
            <a:ln>
              <a:noFill/>
            </a:ln>
          </p:spPr>
        </p:sp>
        <p:sp>
          <p:nvSpPr>
            <p:cNvPr id="22" name="Rectangle 22"/>
            <p:cNvSpPr/>
            <p:nvPr/>
          </p:nvSpPr>
          <p:spPr>
            <a:xfrm>
              <a:off x="3429000" y="2286000"/>
              <a:ext cx="2590800" cy="38100"/>
            </a:xfrm>
            <a:prstGeom prst="roundRect">
              <a:avLst>
                <a:gd name="adj" fmla="val 50000"/>
              </a:avLst>
            </a:prstGeom>
            <a:solidFill>
              <a:srgbClr val="2E75B6"/>
            </a:solidFill>
            <a:ln>
              <a:noFill/>
            </a:ln>
          </p:spPr>
        </p:sp>
        <p:sp>
          <p:nvSpPr>
            <p:cNvPr id="23" name="Ellipse 23"/>
            <p:cNvSpPr/>
            <p:nvPr/>
          </p:nvSpPr>
          <p:spPr>
            <a:xfrm>
              <a:off x="3600450" y="2533650"/>
              <a:ext cx="342900" cy="342900"/>
            </a:xfrm>
            <a:prstGeom prst="ellipse">
              <a:avLst/>
            </a:prstGeom>
            <a:solidFill>
              <a:srgbClr val="2E75B6"/>
            </a:solidFill>
            <a:ln>
              <a:noFill/>
            </a:ln>
          </p:spPr>
        </p:sp>
        <p:sp>
          <p:nvSpPr>
            <p:cNvPr id="24" name="TextBox 24"/>
            <p:cNvSpPr txBox="1"/>
            <p:nvPr/>
          </p:nvSpPr>
          <p:spPr>
            <a:xfrm>
              <a:off x="3701426" y="2634139"/>
              <a:ext cx="140948"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a:ea typeface="Microsoft YaHei"/>
                  <a:cs typeface="Segoe UI"/>
                </a:rPr>
                <a:t>2</a:t>
              </a:r>
            </a:p>
          </p:txBody>
        </p:sp>
        <p:sp>
          <p:nvSpPr>
            <p:cNvPr id="25" name="TextBox 25"/>
            <p:cNvSpPr txBox="1"/>
            <p:nvPr/>
          </p:nvSpPr>
          <p:spPr>
            <a:xfrm>
              <a:off x="4059555" y="2626042"/>
              <a:ext cx="1288275" cy="274320"/>
            </a:xfrm>
            <a:prstGeom prst="rect">
              <a:avLst/>
            </a:prstGeom>
            <a:noFill/>
            <a:ln>
              <a:noFill/>
            </a:ln>
          </p:spPr>
          <p:txBody>
            <a:bodyPr wrap="none" lIns="0" tIns="0" rIns="0" bIns="0" anchor="t" anchorCtr="0">
              <a:spAutoFit/>
            </a:bodyPr>
            <a:lstStyle/>
            <a:p>
              <a:pPr algn="l"/>
              <a:r>
                <a:rPr lang="zh-CN" sz="1350" b="1" dirty="0">
                  <a:solidFill>
                    <a:srgbClr val="12395E"/>
                  </a:solidFill>
                  <a:latin typeface="Segoe UI"/>
                  <a:ea typeface="Microsoft YaHei"/>
                  <a:cs typeface="Segoe UI"/>
                </a:rPr>
                <a:t>努力饱和子集</a:t>
              </a:r>
            </a:p>
          </p:txBody>
        </p:sp>
        <p:sp>
          <p:nvSpPr>
            <p:cNvPr id="26" name="TextBox 26"/>
            <p:cNvSpPr txBox="1"/>
            <p:nvPr/>
          </p:nvSpPr>
          <p:spPr>
            <a:xfrm>
              <a:off x="3680460" y="3070860"/>
              <a:ext cx="2280818"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只看 2010 年前努力已饱和、</a:t>
              </a:r>
            </a:p>
          </p:txBody>
        </p:sp>
        <p:sp>
          <p:nvSpPr>
            <p:cNvPr id="27" name="TextBox 27"/>
            <p:cNvSpPr txBox="1"/>
            <p:nvPr/>
          </p:nvSpPr>
          <p:spPr>
            <a:xfrm>
              <a:off x="3680460" y="3299460"/>
              <a:ext cx="195834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不再增长的格点，物种数</a:t>
              </a:r>
            </a:p>
          </p:txBody>
        </p:sp>
        <p:sp>
          <p:nvSpPr>
            <p:cNvPr id="28" name="TextBox 28"/>
            <p:cNvSpPr txBox="1"/>
            <p:nvPr/>
          </p:nvSpPr>
          <p:spPr>
            <a:xfrm>
              <a:off x="3680460" y="3528060"/>
              <a:ext cx="73152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依然上升</a:t>
              </a:r>
            </a:p>
          </p:txBody>
        </p:sp>
        <p:sp>
          <p:nvSpPr>
            <p:cNvPr id="29" name="Rectangle 29"/>
            <p:cNvSpPr/>
            <p:nvPr/>
          </p:nvSpPr>
          <p:spPr>
            <a:xfrm>
              <a:off x="3695700" y="3810000"/>
              <a:ext cx="2057400" cy="342900"/>
            </a:xfrm>
            <a:prstGeom prst="roundRect">
              <a:avLst>
                <a:gd name="adj" fmla="val 16667"/>
              </a:avLst>
            </a:prstGeom>
            <a:solidFill>
              <a:srgbClr val="FFFFFF"/>
            </a:solidFill>
            <a:ln>
              <a:noFill/>
            </a:ln>
          </p:spPr>
        </p:sp>
        <p:sp>
          <p:nvSpPr>
            <p:cNvPr id="30" name="TextBox 30"/>
            <p:cNvSpPr txBox="1"/>
            <p:nvPr/>
          </p:nvSpPr>
          <p:spPr>
            <a:xfrm>
              <a:off x="3741013" y="3900964"/>
              <a:ext cx="1966773" cy="259080"/>
            </a:xfrm>
            <a:prstGeom prst="rect">
              <a:avLst/>
            </a:prstGeom>
            <a:noFill/>
            <a:ln>
              <a:noFill/>
            </a:ln>
          </p:spPr>
          <p:txBody>
            <a:bodyPr wrap="none" lIns="0" tIns="0" rIns="0" bIns="0" anchor="t" anchorCtr="0">
              <a:spAutoFit/>
            </a:bodyPr>
            <a:lstStyle/>
            <a:p>
              <a:pPr algn="ctr"/>
              <a:r>
                <a:rPr lang="zh-CN" sz="1275" b="1" dirty="0">
                  <a:solidFill>
                    <a:srgbClr val="2E75B6"/>
                  </a:solidFill>
                  <a:latin typeface="Segoe UI"/>
                  <a:ea typeface="Microsoft YaHei"/>
                  <a:cs typeface="Segoe UI"/>
                </a:rPr>
                <a:t>中位 4.1 种/期，n=30</a:t>
              </a:r>
            </a:p>
          </p:txBody>
        </p:sp>
      </p:grpSp>
      <p:grpSp>
        <p:nvGrpSpPr>
          <p:cNvPr id="42" name="Group 42"/>
          <p:cNvGrpSpPr/>
          <p:nvPr/>
        </p:nvGrpSpPr>
        <p:grpSpPr>
          <a:xfrm>
            <a:off x="6172200" y="2286000"/>
            <a:ext cx="2590800" cy="2057400"/>
            <a:chOff x="6172200" y="2286000"/>
            <a:chExt cx="2590800" cy="2057400"/>
          </a:xfrm>
        </p:grpSpPr>
        <p:sp>
          <p:nvSpPr>
            <p:cNvPr id="32" name="Rectangle 32"/>
            <p:cNvSpPr/>
            <p:nvPr/>
          </p:nvSpPr>
          <p:spPr>
            <a:xfrm>
              <a:off x="6172200" y="2286000"/>
              <a:ext cx="2590800" cy="2057400"/>
            </a:xfrm>
            <a:prstGeom prst="roundRect">
              <a:avLst>
                <a:gd name="adj" fmla="val 4630"/>
              </a:avLst>
            </a:prstGeom>
            <a:solidFill>
              <a:srgbClr val="F4F7FA"/>
            </a:solidFill>
            <a:ln>
              <a:noFill/>
            </a:ln>
          </p:spPr>
        </p:sp>
        <p:sp>
          <p:nvSpPr>
            <p:cNvPr id="33" name="Rectangle 33"/>
            <p:cNvSpPr/>
            <p:nvPr/>
          </p:nvSpPr>
          <p:spPr>
            <a:xfrm>
              <a:off x="6172200" y="2286000"/>
              <a:ext cx="2590800" cy="38100"/>
            </a:xfrm>
            <a:prstGeom prst="roundRect">
              <a:avLst>
                <a:gd name="adj" fmla="val 50000"/>
              </a:avLst>
            </a:prstGeom>
            <a:solidFill>
              <a:srgbClr val="2E75B6"/>
            </a:solidFill>
            <a:ln>
              <a:noFill/>
            </a:ln>
          </p:spPr>
        </p:sp>
        <p:sp>
          <p:nvSpPr>
            <p:cNvPr id="34" name="Ellipse 34"/>
            <p:cNvSpPr/>
            <p:nvPr/>
          </p:nvSpPr>
          <p:spPr>
            <a:xfrm>
              <a:off x="6343650" y="2533650"/>
              <a:ext cx="342900" cy="342900"/>
            </a:xfrm>
            <a:prstGeom prst="ellipse">
              <a:avLst/>
            </a:prstGeom>
            <a:solidFill>
              <a:srgbClr val="2E75B6"/>
            </a:solidFill>
            <a:ln>
              <a:noFill/>
            </a:ln>
          </p:spPr>
        </p:sp>
        <p:sp>
          <p:nvSpPr>
            <p:cNvPr id="35" name="TextBox 35"/>
            <p:cNvSpPr txBox="1"/>
            <p:nvPr/>
          </p:nvSpPr>
          <p:spPr>
            <a:xfrm>
              <a:off x="6444626" y="2634139"/>
              <a:ext cx="140948"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a:ea typeface="Microsoft YaHei"/>
                  <a:cs typeface="Segoe UI"/>
                </a:rPr>
                <a:t>3</a:t>
              </a:r>
            </a:p>
          </p:txBody>
        </p:sp>
        <p:sp>
          <p:nvSpPr>
            <p:cNvPr id="36" name="TextBox 36"/>
            <p:cNvSpPr txBox="1"/>
            <p:nvPr/>
          </p:nvSpPr>
          <p:spPr>
            <a:xfrm>
              <a:off x="6802755" y="2626042"/>
              <a:ext cx="1497273" cy="274320"/>
            </a:xfrm>
            <a:prstGeom prst="rect">
              <a:avLst/>
            </a:prstGeom>
            <a:noFill/>
            <a:ln>
              <a:noFill/>
            </a:ln>
          </p:spPr>
          <p:txBody>
            <a:bodyPr wrap="none" lIns="0" tIns="0" rIns="0" bIns="0" anchor="t" anchorCtr="0">
              <a:spAutoFit/>
            </a:bodyPr>
            <a:lstStyle/>
            <a:p>
              <a:pPr algn="l"/>
              <a:r>
                <a:rPr lang="zh-CN" sz="1350" b="1" dirty="0">
                  <a:solidFill>
                    <a:srgbClr val="12395E"/>
                  </a:solidFill>
                  <a:latin typeface="Segoe UI"/>
                  <a:ea typeface="Microsoft YaHei"/>
                  <a:cs typeface="Segoe UI"/>
                </a:rPr>
                <a:t>固定努力反事实</a:t>
              </a:r>
            </a:p>
          </p:txBody>
        </p:sp>
        <p:sp>
          <p:nvSpPr>
            <p:cNvPr id="37" name="TextBox 37"/>
            <p:cNvSpPr txBox="1"/>
            <p:nvPr/>
          </p:nvSpPr>
          <p:spPr>
            <a:xfrm>
              <a:off x="6423660" y="3070860"/>
              <a:ext cx="161483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比较 2000–2004 与</a:t>
              </a:r>
            </a:p>
          </p:txBody>
        </p:sp>
        <p:sp>
          <p:nvSpPr>
            <p:cNvPr id="38" name="TextBox 38"/>
            <p:cNvSpPr txBox="1"/>
            <p:nvPr/>
          </p:nvSpPr>
          <p:spPr>
            <a:xfrm>
              <a:off x="6423660" y="3299460"/>
              <a:ext cx="1909267"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2020–2024 努力水平下</a:t>
              </a:r>
            </a:p>
          </p:txBody>
        </p:sp>
        <p:sp>
          <p:nvSpPr>
            <p:cNvPr id="39" name="TextBox 39"/>
            <p:cNvSpPr txBox="1"/>
            <p:nvPr/>
          </p:nvSpPr>
          <p:spPr>
            <a:xfrm>
              <a:off x="6423660" y="3528060"/>
              <a:ext cx="195834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的检测概率（仅检测层）</a:t>
              </a:r>
            </a:p>
          </p:txBody>
        </p:sp>
        <p:sp>
          <p:nvSpPr>
            <p:cNvPr id="40" name="Rectangle 40"/>
            <p:cNvSpPr/>
            <p:nvPr/>
          </p:nvSpPr>
          <p:spPr>
            <a:xfrm>
              <a:off x="6438900" y="3810000"/>
              <a:ext cx="2057400" cy="342900"/>
            </a:xfrm>
            <a:prstGeom prst="roundRect">
              <a:avLst>
                <a:gd name="adj" fmla="val 16667"/>
              </a:avLst>
            </a:prstGeom>
            <a:solidFill>
              <a:srgbClr val="FFFFFF"/>
            </a:solidFill>
            <a:ln>
              <a:noFill/>
            </a:ln>
          </p:spPr>
        </p:sp>
        <p:sp>
          <p:nvSpPr>
            <p:cNvPr id="41" name="TextBox 41"/>
            <p:cNvSpPr txBox="1"/>
            <p:nvPr/>
          </p:nvSpPr>
          <p:spPr>
            <a:xfrm>
              <a:off x="6779306" y="3900964"/>
              <a:ext cx="1376588" cy="259080"/>
            </a:xfrm>
            <a:prstGeom prst="rect">
              <a:avLst/>
            </a:prstGeom>
            <a:noFill/>
            <a:ln>
              <a:noFill/>
            </a:ln>
          </p:spPr>
          <p:txBody>
            <a:bodyPr wrap="none" lIns="0" tIns="0" rIns="0" bIns="0" anchor="t" anchorCtr="0">
              <a:spAutoFit/>
            </a:bodyPr>
            <a:lstStyle/>
            <a:p>
              <a:pPr algn="ctr"/>
              <a:r>
                <a:rPr lang="zh-CN" sz="1275" b="1" dirty="0">
                  <a:solidFill>
                    <a:srgbClr val="2E75B6"/>
                  </a:solidFill>
                  <a:latin typeface="Segoe UI"/>
                  <a:ea typeface="Microsoft YaHei"/>
                  <a:cs typeface="Segoe UI"/>
                </a:rPr>
                <a:t>检测概率 +0.32</a:t>
              </a:r>
            </a:p>
          </p:txBody>
        </p:sp>
      </p:grpSp>
      <p:grpSp>
        <p:nvGrpSpPr>
          <p:cNvPr id="53" name="Group 53"/>
          <p:cNvGrpSpPr/>
          <p:nvPr/>
        </p:nvGrpSpPr>
        <p:grpSpPr>
          <a:xfrm>
            <a:off x="8915400" y="2286000"/>
            <a:ext cx="2590800" cy="2057400"/>
            <a:chOff x="8915400" y="2286000"/>
            <a:chExt cx="2590800" cy="2057400"/>
          </a:xfrm>
        </p:grpSpPr>
        <p:sp>
          <p:nvSpPr>
            <p:cNvPr id="43" name="Rectangle 43"/>
            <p:cNvSpPr/>
            <p:nvPr/>
          </p:nvSpPr>
          <p:spPr>
            <a:xfrm>
              <a:off x="8915400" y="2286000"/>
              <a:ext cx="2590800" cy="2057400"/>
            </a:xfrm>
            <a:prstGeom prst="roundRect">
              <a:avLst>
                <a:gd name="adj" fmla="val 4630"/>
              </a:avLst>
            </a:prstGeom>
            <a:solidFill>
              <a:srgbClr val="F4F7FA"/>
            </a:solidFill>
            <a:ln>
              <a:noFill/>
            </a:ln>
          </p:spPr>
        </p:sp>
        <p:sp>
          <p:nvSpPr>
            <p:cNvPr id="44" name="Rectangle 44"/>
            <p:cNvSpPr/>
            <p:nvPr/>
          </p:nvSpPr>
          <p:spPr>
            <a:xfrm>
              <a:off x="8915400" y="2286000"/>
              <a:ext cx="2590800" cy="38100"/>
            </a:xfrm>
            <a:prstGeom prst="roundRect">
              <a:avLst>
                <a:gd name="adj" fmla="val 50000"/>
              </a:avLst>
            </a:prstGeom>
            <a:solidFill>
              <a:srgbClr val="2E75B6"/>
            </a:solidFill>
            <a:ln>
              <a:noFill/>
            </a:ln>
          </p:spPr>
        </p:sp>
        <p:sp>
          <p:nvSpPr>
            <p:cNvPr id="45" name="Ellipse 45"/>
            <p:cNvSpPr/>
            <p:nvPr/>
          </p:nvSpPr>
          <p:spPr>
            <a:xfrm>
              <a:off x="9086850" y="2533650"/>
              <a:ext cx="342900" cy="342900"/>
            </a:xfrm>
            <a:prstGeom prst="ellipse">
              <a:avLst/>
            </a:prstGeom>
            <a:solidFill>
              <a:srgbClr val="2E75B6"/>
            </a:solidFill>
            <a:ln>
              <a:noFill/>
            </a:ln>
          </p:spPr>
        </p:sp>
        <p:sp>
          <p:nvSpPr>
            <p:cNvPr id="46" name="TextBox 46"/>
            <p:cNvSpPr txBox="1"/>
            <p:nvPr/>
          </p:nvSpPr>
          <p:spPr>
            <a:xfrm>
              <a:off x="9187826" y="2634139"/>
              <a:ext cx="140948"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a:ea typeface="Microsoft YaHei"/>
                  <a:cs typeface="Segoe UI"/>
                </a:rPr>
                <a:t>4</a:t>
              </a:r>
            </a:p>
          </p:txBody>
        </p:sp>
        <p:sp>
          <p:nvSpPr>
            <p:cNvPr id="47" name="TextBox 47"/>
            <p:cNvSpPr txBox="1"/>
            <p:nvPr/>
          </p:nvSpPr>
          <p:spPr>
            <a:xfrm>
              <a:off x="9545955" y="2626042"/>
              <a:ext cx="1079278" cy="274320"/>
            </a:xfrm>
            <a:prstGeom prst="rect">
              <a:avLst/>
            </a:prstGeom>
            <a:noFill/>
            <a:ln>
              <a:noFill/>
            </a:ln>
          </p:spPr>
          <p:txBody>
            <a:bodyPr wrap="none" lIns="0" tIns="0" rIns="0" bIns="0" anchor="t" anchorCtr="0">
              <a:spAutoFit/>
            </a:bodyPr>
            <a:lstStyle/>
            <a:p>
              <a:pPr algn="l"/>
              <a:r>
                <a:rPr lang="zh-CN" sz="1350" b="1" dirty="0">
                  <a:solidFill>
                    <a:srgbClr val="12395E"/>
                  </a:solidFill>
                  <a:latin typeface="Segoe UI"/>
                  <a:ea typeface="Microsoft YaHei"/>
                  <a:cs typeface="Segoe UI"/>
                </a:rPr>
                <a:t>平台来源项</a:t>
              </a:r>
            </a:p>
          </p:txBody>
        </p:sp>
        <p:sp>
          <p:nvSpPr>
            <p:cNvPr id="48" name="TextBox 48"/>
            <p:cNvSpPr txBox="1"/>
            <p:nvPr/>
          </p:nvSpPr>
          <p:spPr>
            <a:xfrm>
              <a:off x="9166860" y="3070860"/>
              <a:ext cx="195834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在检测子模型中加入数据</a:t>
              </a:r>
            </a:p>
          </p:txBody>
        </p:sp>
        <p:sp>
          <p:nvSpPr>
            <p:cNvPr id="49" name="TextBox 49"/>
            <p:cNvSpPr txBox="1"/>
            <p:nvPr/>
          </p:nvSpPr>
          <p:spPr>
            <a:xfrm>
              <a:off x="9166860" y="3299460"/>
              <a:ext cx="213360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来源项，控制观鸟记录中心</a:t>
              </a:r>
            </a:p>
          </p:txBody>
        </p:sp>
        <p:sp>
          <p:nvSpPr>
            <p:cNvPr id="50" name="TextBox 50"/>
            <p:cNvSpPr txBox="1"/>
            <p:nvPr/>
          </p:nvSpPr>
          <p:spPr>
            <a:xfrm>
              <a:off x="9166860" y="3528060"/>
              <a:ext cx="1635862"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与 eBird 的协议差异</a:t>
              </a:r>
            </a:p>
          </p:txBody>
        </p:sp>
        <p:sp>
          <p:nvSpPr>
            <p:cNvPr id="51" name="Rectangle 51"/>
            <p:cNvSpPr/>
            <p:nvPr/>
          </p:nvSpPr>
          <p:spPr>
            <a:xfrm>
              <a:off x="9182100" y="3810000"/>
              <a:ext cx="2057400" cy="342900"/>
            </a:xfrm>
            <a:prstGeom prst="roundRect">
              <a:avLst>
                <a:gd name="adj" fmla="val 16667"/>
              </a:avLst>
            </a:prstGeom>
            <a:solidFill>
              <a:srgbClr val="FFFFFF"/>
            </a:solidFill>
            <a:ln>
              <a:noFill/>
            </a:ln>
          </p:spPr>
        </p:sp>
        <p:sp>
          <p:nvSpPr>
            <p:cNvPr id="52" name="TextBox 52"/>
            <p:cNvSpPr txBox="1"/>
            <p:nvPr/>
          </p:nvSpPr>
          <p:spPr>
            <a:xfrm>
              <a:off x="9453700" y="3917156"/>
              <a:ext cx="1514199" cy="228600"/>
            </a:xfrm>
            <a:prstGeom prst="rect">
              <a:avLst/>
            </a:prstGeom>
            <a:noFill/>
            <a:ln>
              <a:noFill/>
            </a:ln>
          </p:spPr>
          <p:txBody>
            <a:bodyPr wrap="none" lIns="0" tIns="0" rIns="0" bIns="0" anchor="t" anchorCtr="0">
              <a:spAutoFit/>
            </a:bodyPr>
            <a:lstStyle/>
            <a:p>
              <a:pPr algn="ctr"/>
              <a:r>
                <a:rPr lang="zh-CN" sz="1125" b="1" dirty="0">
                  <a:solidFill>
                    <a:srgbClr val="5A6B7C"/>
                  </a:solidFill>
                  <a:latin typeface="Segoe UI"/>
                  <a:ea typeface="Microsoft YaHei"/>
                  <a:cs typeface="Segoe UI"/>
                </a:rPr>
                <a:t>待补算（ΔWAIC）</a:t>
              </a:r>
            </a:p>
          </p:txBody>
        </p:sp>
      </p:grpSp>
      <p:sp>
        <p:nvSpPr>
          <p:cNvPr id="54" name="Rectangle 54"/>
          <p:cNvSpPr/>
          <p:nvPr/>
        </p:nvSpPr>
        <p:spPr>
          <a:xfrm>
            <a:off x="685800" y="4610100"/>
            <a:ext cx="10820400" cy="1162050"/>
          </a:xfrm>
          <a:prstGeom prst="roundRect">
            <a:avLst>
              <a:gd name="adj" fmla="val 8197"/>
            </a:avLst>
          </a:prstGeom>
          <a:solidFill>
            <a:srgbClr val="12395E"/>
          </a:solidFill>
          <a:ln>
            <a:noFill/>
          </a:ln>
        </p:spPr>
      </p:sp>
      <p:sp>
        <p:nvSpPr>
          <p:cNvPr id="55" name="TextBox 55"/>
          <p:cNvSpPr txBox="1"/>
          <p:nvPr/>
        </p:nvSpPr>
        <p:spPr>
          <a:xfrm>
            <a:off x="971550" y="4810125"/>
            <a:ext cx="4450270"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Segoe UI"/>
                <a:ea typeface="Microsoft YaHei"/>
                <a:cs typeface="Segoe UI"/>
              </a:rPr>
              <a:t>另有两个结构性证据，纯观测假象难以解释</a:t>
            </a:r>
          </a:p>
        </p:txBody>
      </p:sp>
      <p:sp>
        <p:nvSpPr>
          <p:cNvPr id="56" name="TextBox 56"/>
          <p:cNvSpPr txBox="1"/>
          <p:nvPr/>
        </p:nvSpPr>
        <p:spPr>
          <a:xfrm>
            <a:off x="974408" y="5196364"/>
            <a:ext cx="5864600"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 校正只在少数格点逆转方向，而非普遍抬高——不是简单的整体缩放</a:t>
            </a:r>
          </a:p>
        </p:txBody>
      </p:sp>
      <p:sp>
        <p:nvSpPr>
          <p:cNvPr id="57" name="TextBox 57"/>
          <p:cNvSpPr txBox="1"/>
          <p:nvPr/>
        </p:nvSpPr>
        <p:spPr>
          <a:xfrm>
            <a:off x="974408" y="5463064"/>
            <a:ext cx="7726737"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 功能维度与物种数反向变化：观测越多本应看到越多功能类型，纯努力假象预测不出这一点</a:t>
            </a:r>
          </a:p>
        </p:txBody>
      </p:sp>
      <p:sp>
        <p:nvSpPr>
          <p:cNvPr id="58" name="TextBox 58"/>
          <p:cNvSpPr txBox="1"/>
          <p:nvPr/>
        </p:nvSpPr>
        <p:spPr>
          <a:xfrm>
            <a:off x="672465" y="6039802"/>
            <a:ext cx="4535234"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来源：results_v3 努力混淆控制表；GCB 稿件 v6 结果 3.4 与讨论</a:t>
            </a:r>
          </a:p>
        </p:txBody>
      </p:sp>
      <p:sp>
        <p:nvSpPr>
          <p:cNvPr id="59" name="TextBox 59"/>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23</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12395E"/>
          </a:solidFill>
          <a:ln>
            <a:noFill/>
          </a:ln>
        </p:spPr>
      </p:sp>
      <p:sp>
        <p:nvSpPr>
          <p:cNvPr id="3" name="Rectangle 3"/>
          <p:cNvSpPr/>
          <p:nvPr/>
        </p:nvSpPr>
        <p:spPr>
          <a:xfrm>
            <a:off x="0" y="0"/>
            <a:ext cx="12192000" cy="6858000"/>
          </a:xfrm>
          <a:prstGeom prst="rect">
            <a:avLst/>
          </a:prstGeom>
          <a:solidFill>
            <a:srgbClr val="0F2740">
              <a:alpha val="25000"/>
            </a:srgbClr>
          </a:solidFill>
          <a:ln>
            <a:noFill/>
          </a:ln>
        </p:spPr>
      </p:sp>
      <p:grpSp>
        <p:nvGrpSpPr>
          <p:cNvPr id="13" name="Group 13"/>
          <p:cNvGrpSpPr/>
          <p:nvPr/>
        </p:nvGrpSpPr>
        <p:grpSpPr>
          <a:xfrm>
            <a:off x="9277350" y="2609850"/>
            <a:ext cx="2019300" cy="1771650"/>
            <a:chOff x="9277350" y="2609850"/>
            <a:chExt cx="2019300" cy="1771650"/>
          </a:xfrm>
        </p:grpSpPr>
        <p:sp>
          <p:nvSpPr>
            <p:cNvPr id="4" name="Ellipse 4"/>
            <p:cNvSpPr/>
            <p:nvPr/>
          </p:nvSpPr>
          <p:spPr>
            <a:xfrm>
              <a:off x="9277350" y="2609850"/>
              <a:ext cx="495300" cy="495300"/>
            </a:xfrm>
            <a:prstGeom prst="ellipse">
              <a:avLst/>
            </a:prstGeom>
            <a:solidFill>
              <a:srgbClr val="2E75B6">
                <a:alpha val="22000"/>
              </a:srgbClr>
            </a:solidFill>
            <a:ln>
              <a:noFill/>
            </a:ln>
          </p:spPr>
        </p:sp>
        <p:sp>
          <p:nvSpPr>
            <p:cNvPr id="5" name="Ellipse 5"/>
            <p:cNvSpPr/>
            <p:nvPr/>
          </p:nvSpPr>
          <p:spPr>
            <a:xfrm>
              <a:off x="9963150" y="3105150"/>
              <a:ext cx="647700" cy="647700"/>
            </a:xfrm>
            <a:prstGeom prst="ellipse">
              <a:avLst/>
            </a:prstGeom>
            <a:solidFill>
              <a:srgbClr val="2E75B6">
                <a:alpha val="22000"/>
              </a:srgbClr>
            </a:solidFill>
            <a:ln>
              <a:noFill/>
            </a:ln>
          </p:spPr>
        </p:sp>
        <p:sp>
          <p:nvSpPr>
            <p:cNvPr id="6" name="Ellipse 6"/>
            <p:cNvSpPr/>
            <p:nvPr/>
          </p:nvSpPr>
          <p:spPr>
            <a:xfrm>
              <a:off x="10801350" y="2609850"/>
              <a:ext cx="495300" cy="495300"/>
            </a:xfrm>
            <a:prstGeom prst="ellipse">
              <a:avLst/>
            </a:prstGeom>
            <a:solidFill>
              <a:srgbClr val="2E75B6">
                <a:alpha val="22000"/>
              </a:srgbClr>
            </a:solidFill>
            <a:ln>
              <a:noFill/>
            </a:ln>
          </p:spPr>
        </p:sp>
        <p:sp>
          <p:nvSpPr>
            <p:cNvPr id="7" name="Ellipse 7"/>
            <p:cNvSpPr/>
            <p:nvPr/>
          </p:nvSpPr>
          <p:spPr>
            <a:xfrm>
              <a:off x="9715500" y="4000500"/>
              <a:ext cx="381000" cy="381000"/>
            </a:xfrm>
            <a:prstGeom prst="ellipse">
              <a:avLst/>
            </a:prstGeom>
            <a:solidFill>
              <a:srgbClr val="D97A34">
                <a:alpha val="22000"/>
              </a:srgbClr>
            </a:solidFill>
            <a:ln>
              <a:noFill/>
            </a:ln>
          </p:spPr>
        </p:sp>
        <p:sp>
          <p:nvSpPr>
            <p:cNvPr id="8" name="Ellipse 8"/>
            <p:cNvSpPr/>
            <p:nvPr/>
          </p:nvSpPr>
          <p:spPr>
            <a:xfrm>
              <a:off x="10477500" y="4000500"/>
              <a:ext cx="381000" cy="381000"/>
            </a:xfrm>
            <a:prstGeom prst="ellipse">
              <a:avLst/>
            </a:prstGeom>
            <a:solidFill>
              <a:srgbClr val="D97A34">
                <a:alpha val="22000"/>
              </a:srgbClr>
            </a:solidFill>
            <a:ln>
              <a:noFill/>
            </a:ln>
          </p:spPr>
        </p:sp>
        <p:sp>
          <p:nvSpPr>
            <p:cNvPr id="9" name="Line 9"/>
            <p:cNvSpPr/>
            <p:nvPr/>
          </p:nvSpPr>
          <p:spPr>
            <a:xfrm>
              <a:off x="9525000" y="2857500"/>
              <a:ext cx="762000" cy="571500"/>
            </a:xfrm>
            <a:custGeom>
              <a:avLst/>
              <a:gdLst/>
              <a:ahLst/>
              <a:cxnLst/>
              <a:rect l="l" t="t" r="r" b="b"/>
              <a:pathLst>
                <a:path w="762000" h="571500">
                  <a:moveTo>
                    <a:pt x="0" y="0"/>
                  </a:moveTo>
                  <a:lnTo>
                    <a:pt x="762000" y="571500"/>
                  </a:lnTo>
                </a:path>
              </a:pathLst>
            </a:custGeom>
            <a:noFill/>
            <a:ln w="14288">
              <a:solidFill>
                <a:srgbClr val="9FC7EA">
                  <a:alpha val="22000"/>
                </a:srgbClr>
              </a:solidFill>
            </a:ln>
          </p:spPr>
        </p:sp>
        <p:sp>
          <p:nvSpPr>
            <p:cNvPr id="10" name="Line 10"/>
            <p:cNvSpPr/>
            <p:nvPr/>
          </p:nvSpPr>
          <p:spPr>
            <a:xfrm>
              <a:off x="10287000" y="2857500"/>
              <a:ext cx="762000" cy="571500"/>
            </a:xfrm>
            <a:custGeom>
              <a:avLst/>
              <a:gdLst/>
              <a:ahLst/>
              <a:cxnLst/>
              <a:rect l="l" t="t" r="r" b="b"/>
              <a:pathLst>
                <a:path w="762000" h="571500">
                  <a:moveTo>
                    <a:pt x="762000" y="0"/>
                  </a:moveTo>
                  <a:lnTo>
                    <a:pt x="0" y="571500"/>
                  </a:lnTo>
                </a:path>
              </a:pathLst>
            </a:custGeom>
            <a:noFill/>
            <a:ln w="14288">
              <a:solidFill>
                <a:srgbClr val="9FC7EA">
                  <a:alpha val="22000"/>
                </a:srgbClr>
              </a:solidFill>
            </a:ln>
          </p:spPr>
        </p:sp>
        <p:sp>
          <p:nvSpPr>
            <p:cNvPr id="11" name="Line 11"/>
            <p:cNvSpPr/>
            <p:nvPr/>
          </p:nvSpPr>
          <p:spPr>
            <a:xfrm>
              <a:off x="9906000" y="3429000"/>
              <a:ext cx="381000" cy="762000"/>
            </a:xfrm>
            <a:custGeom>
              <a:avLst/>
              <a:gdLst/>
              <a:ahLst/>
              <a:cxnLst/>
              <a:rect l="l" t="t" r="r" b="b"/>
              <a:pathLst>
                <a:path w="381000" h="762000">
                  <a:moveTo>
                    <a:pt x="0" y="762000"/>
                  </a:moveTo>
                  <a:lnTo>
                    <a:pt x="381000" y="0"/>
                  </a:lnTo>
                </a:path>
              </a:pathLst>
            </a:custGeom>
            <a:noFill/>
            <a:ln w="14288">
              <a:solidFill>
                <a:srgbClr val="9FC7EA">
                  <a:alpha val="22000"/>
                </a:srgbClr>
              </a:solidFill>
            </a:ln>
          </p:spPr>
        </p:sp>
        <p:sp>
          <p:nvSpPr>
            <p:cNvPr id="12" name="Line 12"/>
            <p:cNvSpPr/>
            <p:nvPr/>
          </p:nvSpPr>
          <p:spPr>
            <a:xfrm>
              <a:off x="10287000" y="3429000"/>
              <a:ext cx="381000" cy="762000"/>
            </a:xfrm>
            <a:custGeom>
              <a:avLst/>
              <a:gdLst/>
              <a:ahLst/>
              <a:cxnLst/>
              <a:rect l="l" t="t" r="r" b="b"/>
              <a:pathLst>
                <a:path w="381000" h="762000">
                  <a:moveTo>
                    <a:pt x="381000" y="762000"/>
                  </a:moveTo>
                  <a:lnTo>
                    <a:pt x="0" y="0"/>
                  </a:lnTo>
                </a:path>
              </a:pathLst>
            </a:custGeom>
            <a:noFill/>
            <a:ln w="14288">
              <a:solidFill>
                <a:srgbClr val="9FC7EA">
                  <a:alpha val="22000"/>
                </a:srgbClr>
              </a:solidFill>
            </a:ln>
          </p:spPr>
        </p:sp>
      </p:grpSp>
      <p:sp>
        <p:nvSpPr>
          <p:cNvPr id="14" name="TextBox 14"/>
          <p:cNvSpPr txBox="1"/>
          <p:nvPr/>
        </p:nvSpPr>
        <p:spPr>
          <a:xfrm>
            <a:off x="571500" y="2076450"/>
            <a:ext cx="1761249" cy="1828800"/>
          </a:xfrm>
          <a:prstGeom prst="rect">
            <a:avLst/>
          </a:prstGeom>
          <a:noFill/>
          <a:ln>
            <a:noFill/>
          </a:ln>
        </p:spPr>
        <p:txBody>
          <a:bodyPr wrap="none" lIns="0" tIns="0" rIns="0" bIns="0" anchor="t" anchorCtr="0">
            <a:spAutoFit/>
          </a:bodyPr>
          <a:lstStyle/>
          <a:p>
            <a:pPr algn="l"/>
            <a:r>
              <a:rPr lang="zh-CN" sz="9000" b="1" dirty="0">
                <a:solidFill>
                  <a:srgbClr val="1E4E7A"/>
                </a:solidFill>
                <a:latin typeface="Segoe UI"/>
                <a:ea typeface="Microsoft YaHei"/>
                <a:cs typeface="Segoe UI"/>
              </a:rPr>
              <a:t>04</a:t>
            </a:r>
          </a:p>
        </p:txBody>
      </p:sp>
      <p:sp>
        <p:nvSpPr>
          <p:cNvPr id="15" name="Rectangle 15"/>
          <p:cNvSpPr/>
          <p:nvPr/>
        </p:nvSpPr>
        <p:spPr>
          <a:xfrm>
            <a:off x="685800" y="3390900"/>
            <a:ext cx="723900" cy="57150"/>
          </a:xfrm>
          <a:prstGeom prst="roundRect">
            <a:avLst>
              <a:gd name="adj" fmla="val 50000"/>
            </a:avLst>
          </a:prstGeom>
          <a:solidFill>
            <a:srgbClr val="D97A34"/>
          </a:solidFill>
          <a:ln>
            <a:noFill/>
          </a:ln>
        </p:spPr>
      </p:sp>
      <p:sp>
        <p:nvSpPr>
          <p:cNvPr id="16" name="TextBox 16"/>
          <p:cNvSpPr txBox="1"/>
          <p:nvPr/>
        </p:nvSpPr>
        <p:spPr>
          <a:xfrm>
            <a:off x="641985" y="3723322"/>
            <a:ext cx="4360469" cy="701040"/>
          </a:xfrm>
          <a:prstGeom prst="rect">
            <a:avLst/>
          </a:prstGeom>
          <a:noFill/>
          <a:ln>
            <a:noFill/>
          </a:ln>
        </p:spPr>
        <p:txBody>
          <a:bodyPr wrap="none" lIns="0" tIns="0" rIns="0" bIns="0" anchor="t" anchorCtr="0">
            <a:spAutoFit/>
          </a:bodyPr>
          <a:lstStyle/>
          <a:p>
            <a:pPr algn="l"/>
            <a:r>
              <a:rPr lang="zh-CN" sz="3450" b="1" dirty="0">
                <a:solidFill>
                  <a:srgbClr val="FFFFFF"/>
                </a:solidFill>
                <a:latin typeface="Segoe UI"/>
                <a:ea typeface="Microsoft YaHei"/>
                <a:cs typeface="Segoe UI"/>
              </a:rPr>
              <a:t>机制、意义与展望</a:t>
            </a:r>
          </a:p>
        </p:txBody>
      </p:sp>
      <p:sp>
        <p:nvSpPr>
          <p:cNvPr id="17" name="TextBox 17"/>
          <p:cNvSpPr txBox="1"/>
          <p:nvPr/>
        </p:nvSpPr>
        <p:spPr>
          <a:xfrm>
            <a:off x="666750" y="4467225"/>
            <a:ext cx="6172200" cy="304800"/>
          </a:xfrm>
          <a:prstGeom prst="rect">
            <a:avLst/>
          </a:prstGeom>
          <a:noFill/>
          <a:ln>
            <a:noFill/>
          </a:ln>
        </p:spPr>
        <p:txBody>
          <a:bodyPr wrap="none" lIns="0" tIns="0" rIns="0" bIns="0" anchor="t" anchorCtr="0">
            <a:spAutoFit/>
          </a:bodyPr>
          <a:lstStyle/>
          <a:p>
            <a:pPr algn="l"/>
            <a:r>
              <a:rPr lang="zh-CN" sz="1500" dirty="0">
                <a:solidFill>
                  <a:srgbClr val="9FC7EA"/>
                </a:solidFill>
                <a:latin typeface="Segoe UI"/>
                <a:ea typeface="Microsoft YaHei"/>
                <a:cs typeface="Segoe UI"/>
              </a:rPr>
              <a:t>栖息地宽度与扩张关联最强；结论对生物多样性监测有普适含义</a:t>
            </a:r>
          </a:p>
        </p:txBody>
      </p:sp>
      <p:sp>
        <p:nvSpPr>
          <p:cNvPr id="18" name="TextBox 18"/>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6E8CA8"/>
                </a:solidFill>
                <a:latin typeface="Segoe UI"/>
                <a:ea typeface="Microsoft YaHei"/>
                <a:cs typeface="Segoe UI"/>
              </a:rPr>
              <a:t>24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19"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heel(1)">
                                      <p:cBhvr>
                                        <p:cTn id="11" dur="400"/>
                                        <p:tgtEl>
                                          <p:spTgt spid="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image">
                                      <p:cBhvr>
                                        <p:cTn id="15" dur="400"/>
                                        <p:tgtEl>
                                          <p:spTgt spid="13"/>
                                        </p:tgtEl>
                                      </p:cBhvr>
                                    </p:animEffect>
                                  </p:childTnLst>
                                </p:cTn>
                              </p:par>
                            </p:childTnLst>
                          </p:cTn>
                        </p:par>
                        <p:par>
                          <p:cTn id="16" fill="hold">
                            <p:stCondLst>
                              <p:cond delay="2700"/>
                            </p:stCondLst>
                            <p:childTnLst>
                              <p:par>
                                <p:cTn id="17" presetID="3" presetClass="entr" presetSubtype="1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linds(horizontal)">
                                      <p:cBhvr>
                                        <p:cTn id="19" dur="400"/>
                                        <p:tgtEl>
                                          <p:spTgt spid="14"/>
                                        </p:tgtEl>
                                      </p:cBhvr>
                                    </p:animEffect>
                                  </p:childTnLst>
                                </p:cTn>
                              </p:par>
                            </p:childTnLst>
                          </p:cTn>
                        </p:par>
                        <p:par>
                          <p:cTn id="20" fill="hold">
                            <p:stCondLst>
                              <p:cond delay="3600"/>
                            </p:stCondLst>
                            <p:childTnLst>
                              <p:par>
                                <p:cTn id="21" presetID="5" presetClass="entr" presetSubtype="6"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heckerboard(across)">
                                      <p:cBhvr>
                                        <p:cTn id="23" dur="400"/>
                                        <p:tgtEl>
                                          <p:spTgt spid="15"/>
                                        </p:tgtEl>
                                      </p:cBhvr>
                                    </p:animEffect>
                                  </p:childTnLst>
                                </p:cTn>
                              </p:par>
                            </p:childTnLst>
                          </p:cTn>
                        </p:par>
                        <p:par>
                          <p:cTn id="24" fill="hold">
                            <p:stCondLst>
                              <p:cond delay="4500"/>
                            </p:stCondLst>
                            <p:childTnLst>
                              <p:par>
                                <p:cTn id="25" presetID="9" presetClass="entr" presetSubtype="0"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400"/>
                                        <p:tgtEl>
                                          <p:spTgt spid="16"/>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slide(fromBottom)">
                                      <p:cBhvr>
                                        <p:cTn id="31" dur="400"/>
                                        <p:tgtEl>
                                          <p:spTgt spid="17"/>
                                        </p:tgtEl>
                                      </p:cBhvr>
                                    </p:animEffect>
                                  </p:childTnLst>
                                </p:cTn>
                              </p:par>
                            </p:childTnLst>
                          </p:cTn>
                        </p:par>
                        <p:par>
                          <p:cTn id="32" fill="hold">
                            <p:stCondLst>
                              <p:cond delay="6300"/>
                            </p:stCondLst>
                            <p:childTnLst>
                              <p:par>
                                <p:cTn id="33" presetID="42" presetClass="entr" presetSubtype="8"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slide(fromLeft)">
                                      <p:cBhvr>
                                        <p:cTn id="3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3" grpId="0"/>
      <p:bldP spid="14" grpId="0"/>
      <p:bldP spid="15" grpId="0"/>
      <p:bldP spid="16" grpId="0"/>
      <p:bldP spid="17" grpId="0"/>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9934099"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栖息地宽度与占域趋势关联最强（关联，非已证实机制）</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419397" y="801052"/>
            <a:ext cx="110013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四、机制与意义</a:t>
            </a:r>
          </a:p>
        </p:txBody>
      </p:sp>
      <p:sp>
        <p:nvSpPr>
          <p:cNvPr id="6" name="TextBox 6"/>
          <p:cNvSpPr txBox="1"/>
          <p:nvPr/>
        </p:nvSpPr>
        <p:spPr>
          <a:xfrm>
            <a:off x="665798" y="1392079"/>
            <a:ext cx="2478310" cy="320040"/>
          </a:xfrm>
          <a:prstGeom prst="rect">
            <a:avLst/>
          </a:prstGeom>
          <a:noFill/>
          <a:ln>
            <a:noFill/>
          </a:ln>
        </p:spPr>
        <p:txBody>
          <a:bodyPr wrap="none" lIns="0" tIns="0" rIns="0" bIns="0" anchor="t" anchorCtr="0">
            <a:spAutoFit/>
          </a:bodyPr>
          <a:lstStyle/>
          <a:p>
            <a:pPr algn="l"/>
            <a:r>
              <a:rPr lang="zh-CN" sz="1575" b="1" dirty="0">
                <a:solidFill>
                  <a:srgbClr val="12395E"/>
                </a:solidFill>
                <a:latin typeface="Segoe UI"/>
                <a:ea typeface="Microsoft YaHei"/>
                <a:cs typeface="Segoe UI"/>
              </a:rPr>
              <a:t>性状与占域趋势的关联</a:t>
            </a:r>
          </a:p>
        </p:txBody>
      </p:sp>
      <p:sp>
        <p:nvSpPr>
          <p:cNvPr id="7" name="TextBox 7"/>
          <p:cNvSpPr txBox="1"/>
          <p:nvPr/>
        </p:nvSpPr>
        <p:spPr>
          <a:xfrm>
            <a:off x="671512" y="1669256"/>
            <a:ext cx="5153287"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Spearman ρ：500 种模型完备样本点估计（200 种主模型 ρ = 0.34）</a:t>
            </a:r>
          </a:p>
        </p:txBody>
      </p:sp>
      <p:sp>
        <p:nvSpPr>
          <p:cNvPr id="8" name="Line 8"/>
          <p:cNvSpPr/>
          <p:nvPr/>
        </p:nvSpPr>
        <p:spPr>
          <a:xfrm>
            <a:off x="2857500" y="2057400"/>
            <a:ext cx="9525" cy="1447800"/>
          </a:xfrm>
          <a:custGeom>
            <a:avLst/>
            <a:gdLst/>
            <a:ahLst/>
            <a:cxnLst/>
            <a:rect l="l" t="t" r="r" b="b"/>
            <a:pathLst>
              <a:path w="9525" h="1447800">
                <a:moveTo>
                  <a:pt x="0" y="0"/>
                </a:moveTo>
                <a:lnTo>
                  <a:pt x="0" y="1447800"/>
                </a:lnTo>
              </a:path>
            </a:pathLst>
          </a:custGeom>
          <a:noFill/>
          <a:ln w="14288">
            <a:solidFill>
              <a:srgbClr val="B7C4D1"/>
            </a:solidFill>
          </a:ln>
        </p:spPr>
      </p:sp>
      <p:sp>
        <p:nvSpPr>
          <p:cNvPr id="9" name="TextBox 9"/>
          <p:cNvSpPr txBox="1"/>
          <p:nvPr/>
        </p:nvSpPr>
        <p:spPr>
          <a:xfrm>
            <a:off x="1740075" y="2224564"/>
            <a:ext cx="1019318" cy="259080"/>
          </a:xfrm>
          <a:prstGeom prst="rect">
            <a:avLst/>
          </a:prstGeom>
          <a:noFill/>
          <a:ln>
            <a:noFill/>
          </a:ln>
        </p:spPr>
        <p:txBody>
          <a:bodyPr wrap="none" lIns="0" tIns="0" rIns="0" bIns="0" anchor="t" anchorCtr="0">
            <a:spAutoFit/>
          </a:bodyPr>
          <a:lstStyle/>
          <a:p>
            <a:pPr algn="r"/>
            <a:r>
              <a:rPr lang="zh-CN" sz="1275" b="1" dirty="0">
                <a:solidFill>
                  <a:srgbClr val="0F2740"/>
                </a:solidFill>
                <a:latin typeface="Segoe UI"/>
                <a:ea typeface="Microsoft YaHei"/>
                <a:cs typeface="Segoe UI"/>
              </a:rPr>
              <a:t>栖息地宽度</a:t>
            </a:r>
          </a:p>
        </p:txBody>
      </p:sp>
      <p:sp>
        <p:nvSpPr>
          <p:cNvPr id="10" name="Rectangle 10"/>
          <p:cNvSpPr/>
          <p:nvPr/>
        </p:nvSpPr>
        <p:spPr>
          <a:xfrm>
            <a:off x="2857500" y="2190750"/>
            <a:ext cx="2171700" cy="247650"/>
          </a:xfrm>
          <a:prstGeom prst="roundRect">
            <a:avLst>
              <a:gd name="adj" fmla="val 15385"/>
            </a:avLst>
          </a:prstGeom>
          <a:solidFill>
            <a:srgbClr val="2E75B6"/>
          </a:solidFill>
          <a:ln>
            <a:noFill/>
          </a:ln>
        </p:spPr>
      </p:sp>
      <p:sp>
        <p:nvSpPr>
          <p:cNvPr id="11" name="TextBox 11"/>
          <p:cNvSpPr txBox="1"/>
          <p:nvPr/>
        </p:nvSpPr>
        <p:spPr>
          <a:xfrm>
            <a:off x="5126355" y="2225992"/>
            <a:ext cx="897450" cy="274320"/>
          </a:xfrm>
          <a:prstGeom prst="rect">
            <a:avLst/>
          </a:prstGeom>
          <a:noFill/>
          <a:ln>
            <a:noFill/>
          </a:ln>
        </p:spPr>
        <p:txBody>
          <a:bodyPr wrap="none" lIns="0" tIns="0" rIns="0" bIns="0" anchor="t" anchorCtr="0">
            <a:spAutoFit/>
          </a:bodyPr>
          <a:lstStyle/>
          <a:p>
            <a:pPr algn="l"/>
            <a:r>
              <a:rPr lang="zh-CN" sz="1350" b="1" dirty="0">
                <a:solidFill>
                  <a:srgbClr val="12395E"/>
                </a:solidFill>
                <a:latin typeface="Segoe UI"/>
                <a:ea typeface="Microsoft YaHei"/>
                <a:cs typeface="Segoe UI"/>
              </a:rPr>
              <a:t>ρ = 0.38</a:t>
            </a:r>
          </a:p>
        </p:txBody>
      </p:sp>
      <p:sp>
        <p:nvSpPr>
          <p:cNvPr id="12" name="TextBox 12"/>
          <p:cNvSpPr txBox="1"/>
          <p:nvPr/>
        </p:nvSpPr>
        <p:spPr>
          <a:xfrm>
            <a:off x="1982153" y="2738914"/>
            <a:ext cx="777240" cy="259080"/>
          </a:xfrm>
          <a:prstGeom prst="rect">
            <a:avLst/>
          </a:prstGeom>
          <a:noFill/>
          <a:ln>
            <a:noFill/>
          </a:ln>
        </p:spPr>
        <p:txBody>
          <a:bodyPr wrap="none" lIns="0" tIns="0" rIns="0" bIns="0" anchor="t" anchorCtr="0">
            <a:spAutoFit/>
          </a:bodyPr>
          <a:lstStyle/>
          <a:p>
            <a:pPr algn="r"/>
            <a:r>
              <a:rPr lang="zh-CN" sz="1275" dirty="0">
                <a:solidFill>
                  <a:srgbClr val="0F2740"/>
                </a:solidFill>
                <a:latin typeface="Segoe UI"/>
                <a:ea typeface="Microsoft YaHei"/>
                <a:cs typeface="Segoe UI"/>
              </a:rPr>
              <a:t>迁徙得分</a:t>
            </a:r>
          </a:p>
        </p:txBody>
      </p:sp>
      <p:sp>
        <p:nvSpPr>
          <p:cNvPr id="13" name="Rectangle 13"/>
          <p:cNvSpPr/>
          <p:nvPr/>
        </p:nvSpPr>
        <p:spPr>
          <a:xfrm>
            <a:off x="2857500" y="2705100"/>
            <a:ext cx="457200" cy="247650"/>
          </a:xfrm>
          <a:prstGeom prst="roundRect">
            <a:avLst>
              <a:gd name="adj" fmla="val 15385"/>
            </a:avLst>
          </a:prstGeom>
          <a:solidFill>
            <a:srgbClr val="B7C4D1"/>
          </a:solidFill>
          <a:ln>
            <a:noFill/>
          </a:ln>
        </p:spPr>
      </p:sp>
      <p:sp>
        <p:nvSpPr>
          <p:cNvPr id="14" name="TextBox 14"/>
          <p:cNvSpPr txBox="1"/>
          <p:nvPr/>
        </p:nvSpPr>
        <p:spPr>
          <a:xfrm>
            <a:off x="3450908" y="2748439"/>
            <a:ext cx="801448"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ρ = 0.08</a:t>
            </a:r>
          </a:p>
        </p:txBody>
      </p:sp>
      <p:sp>
        <p:nvSpPr>
          <p:cNvPr id="15" name="TextBox 15"/>
          <p:cNvSpPr txBox="1"/>
          <p:nvPr/>
        </p:nvSpPr>
        <p:spPr>
          <a:xfrm>
            <a:off x="1982153" y="3253264"/>
            <a:ext cx="777240" cy="259080"/>
          </a:xfrm>
          <a:prstGeom prst="rect">
            <a:avLst/>
          </a:prstGeom>
          <a:noFill/>
          <a:ln>
            <a:noFill/>
          </a:ln>
        </p:spPr>
        <p:txBody>
          <a:bodyPr wrap="none" lIns="0" tIns="0" rIns="0" bIns="0" anchor="t" anchorCtr="0">
            <a:spAutoFit/>
          </a:bodyPr>
          <a:lstStyle/>
          <a:p>
            <a:pPr algn="r"/>
            <a:r>
              <a:rPr lang="zh-CN" sz="1275" dirty="0">
                <a:solidFill>
                  <a:srgbClr val="0F2740"/>
                </a:solidFill>
                <a:latin typeface="Segoe UI"/>
                <a:ea typeface="Microsoft YaHei"/>
                <a:cs typeface="Segoe UI"/>
              </a:rPr>
              <a:t>食性特化</a:t>
            </a:r>
          </a:p>
        </p:txBody>
      </p:sp>
      <p:sp>
        <p:nvSpPr>
          <p:cNvPr id="16" name="Rectangle 16"/>
          <p:cNvSpPr/>
          <p:nvPr/>
        </p:nvSpPr>
        <p:spPr>
          <a:xfrm>
            <a:off x="2400300" y="3219450"/>
            <a:ext cx="457200" cy="247650"/>
          </a:xfrm>
          <a:prstGeom prst="roundRect">
            <a:avLst>
              <a:gd name="adj" fmla="val 15385"/>
            </a:avLst>
          </a:prstGeom>
          <a:solidFill>
            <a:srgbClr val="D97A34"/>
          </a:solidFill>
          <a:ln>
            <a:noFill/>
          </a:ln>
        </p:spPr>
      </p:sp>
      <p:sp>
        <p:nvSpPr>
          <p:cNvPr id="17" name="TextBox 17"/>
          <p:cNvSpPr txBox="1"/>
          <p:nvPr/>
        </p:nvSpPr>
        <p:spPr>
          <a:xfrm>
            <a:off x="457281" y="3262789"/>
            <a:ext cx="987662" cy="259080"/>
          </a:xfrm>
          <a:prstGeom prst="rect">
            <a:avLst/>
          </a:prstGeom>
          <a:noFill/>
          <a:ln>
            <a:noFill/>
          </a:ln>
        </p:spPr>
        <p:txBody>
          <a:bodyPr wrap="none" lIns="0" tIns="0" rIns="0" bIns="0" anchor="t" anchorCtr="0">
            <a:spAutoFit/>
          </a:bodyPr>
          <a:lstStyle/>
          <a:p>
            <a:pPr algn="r"/>
            <a:r>
              <a:rPr lang="zh-CN" sz="1275" dirty="0">
                <a:solidFill>
                  <a:srgbClr val="B3611F"/>
                </a:solidFill>
                <a:latin typeface="Segoe UI"/>
                <a:ea typeface="Microsoft YaHei"/>
                <a:cs typeface="Segoe UI"/>
              </a:rPr>
              <a:t>ρ = −0.08</a:t>
            </a:r>
          </a:p>
        </p:txBody>
      </p:sp>
      <p:sp>
        <p:nvSpPr>
          <p:cNvPr id="18" name="TextBox 18"/>
          <p:cNvSpPr txBox="1"/>
          <p:nvPr/>
        </p:nvSpPr>
        <p:spPr>
          <a:xfrm>
            <a:off x="2801993" y="3620452"/>
            <a:ext cx="111014" cy="213360"/>
          </a:xfrm>
          <a:prstGeom prst="rect">
            <a:avLst/>
          </a:prstGeom>
          <a:noFill/>
          <a:ln>
            <a:noFill/>
          </a:ln>
        </p:spPr>
        <p:txBody>
          <a:bodyPr wrap="none" lIns="0" tIns="0" rIns="0" bIns="0" anchor="t" anchorCtr="0">
            <a:spAutoFit/>
          </a:bodyPr>
          <a:lstStyle/>
          <a:p>
            <a:pPr algn="ctr"/>
            <a:r>
              <a:rPr lang="zh-CN" sz="1050" dirty="0">
                <a:solidFill>
                  <a:srgbClr val="5A6B7C"/>
                </a:solidFill>
                <a:latin typeface="Segoe UI"/>
                <a:ea typeface="Microsoft YaHei"/>
                <a:cs typeface="Segoe UI"/>
              </a:rPr>
              <a:t>0</a:t>
            </a:r>
          </a:p>
        </p:txBody>
      </p:sp>
      <p:sp>
        <p:nvSpPr>
          <p:cNvPr id="19" name="Rectangle 19"/>
          <p:cNvSpPr/>
          <p:nvPr/>
        </p:nvSpPr>
        <p:spPr>
          <a:xfrm>
            <a:off x="685800" y="3943350"/>
            <a:ext cx="5257800" cy="1066800"/>
          </a:xfrm>
          <a:prstGeom prst="roundRect">
            <a:avLst>
              <a:gd name="adj" fmla="val 8929"/>
            </a:avLst>
          </a:prstGeom>
          <a:solidFill>
            <a:srgbClr val="FDF4EC"/>
          </a:solidFill>
          <a:ln>
            <a:noFill/>
          </a:ln>
        </p:spPr>
      </p:sp>
      <p:sp>
        <p:nvSpPr>
          <p:cNvPr id="20" name="Rectangle 20"/>
          <p:cNvSpPr/>
          <p:nvPr/>
        </p:nvSpPr>
        <p:spPr>
          <a:xfrm>
            <a:off x="685800" y="3943350"/>
            <a:ext cx="47625" cy="1066800"/>
          </a:xfrm>
          <a:prstGeom prst="roundRect">
            <a:avLst>
              <a:gd name="adj" fmla="val 50000"/>
            </a:avLst>
          </a:prstGeom>
          <a:solidFill>
            <a:srgbClr val="D97A34"/>
          </a:solidFill>
          <a:ln>
            <a:noFill/>
          </a:ln>
        </p:spPr>
      </p:sp>
      <p:sp>
        <p:nvSpPr>
          <p:cNvPr id="21" name="TextBox 21"/>
          <p:cNvSpPr txBox="1"/>
          <p:nvPr/>
        </p:nvSpPr>
        <p:spPr>
          <a:xfrm>
            <a:off x="1010602" y="4132421"/>
            <a:ext cx="918629" cy="289560"/>
          </a:xfrm>
          <a:prstGeom prst="rect">
            <a:avLst/>
          </a:prstGeom>
          <a:noFill/>
          <a:ln>
            <a:noFill/>
          </a:ln>
        </p:spPr>
        <p:txBody>
          <a:bodyPr wrap="none" lIns="0" tIns="0" rIns="0" bIns="0" anchor="t" anchorCtr="0">
            <a:spAutoFit/>
          </a:bodyPr>
          <a:lstStyle/>
          <a:p>
            <a:pPr algn="l"/>
            <a:r>
              <a:rPr lang="zh-CN" sz="1425" b="1" dirty="0">
                <a:solidFill>
                  <a:srgbClr val="B3611F"/>
                </a:solidFill>
                <a:latin typeface="Segoe UI"/>
                <a:ea typeface="Microsoft YaHei"/>
                <a:cs typeface="Segoe UI"/>
              </a:rPr>
              <a:t>机制解释</a:t>
            </a:r>
          </a:p>
        </p:txBody>
      </p:sp>
      <p:sp>
        <p:nvSpPr>
          <p:cNvPr id="22" name="TextBox 22"/>
          <p:cNvSpPr txBox="1"/>
          <p:nvPr/>
        </p:nvSpPr>
        <p:spPr>
          <a:xfrm>
            <a:off x="1012508" y="4453414"/>
            <a:ext cx="3756660"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能占据更多生境类型的泛化种最有能力扩张；</a:t>
            </a:r>
          </a:p>
        </p:txBody>
      </p:sp>
      <p:sp>
        <p:nvSpPr>
          <p:cNvPr id="23" name="TextBox 23"/>
          <p:cNvSpPr txBox="1"/>
          <p:nvPr/>
        </p:nvSpPr>
        <p:spPr>
          <a:xfrm>
            <a:off x="1012508" y="4701064"/>
            <a:ext cx="4797595"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系统发育回归中 95% CrI 跨零；下一页从增量构成找线索</a:t>
            </a:r>
          </a:p>
        </p:txBody>
      </p:sp>
      <p:sp>
        <p:nvSpPr>
          <p:cNvPr id="24" name="Rectangle 24"/>
          <p:cNvSpPr/>
          <p:nvPr/>
        </p:nvSpPr>
        <p:spPr>
          <a:xfrm>
            <a:off x="6248400" y="1447800"/>
            <a:ext cx="5257800" cy="2305050"/>
          </a:xfrm>
          <a:prstGeom prst="roundRect">
            <a:avLst>
              <a:gd name="adj" fmla="val 4132"/>
            </a:avLst>
          </a:prstGeom>
          <a:solidFill>
            <a:srgbClr val="F4F7FA"/>
          </a:solidFill>
          <a:ln>
            <a:noFill/>
          </a:ln>
        </p:spPr>
      </p:sp>
      <p:sp>
        <p:nvSpPr>
          <p:cNvPr id="25" name="TextBox 25"/>
          <p:cNvSpPr txBox="1"/>
          <p:nvPr/>
        </p:nvSpPr>
        <p:spPr>
          <a:xfrm>
            <a:off x="6533198" y="1658779"/>
            <a:ext cx="1990649" cy="320040"/>
          </a:xfrm>
          <a:prstGeom prst="rect">
            <a:avLst/>
          </a:prstGeom>
          <a:noFill/>
          <a:ln>
            <a:noFill/>
          </a:ln>
        </p:spPr>
        <p:txBody>
          <a:bodyPr wrap="none" lIns="0" tIns="0" rIns="0" bIns="0" anchor="t" anchorCtr="0">
            <a:spAutoFit/>
          </a:bodyPr>
          <a:lstStyle/>
          <a:p>
            <a:pPr algn="l"/>
            <a:r>
              <a:rPr lang="zh-CN" sz="1575" b="1" dirty="0">
                <a:solidFill>
                  <a:srgbClr val="12395E"/>
                </a:solidFill>
                <a:latin typeface="Segoe UI"/>
                <a:ea typeface="Microsoft YaHei"/>
                <a:cs typeface="Segoe UI"/>
              </a:rPr>
              <a:t>环境梯度上的关联</a:t>
            </a:r>
          </a:p>
        </p:txBody>
      </p:sp>
      <p:sp>
        <p:nvSpPr>
          <p:cNvPr id="26" name="TextBox 26"/>
          <p:cNvSpPr txBox="1"/>
          <p:nvPr/>
        </p:nvSpPr>
        <p:spPr>
          <a:xfrm>
            <a:off x="6538912" y="1935956"/>
            <a:ext cx="3242405"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物种趋势斜率 vs 环境变量（Spearman ρ）</a:t>
            </a:r>
          </a:p>
        </p:txBody>
      </p:sp>
      <p:sp>
        <p:nvSpPr>
          <p:cNvPr id="27" name="TextBox 27"/>
          <p:cNvSpPr txBox="1"/>
          <p:nvPr/>
        </p:nvSpPr>
        <p:spPr>
          <a:xfrm>
            <a:off x="6537008" y="2300764"/>
            <a:ext cx="1196221"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农田覆盖 0.39</a:t>
            </a:r>
          </a:p>
        </p:txBody>
      </p:sp>
      <p:sp>
        <p:nvSpPr>
          <p:cNvPr id="28" name="TextBox 28"/>
          <p:cNvSpPr txBox="1"/>
          <p:nvPr/>
        </p:nvSpPr>
        <p:spPr>
          <a:xfrm>
            <a:off x="6537008" y="2586514"/>
            <a:ext cx="823793"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海拔 0.38</a:t>
            </a:r>
          </a:p>
        </p:txBody>
      </p:sp>
      <p:sp>
        <p:nvSpPr>
          <p:cNvPr id="29" name="TextBox 29"/>
          <p:cNvSpPr txBox="1"/>
          <p:nvPr/>
        </p:nvSpPr>
        <p:spPr>
          <a:xfrm>
            <a:off x="6537008" y="2872264"/>
            <a:ext cx="2536960"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温度年较差 / 最湿月降水 0.38</a:t>
            </a:r>
          </a:p>
        </p:txBody>
      </p:sp>
      <p:sp>
        <p:nvSpPr>
          <p:cNvPr id="30" name="TextBox 30"/>
          <p:cNvSpPr txBox="1"/>
          <p:nvPr/>
        </p:nvSpPr>
        <p:spPr>
          <a:xfrm>
            <a:off x="6537008" y="3158014"/>
            <a:ext cx="1382435"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温度季节性 0.36</a:t>
            </a:r>
          </a:p>
        </p:txBody>
      </p:sp>
      <p:sp>
        <p:nvSpPr>
          <p:cNvPr id="31" name="TextBox 31"/>
          <p:cNvSpPr txBox="1"/>
          <p:nvPr/>
        </p:nvSpPr>
        <p:spPr>
          <a:xfrm>
            <a:off x="6537008" y="3443764"/>
            <a:ext cx="1196221"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人类足迹 0.36</a:t>
            </a:r>
          </a:p>
        </p:txBody>
      </p:sp>
      <p:sp>
        <p:nvSpPr>
          <p:cNvPr id="32" name="Rectangle 32"/>
          <p:cNvSpPr/>
          <p:nvPr/>
        </p:nvSpPr>
        <p:spPr>
          <a:xfrm>
            <a:off x="6248400" y="3943350"/>
            <a:ext cx="5257800" cy="1752600"/>
          </a:xfrm>
          <a:prstGeom prst="roundRect">
            <a:avLst>
              <a:gd name="adj" fmla="val 5435"/>
            </a:avLst>
          </a:prstGeom>
          <a:solidFill>
            <a:srgbClr val="FFFFFF"/>
          </a:solidFill>
          <a:ln w="9525">
            <a:solidFill>
              <a:srgbClr val="D8DFE7"/>
            </a:solidFill>
          </a:ln>
        </p:spPr>
      </p:sp>
      <p:sp>
        <p:nvSpPr>
          <p:cNvPr id="33" name="TextBox 33"/>
          <p:cNvSpPr txBox="1"/>
          <p:nvPr/>
        </p:nvSpPr>
        <p:spPr>
          <a:xfrm>
            <a:off x="6535102" y="4132421"/>
            <a:ext cx="3124714" cy="289560"/>
          </a:xfrm>
          <a:prstGeom prst="rect">
            <a:avLst/>
          </a:prstGeom>
          <a:noFill/>
          <a:ln>
            <a:noFill/>
          </a:ln>
        </p:spPr>
        <p:txBody>
          <a:bodyPr wrap="none" lIns="0" tIns="0" rIns="0" bIns="0" anchor="t" anchorCtr="0">
            <a:spAutoFit/>
          </a:bodyPr>
          <a:lstStyle/>
          <a:p>
            <a:pPr algn="l"/>
            <a:r>
              <a:rPr lang="zh-CN" sz="1425" b="1" dirty="0">
                <a:solidFill>
                  <a:srgbClr val="12395E"/>
                </a:solidFill>
                <a:latin typeface="Segoe UI"/>
                <a:ea typeface="Microsoft YaHei"/>
                <a:cs typeface="Segoe UI"/>
              </a:rPr>
              <a:t>变差分解：空间基线结构占主导</a:t>
            </a:r>
          </a:p>
        </p:txBody>
      </p:sp>
      <p:sp>
        <p:nvSpPr>
          <p:cNvPr id="34" name="Rectangle 34"/>
          <p:cNvSpPr/>
          <p:nvPr/>
        </p:nvSpPr>
        <p:spPr>
          <a:xfrm>
            <a:off x="6553200" y="4476750"/>
            <a:ext cx="1714500" cy="228600"/>
          </a:xfrm>
          <a:prstGeom prst="roundRect">
            <a:avLst>
              <a:gd name="adj" fmla="val 16667"/>
            </a:avLst>
          </a:prstGeom>
          <a:solidFill>
            <a:srgbClr val="12395E"/>
          </a:solidFill>
          <a:ln>
            <a:noFill/>
          </a:ln>
        </p:spPr>
      </p:sp>
      <p:sp>
        <p:nvSpPr>
          <p:cNvPr id="35" name="TextBox 35"/>
          <p:cNvSpPr txBox="1"/>
          <p:nvPr/>
        </p:nvSpPr>
        <p:spPr>
          <a:xfrm>
            <a:off x="8366760" y="4518660"/>
            <a:ext cx="2408758"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基线空间/环境 adj R² = 0.14</a:t>
            </a:r>
          </a:p>
        </p:txBody>
      </p:sp>
      <p:sp>
        <p:nvSpPr>
          <p:cNvPr id="36" name="Rectangle 36"/>
          <p:cNvSpPr/>
          <p:nvPr/>
        </p:nvSpPr>
        <p:spPr>
          <a:xfrm>
            <a:off x="6553200" y="4800600"/>
            <a:ext cx="495300" cy="228600"/>
          </a:xfrm>
          <a:prstGeom prst="roundRect">
            <a:avLst>
              <a:gd name="adj" fmla="val 16667"/>
            </a:avLst>
          </a:prstGeom>
          <a:solidFill>
            <a:srgbClr val="2E75B6"/>
          </a:solidFill>
          <a:ln>
            <a:noFill/>
          </a:ln>
        </p:spPr>
      </p:sp>
      <p:sp>
        <p:nvSpPr>
          <p:cNvPr id="37" name="TextBox 37"/>
          <p:cNvSpPr txBox="1"/>
          <p:nvPr/>
        </p:nvSpPr>
        <p:spPr>
          <a:xfrm>
            <a:off x="8366760" y="4842510"/>
            <a:ext cx="1960093"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气候变化 adj R² = 0.04</a:t>
            </a:r>
          </a:p>
        </p:txBody>
      </p:sp>
      <p:sp>
        <p:nvSpPr>
          <p:cNvPr id="38" name="Rectangle 38"/>
          <p:cNvSpPr/>
          <p:nvPr/>
        </p:nvSpPr>
        <p:spPr>
          <a:xfrm>
            <a:off x="6553200" y="5124450"/>
            <a:ext cx="152400" cy="228600"/>
          </a:xfrm>
          <a:prstGeom prst="roundRect">
            <a:avLst>
              <a:gd name="adj" fmla="val 25000"/>
            </a:avLst>
          </a:prstGeom>
          <a:solidFill>
            <a:srgbClr val="9FC7EA"/>
          </a:solidFill>
          <a:ln>
            <a:noFill/>
          </a:ln>
        </p:spPr>
      </p:sp>
      <p:sp>
        <p:nvSpPr>
          <p:cNvPr id="39" name="TextBox 39"/>
          <p:cNvSpPr txBox="1"/>
          <p:nvPr/>
        </p:nvSpPr>
        <p:spPr>
          <a:xfrm>
            <a:off x="8366760" y="5166360"/>
            <a:ext cx="2310613" cy="243840"/>
          </a:xfrm>
          <a:prstGeom prst="rect">
            <a:avLst/>
          </a:prstGeom>
          <a:noFill/>
          <a:ln>
            <a:noFill/>
          </a:ln>
        </p:spPr>
        <p:txBody>
          <a:bodyPr wrap="none" lIns="0" tIns="0" rIns="0" bIns="0" anchor="t" anchorCtr="0">
            <a:spAutoFit/>
          </a:bodyPr>
          <a:lstStyle/>
          <a:p>
            <a:pPr algn="l"/>
            <a:r>
              <a:rPr lang="zh-CN" sz="1200" dirty="0">
                <a:solidFill>
                  <a:srgbClr val="0F2740"/>
                </a:solidFill>
                <a:latin typeface="Segoe UI"/>
                <a:ea typeface="Microsoft YaHei"/>
                <a:cs typeface="Segoe UI"/>
              </a:rPr>
              <a:t>土地利用变化 adj R² = 0.01</a:t>
            </a:r>
          </a:p>
        </p:txBody>
      </p:sp>
      <p:sp>
        <p:nvSpPr>
          <p:cNvPr id="40" name="TextBox 40"/>
          <p:cNvSpPr txBox="1"/>
          <p:nvPr/>
        </p:nvSpPr>
        <p:spPr>
          <a:xfrm>
            <a:off x="6538912" y="5460206"/>
            <a:ext cx="2369939" cy="228600"/>
          </a:xfrm>
          <a:prstGeom prst="rect">
            <a:avLst/>
          </a:prstGeom>
          <a:noFill/>
          <a:ln>
            <a:noFill/>
          </a:ln>
        </p:spPr>
        <p:txBody>
          <a:bodyPr wrap="none" lIns="0" tIns="0" rIns="0" bIns="0" anchor="t" anchorCtr="0">
            <a:spAutoFit/>
          </a:bodyPr>
          <a:lstStyle/>
          <a:p>
            <a:pPr algn="l"/>
            <a:r>
              <a:rPr lang="zh-CN" sz="1125" dirty="0">
                <a:solidFill>
                  <a:srgbClr val="B3611F"/>
                </a:solidFill>
                <a:latin typeface="Segoe UI"/>
                <a:ea typeface="Microsoft YaHei"/>
                <a:cs typeface="Segoe UI"/>
              </a:rPr>
              <a:t>残差 0.66：大量变异仍未被解释</a:t>
            </a:r>
          </a:p>
        </p:txBody>
      </p:sp>
      <p:sp>
        <p:nvSpPr>
          <p:cNvPr id="41" name="TextBox 41"/>
          <p:cNvSpPr txBox="1"/>
          <p:nvPr/>
        </p:nvSpPr>
        <p:spPr>
          <a:xfrm>
            <a:off x="669608" y="5215414"/>
            <a:ext cx="3257607" cy="259080"/>
          </a:xfrm>
          <a:prstGeom prst="rect">
            <a:avLst/>
          </a:prstGeom>
          <a:noFill/>
          <a:ln>
            <a:noFill/>
          </a:ln>
        </p:spPr>
        <p:txBody>
          <a:bodyPr wrap="none" lIns="0" tIns="0" rIns="0" bIns="0" anchor="t" anchorCtr="0">
            <a:spAutoFit/>
          </a:bodyPr>
          <a:lstStyle/>
          <a:p>
            <a:pPr algn="l"/>
            <a:r>
              <a:rPr lang="zh-CN" sz="1275" b="1" dirty="0">
                <a:solidFill>
                  <a:srgbClr val="12395E"/>
                </a:solidFill>
                <a:latin typeface="Segoe UI"/>
                <a:ea typeface="Microsoft YaHei"/>
                <a:cs typeface="Segoe UI"/>
              </a:rPr>
              <a:t>谨慎表述：</a:t>
            </a:r>
            <a:r>
              <a:rPr lang="zh-CN" sz="1275" dirty="0">
                <a:solidFill>
                  <a:srgbClr val="0F2740"/>
                </a:solidFill>
                <a:latin typeface="Segoe UI"/>
                <a:ea typeface="Microsoft YaHei"/>
                <a:cs typeface="Segoe UI"/>
              </a:rPr>
              <a:t xml:space="preserve"> </a:t>
            </a:r>
            <a:r>
              <a:rPr lang="zh-CN" sz="1275" dirty="0">
                <a:solidFill>
                  <a:srgbClr val="0F2740"/>
                </a:solidFill>
                <a:latin typeface="Segoe UI"/>
                <a:ea typeface="Microsoft YaHei"/>
                <a:cs typeface="Segoe UI"/>
              </a:rPr>
              <a:t>这些是空间结构化的关联，</a:t>
            </a:r>
          </a:p>
        </p:txBody>
      </p:sp>
      <p:sp>
        <p:nvSpPr>
          <p:cNvPr id="42" name="TextBox 42"/>
          <p:cNvSpPr txBox="1"/>
          <p:nvPr/>
        </p:nvSpPr>
        <p:spPr>
          <a:xfrm>
            <a:off x="669608" y="5482114"/>
            <a:ext cx="2401024" cy="259080"/>
          </a:xfrm>
          <a:prstGeom prst="rect">
            <a:avLst/>
          </a:prstGeom>
          <a:noFill/>
          <a:ln>
            <a:noFill/>
          </a:ln>
        </p:spPr>
        <p:txBody>
          <a:bodyPr wrap="none" lIns="0" tIns="0" rIns="0" bIns="0" anchor="t" anchorCtr="0">
            <a:spAutoFit/>
          </a:bodyPr>
          <a:lstStyle/>
          <a:p>
            <a:pPr algn="l"/>
            <a:r>
              <a:rPr lang="zh-CN" sz="1275" b="1" dirty="0">
                <a:solidFill>
                  <a:srgbClr val="12395E"/>
                </a:solidFill>
                <a:latin typeface="Segoe UI"/>
                <a:ea typeface="Microsoft YaHei"/>
                <a:cs typeface="Segoe UI"/>
              </a:rPr>
              <a:t>不是环境变化的因果效应。</a:t>
            </a:r>
          </a:p>
        </p:txBody>
      </p:sp>
      <p:sp>
        <p:nvSpPr>
          <p:cNvPr id="43" name="TextBox 43"/>
          <p:cNvSpPr txBox="1"/>
          <p:nvPr/>
        </p:nvSpPr>
        <p:spPr>
          <a:xfrm>
            <a:off x="672465" y="6039802"/>
            <a:ext cx="5032096"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来源：results_v3 性状/环境关联表与变差分解表；GCB 稿件 v6 结果 3.6</a:t>
            </a:r>
          </a:p>
        </p:txBody>
      </p:sp>
      <p:sp>
        <p:nvSpPr>
          <p:cNvPr id="44" name="TextBox 44"/>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25</a:t>
            </a:r>
          </a:p>
        </p:txBody>
      </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D97A34"/>
          </a:solidFill>
          <a:ln>
            <a:noFill/>
          </a:ln>
        </p:spPr>
      </p:sp>
      <p:sp>
        <p:nvSpPr>
          <p:cNvPr id="4" name="TextBox 4"/>
          <p:cNvSpPr txBox="1"/>
          <p:nvPr/>
        </p:nvSpPr>
        <p:spPr>
          <a:xfrm>
            <a:off x="653415" y="677228"/>
            <a:ext cx="9144552"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增长从何而来：湿地类群贡献突出，气候追踪信号弱</a:t>
            </a:r>
          </a:p>
        </p:txBody>
      </p:sp>
      <p:sp>
        <p:nvSpPr>
          <p:cNvPr id="5" name="Rectangle 5"/>
          <p:cNvSpPr/>
          <p:nvPr/>
        </p:nvSpPr>
        <p:spPr>
          <a:xfrm>
            <a:off x="685800" y="1181100"/>
            <a:ext cx="10820400" cy="9525"/>
          </a:xfrm>
          <a:prstGeom prst="rect">
            <a:avLst/>
          </a:prstGeom>
          <a:solidFill>
            <a:srgbClr val="D8DFE7"/>
          </a:solidFill>
          <a:ln>
            <a:noFill/>
          </a:ln>
        </p:spPr>
      </p:sp>
      <p:sp>
        <p:nvSpPr>
          <p:cNvPr id="6" name="TextBox 6"/>
          <p:cNvSpPr txBox="1"/>
          <p:nvPr/>
        </p:nvSpPr>
        <p:spPr>
          <a:xfrm>
            <a:off x="9554489" y="839152"/>
            <a:ext cx="1965046" cy="213360"/>
          </a:xfrm>
          <a:prstGeom prst="rect">
            <a:avLst/>
          </a:prstGeom>
          <a:noFill/>
          <a:ln>
            <a:noFill/>
          </a:ln>
        </p:spPr>
        <p:txBody>
          <a:bodyPr wrap="none" lIns="0" tIns="0" rIns="0" bIns="0" anchor="t" anchorCtr="0">
            <a:spAutoFit/>
          </a:bodyPr>
          <a:lstStyle/>
          <a:p>
            <a:pPr algn="r"/>
            <a:r>
              <a:rPr lang="zh-CN" sz="1050" dirty="0">
                <a:solidFill>
                  <a:srgbClr val="B3611F"/>
                </a:solidFill>
                <a:latin typeface="Segoe UI"/>
                <a:ea typeface="Microsoft YaHei"/>
                <a:cs typeface="Segoe UI"/>
              </a:rPr>
              <a:t>四、机制与意义 · 核心机制</a:t>
            </a:r>
          </a:p>
        </p:txBody>
      </p:sp>
      <p:grpSp>
        <p:nvGrpSpPr>
          <p:cNvPr id="14" name="Group 14"/>
          <p:cNvGrpSpPr/>
          <p:nvPr/>
        </p:nvGrpSpPr>
        <p:grpSpPr>
          <a:xfrm>
            <a:off x="685800" y="1447800"/>
            <a:ext cx="3429000" cy="1478756"/>
            <a:chOff x="685800" y="1447800"/>
            <a:chExt cx="3429000" cy="1478756"/>
          </a:xfrm>
        </p:grpSpPr>
        <p:sp>
          <p:nvSpPr>
            <p:cNvPr id="7" name="Rectangle 7"/>
            <p:cNvSpPr/>
            <p:nvPr/>
          </p:nvSpPr>
          <p:spPr>
            <a:xfrm>
              <a:off x="685800" y="1447800"/>
              <a:ext cx="3429000" cy="1428750"/>
            </a:xfrm>
            <a:prstGeom prst="roundRect">
              <a:avLst>
                <a:gd name="adj" fmla="val 6667"/>
              </a:avLst>
            </a:prstGeom>
            <a:solidFill>
              <a:srgbClr val="F4F7FA"/>
            </a:solidFill>
            <a:ln>
              <a:noFill/>
            </a:ln>
          </p:spPr>
        </p:sp>
        <p:sp>
          <p:nvSpPr>
            <p:cNvPr id="8" name="Rectangle 8"/>
            <p:cNvSpPr/>
            <p:nvPr/>
          </p:nvSpPr>
          <p:spPr>
            <a:xfrm>
              <a:off x="685800" y="1447800"/>
              <a:ext cx="3429000" cy="38100"/>
            </a:xfrm>
            <a:prstGeom prst="roundRect">
              <a:avLst>
                <a:gd name="adj" fmla="val 50000"/>
              </a:avLst>
            </a:prstGeom>
            <a:solidFill>
              <a:srgbClr val="2E75B6"/>
            </a:solidFill>
            <a:ln>
              <a:noFill/>
            </a:ln>
          </p:spPr>
        </p:sp>
        <p:sp>
          <p:nvSpPr>
            <p:cNvPr id="9" name="TextBox 9"/>
            <p:cNvSpPr txBox="1"/>
            <p:nvPr/>
          </p:nvSpPr>
          <p:spPr>
            <a:xfrm>
              <a:off x="938212" y="1669256"/>
              <a:ext cx="1231297"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① 净增长的来源</a:t>
              </a:r>
            </a:p>
          </p:txBody>
        </p:sp>
        <p:sp>
          <p:nvSpPr>
            <p:cNvPr id="10" name="TextBox 10"/>
            <p:cNvSpPr txBox="1"/>
            <p:nvPr/>
          </p:nvSpPr>
          <p:spPr>
            <a:xfrm>
              <a:off x="932498" y="1963579"/>
              <a:ext cx="1990649" cy="320040"/>
            </a:xfrm>
            <a:prstGeom prst="rect">
              <a:avLst/>
            </a:prstGeom>
            <a:noFill/>
            <a:ln>
              <a:noFill/>
            </a:ln>
          </p:spPr>
          <p:txBody>
            <a:bodyPr wrap="none" lIns="0" tIns="0" rIns="0" bIns="0" anchor="t" anchorCtr="0">
              <a:spAutoFit/>
            </a:bodyPr>
            <a:lstStyle/>
            <a:p>
              <a:pPr algn="l"/>
              <a:r>
                <a:rPr lang="zh-CN" sz="1575" b="1" dirty="0">
                  <a:solidFill>
                    <a:srgbClr val="12395E"/>
                  </a:solidFill>
                  <a:latin typeface="Segoe UI"/>
                  <a:ea typeface="Microsoft YaHei"/>
                  <a:cs typeface="Segoe UI"/>
                </a:rPr>
                <a:t>定殖持续多于灭绝</a:t>
              </a:r>
            </a:p>
          </p:txBody>
        </p:sp>
        <p:sp>
          <p:nvSpPr>
            <p:cNvPr id="11" name="TextBox 11"/>
            <p:cNvSpPr txBox="1"/>
            <p:nvPr/>
          </p:nvSpPr>
          <p:spPr>
            <a:xfrm>
              <a:off x="937260" y="2270760"/>
              <a:ext cx="1949577"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定殖 / 灭绝比各期均 &gt; 1</a:t>
              </a:r>
            </a:p>
          </p:txBody>
        </p:sp>
        <p:sp>
          <p:nvSpPr>
            <p:cNvPr id="12" name="TextBox 12"/>
            <p:cNvSpPr txBox="1"/>
            <p:nvPr/>
          </p:nvSpPr>
          <p:spPr>
            <a:xfrm>
              <a:off x="937260" y="2480310"/>
              <a:ext cx="279433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P4→P5 达 1.63（33,261 : 20,417）</a:t>
              </a:r>
            </a:p>
          </p:txBody>
        </p:sp>
        <p:sp>
          <p:nvSpPr>
            <p:cNvPr id="13" name="TextBox 13"/>
            <p:cNvSpPr txBox="1"/>
            <p:nvPr/>
          </p:nvSpPr>
          <p:spPr>
            <a:xfrm>
              <a:off x="938212" y="2697956"/>
              <a:ext cx="2986088" cy="228600"/>
            </a:xfrm>
            <a:prstGeom prst="rect">
              <a:avLst/>
            </a:prstGeom>
            <a:noFill/>
            <a:ln>
              <a:noFill/>
            </a:ln>
          </p:spPr>
          <p:txBody>
            <a:bodyPr wrap="none" lIns="0" tIns="0" rIns="0" bIns="0" anchor="t" anchorCtr="0">
              <a:spAutoFit/>
            </a:bodyPr>
            <a:lstStyle/>
            <a:p>
              <a:pPr algn="l"/>
              <a:r>
                <a:rPr lang="zh-CN" sz="1125" dirty="0">
                  <a:solidFill>
                    <a:srgbClr val="B3611F"/>
                  </a:solidFill>
                  <a:latin typeface="Segoe UI"/>
                  <a:ea typeface="Microsoft YaHei"/>
                  <a:cs typeface="Segoe UI"/>
                </a:rPr>
                <a:t>末期定殖最多、灭绝最少，二者共同推动</a:t>
              </a:r>
            </a:p>
          </p:txBody>
        </p:sp>
      </p:grpSp>
      <p:grpSp>
        <p:nvGrpSpPr>
          <p:cNvPr id="22" name="Group 22"/>
          <p:cNvGrpSpPr/>
          <p:nvPr/>
        </p:nvGrpSpPr>
        <p:grpSpPr>
          <a:xfrm>
            <a:off x="4381500" y="1447800"/>
            <a:ext cx="3429000" cy="1478756"/>
            <a:chOff x="4381500" y="1447800"/>
            <a:chExt cx="3429000" cy="1478756"/>
          </a:xfrm>
        </p:grpSpPr>
        <p:sp>
          <p:nvSpPr>
            <p:cNvPr id="15" name="Rectangle 15"/>
            <p:cNvSpPr/>
            <p:nvPr/>
          </p:nvSpPr>
          <p:spPr>
            <a:xfrm>
              <a:off x="4381500" y="1447800"/>
              <a:ext cx="3429000" cy="1428750"/>
            </a:xfrm>
            <a:prstGeom prst="roundRect">
              <a:avLst>
                <a:gd name="adj" fmla="val 6667"/>
              </a:avLst>
            </a:prstGeom>
            <a:solidFill>
              <a:srgbClr val="F4F7FA"/>
            </a:solidFill>
            <a:ln>
              <a:noFill/>
            </a:ln>
          </p:spPr>
        </p:sp>
        <p:sp>
          <p:nvSpPr>
            <p:cNvPr id="16" name="Rectangle 16"/>
            <p:cNvSpPr/>
            <p:nvPr/>
          </p:nvSpPr>
          <p:spPr>
            <a:xfrm>
              <a:off x="4381500" y="1447800"/>
              <a:ext cx="3429000" cy="38100"/>
            </a:xfrm>
            <a:prstGeom prst="roundRect">
              <a:avLst>
                <a:gd name="adj" fmla="val 50000"/>
              </a:avLst>
            </a:prstGeom>
            <a:solidFill>
              <a:srgbClr val="2E75B6"/>
            </a:solidFill>
            <a:ln>
              <a:noFill/>
            </a:ln>
          </p:spPr>
        </p:sp>
        <p:sp>
          <p:nvSpPr>
            <p:cNvPr id="17" name="TextBox 17"/>
            <p:cNvSpPr txBox="1"/>
            <p:nvPr/>
          </p:nvSpPr>
          <p:spPr>
            <a:xfrm>
              <a:off x="4633912" y="1669256"/>
              <a:ext cx="1395603"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② 定殖发生在哪里</a:t>
              </a:r>
            </a:p>
          </p:txBody>
        </p:sp>
        <p:sp>
          <p:nvSpPr>
            <p:cNvPr id="18" name="TextBox 18"/>
            <p:cNvSpPr txBox="1"/>
            <p:nvPr/>
          </p:nvSpPr>
          <p:spPr>
            <a:xfrm>
              <a:off x="4628198" y="1963579"/>
              <a:ext cx="1746818" cy="320040"/>
            </a:xfrm>
            <a:prstGeom prst="rect">
              <a:avLst/>
            </a:prstGeom>
            <a:noFill/>
            <a:ln>
              <a:noFill/>
            </a:ln>
          </p:spPr>
          <p:txBody>
            <a:bodyPr wrap="none" lIns="0" tIns="0" rIns="0" bIns="0" anchor="t" anchorCtr="0">
              <a:spAutoFit/>
            </a:bodyPr>
            <a:lstStyle/>
            <a:p>
              <a:pPr algn="l"/>
              <a:r>
                <a:rPr lang="zh-CN" sz="1575" b="1" dirty="0">
                  <a:solidFill>
                    <a:srgbClr val="12395E"/>
                  </a:solidFill>
                  <a:latin typeface="Segoe UI"/>
                  <a:ea typeface="Microsoft YaHei"/>
                  <a:cs typeface="Segoe UI"/>
                </a:rPr>
                <a:t>真实的范围扩张</a:t>
              </a:r>
            </a:p>
          </p:txBody>
        </p:sp>
        <p:sp>
          <p:nvSpPr>
            <p:cNvPr id="19" name="TextBox 19"/>
            <p:cNvSpPr txBox="1"/>
            <p:nvPr/>
          </p:nvSpPr>
          <p:spPr>
            <a:xfrm>
              <a:off x="4632960" y="2270760"/>
              <a:ext cx="1886483"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至少 47% 的增量发生在</a:t>
              </a:r>
            </a:p>
          </p:txBody>
        </p:sp>
        <p:sp>
          <p:nvSpPr>
            <p:cNvPr id="20" name="TextBox 20"/>
            <p:cNvSpPr txBox="1"/>
            <p:nvPr/>
          </p:nvSpPr>
          <p:spPr>
            <a:xfrm>
              <a:off x="4632960" y="2480310"/>
              <a:ext cx="143256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原核心分布区之外</a:t>
              </a:r>
            </a:p>
          </p:txBody>
        </p:sp>
        <p:sp>
          <p:nvSpPr>
            <p:cNvPr id="21" name="TextBox 21"/>
            <p:cNvSpPr txBox="1"/>
            <p:nvPr/>
          </p:nvSpPr>
          <p:spPr>
            <a:xfrm>
              <a:off x="4633912" y="2697956"/>
              <a:ext cx="3017306"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（阈值 0.3/0.5/0.7 → 47%/71%/88%）</a:t>
              </a:r>
            </a:p>
          </p:txBody>
        </p:sp>
      </p:grpSp>
      <p:grpSp>
        <p:nvGrpSpPr>
          <p:cNvPr id="30" name="Group 30"/>
          <p:cNvGrpSpPr/>
          <p:nvPr/>
        </p:nvGrpSpPr>
        <p:grpSpPr>
          <a:xfrm>
            <a:off x="8077200" y="1447800"/>
            <a:ext cx="3429000" cy="1478756"/>
            <a:chOff x="8077200" y="1447800"/>
            <a:chExt cx="3429000" cy="1478756"/>
          </a:xfrm>
        </p:grpSpPr>
        <p:sp>
          <p:nvSpPr>
            <p:cNvPr id="23" name="Rectangle 23"/>
            <p:cNvSpPr/>
            <p:nvPr/>
          </p:nvSpPr>
          <p:spPr>
            <a:xfrm>
              <a:off x="8077200" y="1447800"/>
              <a:ext cx="3429000" cy="1428750"/>
            </a:xfrm>
            <a:prstGeom prst="roundRect">
              <a:avLst>
                <a:gd name="adj" fmla="val 6667"/>
              </a:avLst>
            </a:prstGeom>
            <a:solidFill>
              <a:srgbClr val="FDF4EC"/>
            </a:solidFill>
            <a:ln>
              <a:noFill/>
            </a:ln>
          </p:spPr>
        </p:sp>
        <p:sp>
          <p:nvSpPr>
            <p:cNvPr id="24" name="Rectangle 24"/>
            <p:cNvSpPr/>
            <p:nvPr/>
          </p:nvSpPr>
          <p:spPr>
            <a:xfrm>
              <a:off x="8077200" y="1447800"/>
              <a:ext cx="3429000" cy="38100"/>
            </a:xfrm>
            <a:prstGeom prst="roundRect">
              <a:avLst>
                <a:gd name="adj" fmla="val 50000"/>
              </a:avLst>
            </a:prstGeom>
            <a:solidFill>
              <a:srgbClr val="D97A34"/>
            </a:solidFill>
            <a:ln>
              <a:noFill/>
            </a:ln>
          </p:spPr>
        </p:sp>
        <p:sp>
          <p:nvSpPr>
            <p:cNvPr id="25" name="TextBox 25"/>
            <p:cNvSpPr txBox="1"/>
            <p:nvPr/>
          </p:nvSpPr>
          <p:spPr>
            <a:xfrm>
              <a:off x="8329612" y="1669256"/>
              <a:ext cx="1231297"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③ 是哪一类物种</a:t>
              </a:r>
            </a:p>
          </p:txBody>
        </p:sp>
        <p:sp>
          <p:nvSpPr>
            <p:cNvPr id="26" name="TextBox 26"/>
            <p:cNvSpPr txBox="1"/>
            <p:nvPr/>
          </p:nvSpPr>
          <p:spPr>
            <a:xfrm>
              <a:off x="8323898" y="1963579"/>
              <a:ext cx="1502988" cy="320040"/>
            </a:xfrm>
            <a:prstGeom prst="rect">
              <a:avLst/>
            </a:prstGeom>
            <a:noFill/>
            <a:ln>
              <a:noFill/>
            </a:ln>
          </p:spPr>
          <p:txBody>
            <a:bodyPr wrap="none" lIns="0" tIns="0" rIns="0" bIns="0" anchor="t" anchorCtr="0">
              <a:spAutoFit/>
            </a:bodyPr>
            <a:lstStyle/>
            <a:p>
              <a:pPr algn="l"/>
              <a:r>
                <a:rPr lang="zh-CN" sz="1575" b="1" dirty="0">
                  <a:solidFill>
                    <a:srgbClr val="B3611F"/>
                  </a:solidFill>
                  <a:latin typeface="Segoe UI"/>
                  <a:ea typeface="Microsoft YaHei"/>
                  <a:cs typeface="Segoe UI"/>
                </a:rPr>
                <a:t>湿地类群主导</a:t>
              </a:r>
            </a:p>
          </p:txBody>
        </p:sp>
        <p:sp>
          <p:nvSpPr>
            <p:cNvPr id="27" name="TextBox 27"/>
            <p:cNvSpPr txBox="1"/>
            <p:nvPr/>
          </p:nvSpPr>
          <p:spPr>
            <a:xfrm>
              <a:off x="8328660" y="2270760"/>
              <a:ext cx="1800606"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21.5% 的物种，贡献了</a:t>
              </a:r>
            </a:p>
          </p:txBody>
        </p:sp>
        <p:sp>
          <p:nvSpPr>
            <p:cNvPr id="28" name="TextBox 28"/>
            <p:cNvSpPr txBox="1"/>
            <p:nvPr/>
          </p:nvSpPr>
          <p:spPr>
            <a:xfrm>
              <a:off x="8328660" y="2480310"/>
              <a:ext cx="2273808"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38.0% 的增量（1.8 倍超额）</a:t>
              </a:r>
            </a:p>
          </p:txBody>
        </p:sp>
        <p:sp>
          <p:nvSpPr>
            <p:cNvPr id="29" name="TextBox 29"/>
            <p:cNvSpPr txBox="1"/>
            <p:nvPr/>
          </p:nvSpPr>
          <p:spPr>
            <a:xfrm>
              <a:off x="8329612" y="2697956"/>
              <a:ext cx="1835944" cy="228600"/>
            </a:xfrm>
            <a:prstGeom prst="rect">
              <a:avLst/>
            </a:prstGeom>
            <a:noFill/>
            <a:ln>
              <a:noFill/>
            </a:ln>
          </p:spPr>
          <p:txBody>
            <a:bodyPr wrap="none" lIns="0" tIns="0" rIns="0" bIns="0" anchor="t" anchorCtr="0">
              <a:spAutoFit/>
            </a:bodyPr>
            <a:lstStyle/>
            <a:p>
              <a:pPr algn="l"/>
              <a:r>
                <a:rPr lang="zh-CN" sz="1125" dirty="0">
                  <a:solidFill>
                    <a:srgbClr val="B3611F"/>
                  </a:solidFill>
                  <a:latin typeface="Segoe UI"/>
                  <a:ea typeface="Microsoft YaHei"/>
                  <a:cs typeface="Segoe UI"/>
                </a:rPr>
                <a:t>而营养级维度完全按比例</a:t>
              </a:r>
            </a:p>
          </p:txBody>
        </p:sp>
      </p:grpSp>
      <p:sp>
        <p:nvSpPr>
          <p:cNvPr id="31" name="TextBox 31"/>
          <p:cNvSpPr txBox="1"/>
          <p:nvPr/>
        </p:nvSpPr>
        <p:spPr>
          <a:xfrm>
            <a:off x="667702" y="3103721"/>
            <a:ext cx="3815219" cy="289560"/>
          </a:xfrm>
          <a:prstGeom prst="rect">
            <a:avLst/>
          </a:prstGeom>
          <a:noFill/>
          <a:ln>
            <a:noFill/>
          </a:ln>
        </p:spPr>
        <p:txBody>
          <a:bodyPr wrap="none" lIns="0" tIns="0" rIns="0" bIns="0" anchor="t" anchorCtr="0">
            <a:spAutoFit/>
          </a:bodyPr>
          <a:lstStyle/>
          <a:p>
            <a:pPr algn="l"/>
            <a:r>
              <a:rPr lang="zh-CN" sz="1425" b="1" dirty="0">
                <a:solidFill>
                  <a:srgbClr val="12395E"/>
                </a:solidFill>
                <a:latin typeface="Segoe UI"/>
                <a:ea typeface="Microsoft YaHei"/>
                <a:cs typeface="Segoe UI"/>
              </a:rPr>
              <a:t>各生境类群对每格 +21.7 种增量的贡献</a:t>
            </a:r>
          </a:p>
        </p:txBody>
      </p:sp>
      <p:grpSp>
        <p:nvGrpSpPr>
          <p:cNvPr id="36" name="Group 36"/>
          <p:cNvGrpSpPr/>
          <p:nvPr/>
        </p:nvGrpSpPr>
        <p:grpSpPr>
          <a:xfrm>
            <a:off x="690562" y="3429000"/>
            <a:ext cx="8808006" cy="285750"/>
            <a:chOff x="690562" y="3429000"/>
            <a:chExt cx="8808006" cy="285750"/>
          </a:xfrm>
        </p:grpSpPr>
        <p:sp>
          <p:nvSpPr>
            <p:cNvPr id="32" name="TextBox 32"/>
            <p:cNvSpPr txBox="1"/>
            <p:nvPr/>
          </p:nvSpPr>
          <p:spPr>
            <a:xfrm>
              <a:off x="690562" y="3470910"/>
              <a:ext cx="1191578" cy="243840"/>
            </a:xfrm>
            <a:prstGeom prst="rect">
              <a:avLst/>
            </a:prstGeom>
            <a:noFill/>
            <a:ln>
              <a:noFill/>
            </a:ln>
          </p:spPr>
          <p:txBody>
            <a:bodyPr wrap="none" lIns="0" tIns="0" rIns="0" bIns="0" anchor="t" anchorCtr="0">
              <a:spAutoFit/>
            </a:bodyPr>
            <a:lstStyle/>
            <a:p>
              <a:pPr algn="r"/>
              <a:r>
                <a:rPr lang="zh-CN" sz="1200" b="1" dirty="0">
                  <a:solidFill>
                    <a:srgbClr val="0F2740"/>
                  </a:solidFill>
                  <a:latin typeface="Segoe UI"/>
                  <a:ea typeface="Microsoft YaHei"/>
                  <a:cs typeface="Segoe UI"/>
                </a:rPr>
                <a:t>湿地 Wetland</a:t>
              </a:r>
            </a:p>
          </p:txBody>
        </p:sp>
        <p:sp>
          <p:nvSpPr>
            <p:cNvPr id="33" name="Rectangle 33"/>
            <p:cNvSpPr/>
            <p:nvPr/>
          </p:nvSpPr>
          <p:spPr>
            <a:xfrm>
              <a:off x="2019300" y="3429000"/>
              <a:ext cx="4038600" cy="228600"/>
            </a:xfrm>
            <a:prstGeom prst="roundRect">
              <a:avLst>
                <a:gd name="adj" fmla="val 16667"/>
              </a:avLst>
            </a:prstGeom>
            <a:solidFill>
              <a:srgbClr val="D97A34"/>
            </a:solidFill>
            <a:ln>
              <a:noFill/>
            </a:ln>
          </p:spPr>
        </p:sp>
        <p:sp>
          <p:nvSpPr>
            <p:cNvPr id="34" name="TextBox 34"/>
            <p:cNvSpPr txBox="1"/>
            <p:nvPr/>
          </p:nvSpPr>
          <p:spPr>
            <a:xfrm>
              <a:off x="6176010" y="3470910"/>
              <a:ext cx="1581706" cy="243840"/>
            </a:xfrm>
            <a:prstGeom prst="rect">
              <a:avLst/>
            </a:prstGeom>
            <a:noFill/>
            <a:ln>
              <a:noFill/>
            </a:ln>
          </p:spPr>
          <p:txBody>
            <a:bodyPr wrap="none" lIns="0" tIns="0" rIns="0" bIns="0" anchor="t" anchorCtr="0">
              <a:spAutoFit/>
            </a:bodyPr>
            <a:lstStyle/>
            <a:p>
              <a:pPr algn="l"/>
              <a:r>
                <a:rPr lang="zh-CN" sz="1200" b="1" dirty="0">
                  <a:solidFill>
                    <a:srgbClr val="B3611F"/>
                  </a:solidFill>
                  <a:latin typeface="Segoe UI"/>
                  <a:ea typeface="Microsoft YaHei"/>
                  <a:cs typeface="Segoe UI"/>
                </a:rPr>
                <a:t>38.0% （8.23 种）</a:t>
              </a:r>
            </a:p>
          </p:txBody>
        </p:sp>
        <p:sp>
          <p:nvSpPr>
            <p:cNvPr id="35" name="TextBox 35"/>
            <p:cNvSpPr txBox="1"/>
            <p:nvPr/>
          </p:nvSpPr>
          <p:spPr>
            <a:xfrm>
              <a:off x="8139112" y="3479006"/>
              <a:ext cx="1359456"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物种占比仅 21.5%</a:t>
              </a:r>
            </a:p>
          </p:txBody>
        </p:sp>
      </p:grpSp>
      <p:grpSp>
        <p:nvGrpSpPr>
          <p:cNvPr id="41" name="Group 41"/>
          <p:cNvGrpSpPr/>
          <p:nvPr/>
        </p:nvGrpSpPr>
        <p:grpSpPr>
          <a:xfrm>
            <a:off x="856183" y="3752850"/>
            <a:ext cx="9135303" cy="285750"/>
            <a:chOff x="856183" y="3752850"/>
            <a:chExt cx="9135303" cy="285750"/>
          </a:xfrm>
        </p:grpSpPr>
        <p:sp>
          <p:nvSpPr>
            <p:cNvPr id="37" name="TextBox 37"/>
            <p:cNvSpPr txBox="1"/>
            <p:nvPr/>
          </p:nvSpPr>
          <p:spPr>
            <a:xfrm>
              <a:off x="856183" y="3794760"/>
              <a:ext cx="1025957" cy="243840"/>
            </a:xfrm>
            <a:prstGeom prst="rect">
              <a:avLst/>
            </a:prstGeom>
            <a:noFill/>
            <a:ln>
              <a:noFill/>
            </a:ln>
          </p:spPr>
          <p:txBody>
            <a:bodyPr wrap="none" lIns="0" tIns="0" rIns="0" bIns="0" anchor="t" anchorCtr="0">
              <a:spAutoFit/>
            </a:bodyPr>
            <a:lstStyle/>
            <a:p>
              <a:pPr algn="r"/>
              <a:r>
                <a:rPr lang="zh-CN" sz="1200" dirty="0">
                  <a:solidFill>
                    <a:srgbClr val="0F2740"/>
                  </a:solidFill>
                  <a:latin typeface="Segoe UI"/>
                  <a:ea typeface="Microsoft YaHei"/>
                  <a:cs typeface="Segoe UI"/>
                </a:rPr>
                <a:t>森林 Forest</a:t>
              </a:r>
            </a:p>
          </p:txBody>
        </p:sp>
        <p:sp>
          <p:nvSpPr>
            <p:cNvPr id="38" name="Rectangle 38"/>
            <p:cNvSpPr/>
            <p:nvPr/>
          </p:nvSpPr>
          <p:spPr>
            <a:xfrm>
              <a:off x="2019300" y="3752850"/>
              <a:ext cx="1981200" cy="228600"/>
            </a:xfrm>
            <a:prstGeom prst="roundRect">
              <a:avLst>
                <a:gd name="adj" fmla="val 16667"/>
              </a:avLst>
            </a:prstGeom>
            <a:solidFill>
              <a:srgbClr val="9FC7EA"/>
            </a:solidFill>
            <a:ln>
              <a:noFill/>
            </a:ln>
          </p:spPr>
        </p:sp>
        <p:sp>
          <p:nvSpPr>
            <p:cNvPr id="39" name="TextBox 39"/>
            <p:cNvSpPr txBox="1"/>
            <p:nvPr/>
          </p:nvSpPr>
          <p:spPr>
            <a:xfrm>
              <a:off x="4118610" y="3794760"/>
              <a:ext cx="1493901"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18.6% （4.03 种）</a:t>
              </a:r>
            </a:p>
          </p:txBody>
        </p:sp>
        <p:sp>
          <p:nvSpPr>
            <p:cNvPr id="40" name="TextBox 40"/>
            <p:cNvSpPr txBox="1"/>
            <p:nvPr/>
          </p:nvSpPr>
          <p:spPr>
            <a:xfrm>
              <a:off x="8139112" y="3802856"/>
              <a:ext cx="1852374"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物种占比 29.0%（不足）</a:t>
              </a:r>
            </a:p>
          </p:txBody>
        </p:sp>
      </p:grpSp>
      <p:grpSp>
        <p:nvGrpSpPr>
          <p:cNvPr id="45" name="Group 45"/>
          <p:cNvGrpSpPr/>
          <p:nvPr/>
        </p:nvGrpSpPr>
        <p:grpSpPr>
          <a:xfrm>
            <a:off x="658139" y="4076700"/>
            <a:ext cx="3292374" cy="285750"/>
            <a:chOff x="658139" y="4076700"/>
            <a:chExt cx="3292374" cy="285750"/>
          </a:xfrm>
        </p:grpSpPr>
        <p:sp>
          <p:nvSpPr>
            <p:cNvPr id="42" name="TextBox 42"/>
            <p:cNvSpPr txBox="1"/>
            <p:nvPr/>
          </p:nvSpPr>
          <p:spPr>
            <a:xfrm>
              <a:off x="658139" y="4118610"/>
              <a:ext cx="1224001" cy="243840"/>
            </a:xfrm>
            <a:prstGeom prst="rect">
              <a:avLst/>
            </a:prstGeom>
            <a:noFill/>
            <a:ln>
              <a:noFill/>
            </a:ln>
          </p:spPr>
          <p:txBody>
            <a:bodyPr wrap="none" lIns="0" tIns="0" rIns="0" bIns="0" anchor="t" anchorCtr="0">
              <a:spAutoFit/>
            </a:bodyPr>
            <a:lstStyle/>
            <a:p>
              <a:pPr algn="r"/>
              <a:r>
                <a:rPr lang="zh-CN" sz="1200" dirty="0">
                  <a:solidFill>
                    <a:srgbClr val="0F2740"/>
                  </a:solidFill>
                  <a:latin typeface="Segoe UI"/>
                  <a:ea typeface="Microsoft YaHei"/>
                  <a:cs typeface="Segoe UI"/>
                </a:rPr>
                <a:t>疏林 Woodland</a:t>
              </a:r>
            </a:p>
          </p:txBody>
        </p:sp>
        <p:sp>
          <p:nvSpPr>
            <p:cNvPr id="43" name="Rectangle 43"/>
            <p:cNvSpPr/>
            <p:nvPr/>
          </p:nvSpPr>
          <p:spPr>
            <a:xfrm>
              <a:off x="2019300" y="4076700"/>
              <a:ext cx="1295400" cy="228600"/>
            </a:xfrm>
            <a:prstGeom prst="roundRect">
              <a:avLst>
                <a:gd name="adj" fmla="val 16667"/>
              </a:avLst>
            </a:prstGeom>
            <a:solidFill>
              <a:srgbClr val="B7C4D1"/>
            </a:solidFill>
            <a:ln>
              <a:noFill/>
            </a:ln>
          </p:spPr>
        </p:sp>
        <p:sp>
          <p:nvSpPr>
            <p:cNvPr id="44" name="TextBox 44"/>
            <p:cNvSpPr txBox="1"/>
            <p:nvPr/>
          </p:nvSpPr>
          <p:spPr>
            <a:xfrm>
              <a:off x="3432810" y="4118610"/>
              <a:ext cx="517703"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12.2%</a:t>
              </a:r>
            </a:p>
          </p:txBody>
        </p:sp>
      </p:grpSp>
      <p:grpSp>
        <p:nvGrpSpPr>
          <p:cNvPr id="49" name="Group 49"/>
          <p:cNvGrpSpPr/>
          <p:nvPr/>
        </p:nvGrpSpPr>
        <p:grpSpPr>
          <a:xfrm>
            <a:off x="940308" y="4400550"/>
            <a:ext cx="3353105" cy="285750"/>
            <a:chOff x="940308" y="4400550"/>
            <a:chExt cx="3353105" cy="285750"/>
          </a:xfrm>
        </p:grpSpPr>
        <p:sp>
          <p:nvSpPr>
            <p:cNvPr id="46" name="TextBox 46"/>
            <p:cNvSpPr txBox="1"/>
            <p:nvPr/>
          </p:nvSpPr>
          <p:spPr>
            <a:xfrm>
              <a:off x="940308" y="4442460"/>
              <a:ext cx="941832" cy="243840"/>
            </a:xfrm>
            <a:prstGeom prst="rect">
              <a:avLst/>
            </a:prstGeom>
            <a:noFill/>
            <a:ln>
              <a:noFill/>
            </a:ln>
          </p:spPr>
          <p:txBody>
            <a:bodyPr wrap="none" lIns="0" tIns="0" rIns="0" bIns="0" anchor="t" anchorCtr="0">
              <a:spAutoFit/>
            </a:bodyPr>
            <a:lstStyle/>
            <a:p>
              <a:pPr algn="r"/>
              <a:r>
                <a:rPr lang="zh-CN" sz="1200" dirty="0">
                  <a:solidFill>
                    <a:srgbClr val="0F2740"/>
                  </a:solidFill>
                  <a:latin typeface="Segoe UI"/>
                  <a:ea typeface="Microsoft YaHei"/>
                  <a:cs typeface="Segoe UI"/>
                </a:rPr>
                <a:t>草地 / 灌丛</a:t>
              </a:r>
            </a:p>
          </p:txBody>
        </p:sp>
        <p:sp>
          <p:nvSpPr>
            <p:cNvPr id="47" name="Rectangle 47"/>
            <p:cNvSpPr/>
            <p:nvPr/>
          </p:nvSpPr>
          <p:spPr>
            <a:xfrm>
              <a:off x="2019300" y="4400550"/>
              <a:ext cx="1638300" cy="228600"/>
            </a:xfrm>
            <a:prstGeom prst="roundRect">
              <a:avLst>
                <a:gd name="adj" fmla="val 16667"/>
              </a:avLst>
            </a:prstGeom>
            <a:solidFill>
              <a:srgbClr val="B7C4D1"/>
            </a:solidFill>
            <a:ln>
              <a:noFill/>
            </a:ln>
          </p:spPr>
        </p:sp>
        <p:sp>
          <p:nvSpPr>
            <p:cNvPr id="48" name="TextBox 48"/>
            <p:cNvSpPr txBox="1"/>
            <p:nvPr/>
          </p:nvSpPr>
          <p:spPr>
            <a:xfrm>
              <a:off x="3775710" y="4442460"/>
              <a:ext cx="517703"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15.4%</a:t>
              </a:r>
            </a:p>
          </p:txBody>
        </p:sp>
      </p:grpSp>
      <p:grpSp>
        <p:nvGrpSpPr>
          <p:cNvPr id="53" name="Group 53"/>
          <p:cNvGrpSpPr/>
          <p:nvPr/>
        </p:nvGrpSpPr>
        <p:grpSpPr>
          <a:xfrm>
            <a:off x="807110" y="4724400"/>
            <a:ext cx="4620616" cy="285750"/>
            <a:chOff x="807110" y="4724400"/>
            <a:chExt cx="4620616" cy="285750"/>
          </a:xfrm>
        </p:grpSpPr>
        <p:sp>
          <p:nvSpPr>
            <p:cNvPr id="50" name="TextBox 50"/>
            <p:cNvSpPr txBox="1"/>
            <p:nvPr/>
          </p:nvSpPr>
          <p:spPr>
            <a:xfrm>
              <a:off x="807110" y="4766310"/>
              <a:ext cx="1075030" cy="243840"/>
            </a:xfrm>
            <a:prstGeom prst="rect">
              <a:avLst/>
            </a:prstGeom>
            <a:noFill/>
            <a:ln>
              <a:noFill/>
            </a:ln>
          </p:spPr>
          <p:txBody>
            <a:bodyPr wrap="none" lIns="0" tIns="0" rIns="0" bIns="0" anchor="t" anchorCtr="0">
              <a:spAutoFit/>
            </a:bodyPr>
            <a:lstStyle/>
            <a:p>
              <a:pPr algn="r"/>
              <a:r>
                <a:rPr lang="zh-CN" sz="1200" dirty="0">
                  <a:solidFill>
                    <a:srgbClr val="0F2740"/>
                  </a:solidFill>
                  <a:latin typeface="Segoe UI"/>
                  <a:ea typeface="Microsoft YaHei"/>
                  <a:cs typeface="Segoe UI"/>
                </a:rPr>
                <a:t>海岸 Coastal</a:t>
              </a:r>
            </a:p>
          </p:txBody>
        </p:sp>
        <p:sp>
          <p:nvSpPr>
            <p:cNvPr id="51" name="Rectangle 51"/>
            <p:cNvSpPr/>
            <p:nvPr/>
          </p:nvSpPr>
          <p:spPr>
            <a:xfrm>
              <a:off x="2019300" y="4724400"/>
              <a:ext cx="438150" cy="228600"/>
            </a:xfrm>
            <a:prstGeom prst="roundRect">
              <a:avLst>
                <a:gd name="adj" fmla="val 16667"/>
              </a:avLst>
            </a:prstGeom>
            <a:solidFill>
              <a:srgbClr val="D97A34"/>
            </a:solidFill>
            <a:ln>
              <a:noFill/>
            </a:ln>
          </p:spPr>
        </p:sp>
        <p:sp>
          <p:nvSpPr>
            <p:cNvPr id="52" name="TextBox 52"/>
            <p:cNvSpPr txBox="1"/>
            <p:nvPr/>
          </p:nvSpPr>
          <p:spPr>
            <a:xfrm>
              <a:off x="2575560" y="4766310"/>
              <a:ext cx="2852166"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4.1% （物种占比 2.5%，同样超额）</a:t>
              </a:r>
            </a:p>
          </p:txBody>
        </p:sp>
      </p:grpSp>
      <p:sp>
        <p:nvSpPr>
          <p:cNvPr id="54" name="Rectangle 54"/>
          <p:cNvSpPr/>
          <p:nvPr/>
        </p:nvSpPr>
        <p:spPr>
          <a:xfrm>
            <a:off x="685800" y="5200650"/>
            <a:ext cx="5257800" cy="1066800"/>
          </a:xfrm>
          <a:prstGeom prst="roundRect">
            <a:avLst>
              <a:gd name="adj" fmla="val 8929"/>
            </a:avLst>
          </a:prstGeom>
          <a:solidFill>
            <a:srgbClr val="FFFFFF"/>
          </a:solidFill>
          <a:ln w="9525">
            <a:solidFill>
              <a:srgbClr val="D8DFE7"/>
            </a:solidFill>
          </a:ln>
        </p:spPr>
      </p:sp>
      <p:sp>
        <p:nvSpPr>
          <p:cNvPr id="55" name="TextBox 55"/>
          <p:cNvSpPr txBox="1"/>
          <p:nvPr/>
        </p:nvSpPr>
        <p:spPr>
          <a:xfrm>
            <a:off x="934402" y="5370671"/>
            <a:ext cx="2683497" cy="289560"/>
          </a:xfrm>
          <a:prstGeom prst="rect">
            <a:avLst/>
          </a:prstGeom>
          <a:noFill/>
          <a:ln>
            <a:noFill/>
          </a:ln>
        </p:spPr>
        <p:txBody>
          <a:bodyPr wrap="none" lIns="0" tIns="0" rIns="0" bIns="0" anchor="t" anchorCtr="0">
            <a:spAutoFit/>
          </a:bodyPr>
          <a:lstStyle/>
          <a:p>
            <a:pPr algn="l"/>
            <a:r>
              <a:rPr lang="zh-CN" sz="1425" b="1" dirty="0">
                <a:solidFill>
                  <a:srgbClr val="12395E"/>
                </a:solidFill>
                <a:latin typeface="Segoe UI"/>
                <a:ea typeface="Microsoft YaHei"/>
                <a:cs typeface="Segoe UI"/>
              </a:rPr>
              <a:t>气候追踪的组合特征未出现</a:t>
            </a:r>
          </a:p>
        </p:txBody>
      </p:sp>
      <p:sp>
        <p:nvSpPr>
          <p:cNvPr id="56" name="TextBox 56"/>
          <p:cNvSpPr txBox="1"/>
          <p:nvPr/>
        </p:nvSpPr>
        <p:spPr>
          <a:xfrm>
            <a:off x="937260" y="5680710"/>
            <a:ext cx="4010635"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 分布重心纬度：中位 −0.028°（仅 46% 北移）</a:t>
            </a:r>
          </a:p>
        </p:txBody>
      </p:sp>
      <p:sp>
        <p:nvSpPr>
          <p:cNvPr id="57" name="TextBox 57"/>
          <p:cNvSpPr txBox="1"/>
          <p:nvPr/>
        </p:nvSpPr>
        <p:spPr>
          <a:xfrm>
            <a:off x="937260" y="5890260"/>
            <a:ext cx="4766005"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 海拔小幅上移（中位 +5.6 m，p = 0.012）· CTI 末期反低</a:t>
            </a:r>
          </a:p>
        </p:txBody>
      </p:sp>
      <p:sp>
        <p:nvSpPr>
          <p:cNvPr id="58" name="Rectangle 58"/>
          <p:cNvSpPr/>
          <p:nvPr/>
        </p:nvSpPr>
        <p:spPr>
          <a:xfrm>
            <a:off x="6248400" y="5200650"/>
            <a:ext cx="5257800" cy="1066800"/>
          </a:xfrm>
          <a:prstGeom prst="roundRect">
            <a:avLst>
              <a:gd name="adj" fmla="val 8929"/>
            </a:avLst>
          </a:prstGeom>
          <a:solidFill>
            <a:srgbClr val="12395E"/>
          </a:solidFill>
          <a:ln>
            <a:noFill/>
          </a:ln>
        </p:spPr>
      </p:sp>
      <p:sp>
        <p:nvSpPr>
          <p:cNvPr id="59" name="Rectangle 59"/>
          <p:cNvSpPr/>
          <p:nvPr/>
        </p:nvSpPr>
        <p:spPr>
          <a:xfrm>
            <a:off x="6248400" y="5200650"/>
            <a:ext cx="47625" cy="1066800"/>
          </a:xfrm>
          <a:prstGeom prst="roundRect">
            <a:avLst>
              <a:gd name="adj" fmla="val 50000"/>
            </a:avLst>
          </a:prstGeom>
          <a:solidFill>
            <a:srgbClr val="D97A34"/>
          </a:solidFill>
          <a:ln>
            <a:noFill/>
          </a:ln>
        </p:spPr>
      </p:sp>
      <p:sp>
        <p:nvSpPr>
          <p:cNvPr id="60" name="TextBox 60"/>
          <p:cNvSpPr txBox="1"/>
          <p:nvPr/>
        </p:nvSpPr>
        <p:spPr>
          <a:xfrm>
            <a:off x="6573202" y="5389721"/>
            <a:ext cx="3786540"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Segoe UI"/>
                <a:ea typeface="Microsoft YaHei"/>
                <a:cs typeface="Segoe UI"/>
              </a:rPr>
              <a:t>增益的构成，可能正是功能停滞的原因</a:t>
            </a:r>
          </a:p>
        </p:txBody>
      </p:sp>
      <p:sp>
        <p:nvSpPr>
          <p:cNvPr id="61" name="TextBox 61"/>
          <p:cNvSpPr txBox="1"/>
          <p:nvPr/>
        </p:nvSpPr>
        <p:spPr>
          <a:xfrm>
            <a:off x="6575108" y="5710714"/>
            <a:ext cx="2639377"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新增物种集中于单一生境类群，</a:t>
            </a:r>
          </a:p>
        </p:txBody>
      </p:sp>
      <p:sp>
        <p:nvSpPr>
          <p:cNvPr id="62" name="TextBox 62"/>
          <p:cNvSpPr txBox="1"/>
          <p:nvPr/>
        </p:nvSpPr>
        <p:spPr>
          <a:xfrm>
            <a:off x="6575108" y="5939314"/>
            <a:ext cx="3756660" cy="259080"/>
          </a:xfrm>
          <a:prstGeom prst="rect">
            <a:avLst/>
          </a:prstGeom>
          <a:noFill/>
          <a:ln>
            <a:noFill/>
          </a:ln>
        </p:spPr>
        <p:txBody>
          <a:bodyPr wrap="none" lIns="0" tIns="0" rIns="0" bIns="0" anchor="t" anchorCtr="0">
            <a:spAutoFit/>
          </a:bodyPr>
          <a:lstStyle/>
          <a:p>
            <a:pPr algn="l"/>
            <a:r>
              <a:rPr lang="zh-CN" sz="1275" dirty="0">
                <a:solidFill>
                  <a:srgbClr val="C6D8E8"/>
                </a:solidFill>
                <a:latin typeface="Segoe UI"/>
                <a:ea typeface="Microsoft YaHei"/>
                <a:cs typeface="Segoe UI"/>
              </a:rPr>
              <a:t>物种数上升而性状空间未被撑开（待检验）。</a:t>
            </a:r>
          </a:p>
        </p:txBody>
      </p:sp>
      <p:sp>
        <p:nvSpPr>
          <p:cNvPr id="63" name="TextBox 63"/>
          <p:cNvSpPr txBox="1"/>
          <p:nvPr/>
        </p:nvSpPr>
        <p:spPr>
          <a:xfrm>
            <a:off x="672465" y="6458902"/>
            <a:ext cx="7723432"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来源：results_v3 定殖-灭绝表、范围分解表、类群贡献表、重心位移表、CTI 表（本地与服务器双向核验一致）</a:t>
            </a:r>
          </a:p>
        </p:txBody>
      </p:sp>
      <p:sp>
        <p:nvSpPr>
          <p:cNvPr id="64" name="TextBox 64"/>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26</a:t>
            </a:r>
          </a:p>
        </p:txBody>
      </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7565460"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保护地内趋同更慢，但未检出功能轨迹差异</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419397" y="801052"/>
            <a:ext cx="110013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四、机制与意义</a:t>
            </a:r>
          </a:p>
        </p:txBody>
      </p:sp>
      <p:sp>
        <p:nvSpPr>
          <p:cNvPr id="6" name="TextBox 6"/>
          <p:cNvSpPr txBox="1"/>
          <p:nvPr/>
        </p:nvSpPr>
        <p:spPr>
          <a:xfrm>
            <a:off x="669608" y="1367314"/>
            <a:ext cx="4315301"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三层因果设计，强度递减；只在证据一致处下结论。</a:t>
            </a:r>
          </a:p>
        </p:txBody>
      </p:sp>
      <p:sp>
        <p:nvSpPr>
          <p:cNvPr id="7" name="Rectangle 7"/>
          <p:cNvSpPr/>
          <p:nvPr/>
        </p:nvSpPr>
        <p:spPr>
          <a:xfrm>
            <a:off x="685800" y="1714500"/>
            <a:ext cx="10820400" cy="1428750"/>
          </a:xfrm>
          <a:prstGeom prst="roundRect">
            <a:avLst>
              <a:gd name="adj" fmla="val 6667"/>
            </a:avLst>
          </a:prstGeom>
          <a:solidFill>
            <a:srgbClr val="12395E"/>
          </a:solidFill>
          <a:ln>
            <a:noFill/>
          </a:ln>
        </p:spPr>
      </p:sp>
      <p:sp>
        <p:nvSpPr>
          <p:cNvPr id="8" name="Rectangle 8"/>
          <p:cNvSpPr/>
          <p:nvPr/>
        </p:nvSpPr>
        <p:spPr>
          <a:xfrm>
            <a:off x="685800" y="1714500"/>
            <a:ext cx="47625" cy="1428750"/>
          </a:xfrm>
          <a:prstGeom prst="roundRect">
            <a:avLst>
              <a:gd name="adj" fmla="val 50000"/>
            </a:avLst>
          </a:prstGeom>
          <a:solidFill>
            <a:srgbClr val="2E75B6"/>
          </a:solidFill>
          <a:ln>
            <a:noFill/>
          </a:ln>
        </p:spPr>
      </p:sp>
      <p:sp>
        <p:nvSpPr>
          <p:cNvPr id="9" name="TextBox 9"/>
          <p:cNvSpPr txBox="1"/>
          <p:nvPr/>
        </p:nvSpPr>
        <p:spPr>
          <a:xfrm>
            <a:off x="1052512" y="1935956"/>
            <a:ext cx="3971925" cy="228600"/>
          </a:xfrm>
          <a:prstGeom prst="rect">
            <a:avLst/>
          </a:prstGeom>
          <a:noFill/>
          <a:ln>
            <a:noFill/>
          </a:ln>
        </p:spPr>
        <p:txBody>
          <a:bodyPr wrap="none" lIns="0" tIns="0" rIns="0" bIns="0" anchor="t" anchorCtr="0">
            <a:spAutoFit/>
          </a:bodyPr>
          <a:lstStyle/>
          <a:p>
            <a:pPr algn="l"/>
            <a:r>
              <a:rPr lang="zh-CN" sz="1125" dirty="0">
                <a:solidFill>
                  <a:srgbClr val="9FC7EA"/>
                </a:solidFill>
                <a:latin typeface="Segoe UI"/>
                <a:ea typeface="Microsoft YaHei"/>
                <a:cs typeface="Segoe UI"/>
              </a:rPr>
              <a:t>唯一达到统计显著的正向差异（非匹配比较，属关联）</a:t>
            </a:r>
          </a:p>
        </p:txBody>
      </p:sp>
      <p:sp>
        <p:nvSpPr>
          <p:cNvPr id="10" name="TextBox 10"/>
          <p:cNvSpPr txBox="1"/>
          <p:nvPr/>
        </p:nvSpPr>
        <p:spPr>
          <a:xfrm>
            <a:off x="1042988" y="2216944"/>
            <a:ext cx="4401741" cy="381000"/>
          </a:xfrm>
          <a:prstGeom prst="rect">
            <a:avLst/>
          </a:prstGeom>
          <a:noFill/>
          <a:ln>
            <a:noFill/>
          </a:ln>
        </p:spPr>
        <p:txBody>
          <a:bodyPr wrap="none" lIns="0" tIns="0" rIns="0" bIns="0" anchor="t" anchorCtr="0">
            <a:spAutoFit/>
          </a:bodyPr>
          <a:lstStyle/>
          <a:p>
            <a:pPr algn="l"/>
            <a:r>
              <a:rPr lang="zh-CN" sz="1875" b="1" dirty="0">
                <a:solidFill>
                  <a:srgbClr val="FFFFFF"/>
                </a:solidFill>
                <a:latin typeface="Segoe UI"/>
                <a:ea typeface="Microsoft YaHei"/>
                <a:cs typeface="Segoe UI"/>
              </a:rPr>
              <a:t>保护地内的群落趋同速率显著更慢</a:t>
            </a:r>
          </a:p>
        </p:txBody>
      </p:sp>
      <p:sp>
        <p:nvSpPr>
          <p:cNvPr id="11" name="TextBox 11"/>
          <p:cNvSpPr txBox="1"/>
          <p:nvPr/>
        </p:nvSpPr>
        <p:spPr>
          <a:xfrm>
            <a:off x="1049655" y="2635568"/>
            <a:ext cx="5622017" cy="274320"/>
          </a:xfrm>
          <a:prstGeom prst="rect">
            <a:avLst/>
          </a:prstGeom>
          <a:noFill/>
          <a:ln>
            <a:noFill/>
          </a:ln>
        </p:spPr>
        <p:txBody>
          <a:bodyPr wrap="none" lIns="0" tIns="0" rIns="0" bIns="0" anchor="t" anchorCtr="0">
            <a:spAutoFit/>
          </a:bodyPr>
          <a:lstStyle/>
          <a:p>
            <a:pPr algn="l"/>
            <a:r>
              <a:rPr lang="zh-CN" sz="1350" dirty="0">
                <a:solidFill>
                  <a:srgbClr val="C6D8E8"/>
                </a:solidFill>
                <a:latin typeface="Segoe UI"/>
                <a:ea typeface="Microsoft YaHei"/>
                <a:cs typeface="Segoe UI"/>
              </a:rPr>
              <a:t>空间 beta 年际斜率：保护地内 −0.0146 vs 保护地外 −0.0225</a:t>
            </a:r>
          </a:p>
        </p:txBody>
      </p:sp>
      <p:sp>
        <p:nvSpPr>
          <p:cNvPr id="12" name="TextBox 12"/>
          <p:cNvSpPr txBox="1"/>
          <p:nvPr/>
        </p:nvSpPr>
        <p:spPr>
          <a:xfrm>
            <a:off x="1049655" y="2883218"/>
            <a:ext cx="5781723" cy="274320"/>
          </a:xfrm>
          <a:prstGeom prst="rect">
            <a:avLst/>
          </a:prstGeom>
          <a:noFill/>
          <a:ln>
            <a:noFill/>
          </a:ln>
        </p:spPr>
        <p:txBody>
          <a:bodyPr wrap="none" lIns="0" tIns="0" rIns="0" bIns="0" anchor="t" anchorCtr="0">
            <a:spAutoFit/>
          </a:bodyPr>
          <a:lstStyle/>
          <a:p>
            <a:pPr algn="l"/>
            <a:r>
              <a:rPr lang="zh-CN" sz="1350" dirty="0">
                <a:solidFill>
                  <a:srgbClr val="C6D8E8"/>
                </a:solidFill>
                <a:latin typeface="Segoe UI"/>
                <a:ea typeface="Microsoft YaHei"/>
                <a:cs typeface="Segoe UI"/>
              </a:rPr>
              <a:t>差值 +0.0079，95% bootstrap 区间 [0.0005, 0.0164] — 不含 0</a:t>
            </a:r>
          </a:p>
        </p:txBody>
      </p:sp>
      <p:grpSp>
        <p:nvGrpSpPr>
          <p:cNvPr id="20" name="Group 20"/>
          <p:cNvGrpSpPr/>
          <p:nvPr/>
        </p:nvGrpSpPr>
        <p:grpSpPr>
          <a:xfrm>
            <a:off x="685800" y="3352800"/>
            <a:ext cx="5257800" cy="1562100"/>
            <a:chOff x="685800" y="3352800"/>
            <a:chExt cx="5257800" cy="1562100"/>
          </a:xfrm>
        </p:grpSpPr>
        <p:sp>
          <p:nvSpPr>
            <p:cNvPr id="13" name="Rectangle 13"/>
            <p:cNvSpPr/>
            <p:nvPr/>
          </p:nvSpPr>
          <p:spPr>
            <a:xfrm>
              <a:off x="685800" y="3352800"/>
              <a:ext cx="5257800" cy="1562100"/>
            </a:xfrm>
            <a:prstGeom prst="roundRect">
              <a:avLst>
                <a:gd name="adj" fmla="val 6098"/>
              </a:avLst>
            </a:prstGeom>
            <a:solidFill>
              <a:srgbClr val="F4F7FA"/>
            </a:solidFill>
            <a:ln>
              <a:noFill/>
            </a:ln>
          </p:spPr>
        </p:sp>
        <p:sp>
          <p:nvSpPr>
            <p:cNvPr id="14" name="Rectangle 14"/>
            <p:cNvSpPr/>
            <p:nvPr/>
          </p:nvSpPr>
          <p:spPr>
            <a:xfrm>
              <a:off x="685800" y="3352800"/>
              <a:ext cx="5257800" cy="38100"/>
            </a:xfrm>
            <a:prstGeom prst="roundRect">
              <a:avLst>
                <a:gd name="adj" fmla="val 50000"/>
              </a:avLst>
            </a:prstGeom>
            <a:solidFill>
              <a:srgbClr val="B7C4D1"/>
            </a:solidFill>
            <a:ln>
              <a:noFill/>
            </a:ln>
          </p:spPr>
        </p:sp>
        <p:sp>
          <p:nvSpPr>
            <p:cNvPr id="15" name="TextBox 15"/>
            <p:cNvSpPr txBox="1"/>
            <p:nvPr/>
          </p:nvSpPr>
          <p:spPr>
            <a:xfrm>
              <a:off x="938212" y="3574256"/>
              <a:ext cx="2353508"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Tier 1 匹配处理效应（主设计）</a:t>
              </a:r>
            </a:p>
          </p:txBody>
        </p:sp>
        <p:sp>
          <p:nvSpPr>
            <p:cNvPr id="16" name="TextBox 16"/>
            <p:cNvSpPr txBox="1"/>
            <p:nvPr/>
          </p:nvSpPr>
          <p:spPr>
            <a:xfrm>
              <a:off x="933450" y="3857625"/>
              <a:ext cx="966978" cy="304800"/>
            </a:xfrm>
            <a:prstGeom prst="rect">
              <a:avLst/>
            </a:prstGeom>
            <a:noFill/>
            <a:ln>
              <a:noFill/>
            </a:ln>
          </p:spPr>
          <p:txBody>
            <a:bodyPr wrap="none" lIns="0" tIns="0" rIns="0" bIns="0" anchor="t" anchorCtr="0">
              <a:spAutoFit/>
            </a:bodyPr>
            <a:lstStyle/>
            <a:p>
              <a:pPr algn="l"/>
              <a:r>
                <a:rPr lang="zh-CN" sz="1500" b="1" dirty="0">
                  <a:solidFill>
                    <a:srgbClr val="0F2740"/>
                  </a:solidFill>
                  <a:latin typeface="Segoe UI"/>
                  <a:ea typeface="Microsoft YaHei"/>
                  <a:cs typeface="Segoe UI"/>
                </a:rPr>
                <a:t>全部为零</a:t>
              </a:r>
            </a:p>
          </p:txBody>
        </p:sp>
        <p:sp>
          <p:nvSpPr>
            <p:cNvPr id="17" name="TextBox 17"/>
            <p:cNvSpPr txBox="1"/>
            <p:nvPr/>
          </p:nvSpPr>
          <p:spPr>
            <a:xfrm>
              <a:off x="937260" y="4194810"/>
              <a:ext cx="3905479"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物种数趋势 −0.068（95% CI −0.312 – 0.176）</a:t>
              </a:r>
            </a:p>
          </p:txBody>
        </p:sp>
        <p:sp>
          <p:nvSpPr>
            <p:cNvPr id="18" name="TextBox 18"/>
            <p:cNvSpPr txBox="1"/>
            <p:nvPr/>
          </p:nvSpPr>
          <p:spPr>
            <a:xfrm>
              <a:off x="937260" y="4404360"/>
              <a:ext cx="3905479"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功能体积、Rao's Q 同样不显著；76 对（152 格）</a:t>
              </a:r>
            </a:p>
          </p:txBody>
        </p:sp>
        <p:sp>
          <p:nvSpPr>
            <p:cNvPr id="19" name="TextBox 19"/>
            <p:cNvSpPr txBox="1"/>
            <p:nvPr/>
          </p:nvSpPr>
          <p:spPr>
            <a:xfrm>
              <a:off x="937260" y="4613910"/>
              <a:ext cx="3213202"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12 个平衡项中 11 个达标（经度未平衡）</a:t>
              </a:r>
            </a:p>
          </p:txBody>
        </p:sp>
      </p:grpSp>
      <p:grpSp>
        <p:nvGrpSpPr>
          <p:cNvPr id="28" name="Group 28"/>
          <p:cNvGrpSpPr/>
          <p:nvPr/>
        </p:nvGrpSpPr>
        <p:grpSpPr>
          <a:xfrm>
            <a:off x="6248400" y="3352800"/>
            <a:ext cx="5257800" cy="1562100"/>
            <a:chOff x="6248400" y="3352800"/>
            <a:chExt cx="5257800" cy="1562100"/>
          </a:xfrm>
        </p:grpSpPr>
        <p:sp>
          <p:nvSpPr>
            <p:cNvPr id="21" name="Rectangle 21"/>
            <p:cNvSpPr/>
            <p:nvPr/>
          </p:nvSpPr>
          <p:spPr>
            <a:xfrm>
              <a:off x="6248400" y="3352800"/>
              <a:ext cx="5257800" cy="1562100"/>
            </a:xfrm>
            <a:prstGeom prst="roundRect">
              <a:avLst>
                <a:gd name="adj" fmla="val 6098"/>
              </a:avLst>
            </a:prstGeom>
            <a:solidFill>
              <a:srgbClr val="F4F7FA"/>
            </a:solidFill>
            <a:ln>
              <a:noFill/>
            </a:ln>
          </p:spPr>
        </p:sp>
        <p:sp>
          <p:nvSpPr>
            <p:cNvPr id="22" name="Rectangle 22"/>
            <p:cNvSpPr/>
            <p:nvPr/>
          </p:nvSpPr>
          <p:spPr>
            <a:xfrm>
              <a:off x="6248400" y="3352800"/>
              <a:ext cx="5257800" cy="38100"/>
            </a:xfrm>
            <a:prstGeom prst="roundRect">
              <a:avLst>
                <a:gd name="adj" fmla="val 50000"/>
              </a:avLst>
            </a:prstGeom>
            <a:solidFill>
              <a:srgbClr val="B7C4D1"/>
            </a:solidFill>
            <a:ln>
              <a:noFill/>
            </a:ln>
          </p:spPr>
        </p:sp>
        <p:sp>
          <p:nvSpPr>
            <p:cNvPr id="23" name="TextBox 23"/>
            <p:cNvSpPr txBox="1"/>
            <p:nvPr/>
          </p:nvSpPr>
          <p:spPr>
            <a:xfrm>
              <a:off x="6500812" y="3574256"/>
              <a:ext cx="1952601"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Tier 2 保护年限剂量-反应</a:t>
              </a:r>
            </a:p>
          </p:txBody>
        </p:sp>
        <p:sp>
          <p:nvSpPr>
            <p:cNvPr id="24" name="TextBox 24"/>
            <p:cNvSpPr txBox="1"/>
            <p:nvPr/>
          </p:nvSpPr>
          <p:spPr>
            <a:xfrm>
              <a:off x="6496050" y="3857625"/>
              <a:ext cx="1199198" cy="304800"/>
            </a:xfrm>
            <a:prstGeom prst="rect">
              <a:avLst/>
            </a:prstGeom>
            <a:noFill/>
            <a:ln>
              <a:noFill/>
            </a:ln>
          </p:spPr>
          <p:txBody>
            <a:bodyPr wrap="none" lIns="0" tIns="0" rIns="0" bIns="0" anchor="t" anchorCtr="0">
              <a:spAutoFit/>
            </a:bodyPr>
            <a:lstStyle/>
            <a:p>
              <a:pPr algn="l"/>
              <a:r>
                <a:rPr lang="zh-CN" sz="1500" b="1" dirty="0">
                  <a:solidFill>
                    <a:srgbClr val="0F2740"/>
                  </a:solidFill>
                  <a:latin typeface="Segoe UI"/>
                  <a:ea typeface="Microsoft YaHei"/>
                  <a:cs typeface="Segoe UI"/>
                </a:rPr>
                <a:t>无实质关系</a:t>
              </a:r>
            </a:p>
          </p:txBody>
        </p:sp>
        <p:sp>
          <p:nvSpPr>
            <p:cNvPr id="25" name="TextBox 25"/>
            <p:cNvSpPr txBox="1"/>
            <p:nvPr/>
          </p:nvSpPr>
          <p:spPr>
            <a:xfrm>
              <a:off x="6499860" y="4194810"/>
              <a:ext cx="3609289"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逐格斜率 vs 保护年限：r = +0.08（n = 489）</a:t>
              </a:r>
            </a:p>
          </p:txBody>
        </p:sp>
        <p:sp>
          <p:nvSpPr>
            <p:cNvPr id="26" name="TextBox 26"/>
            <p:cNvSpPr txBox="1"/>
            <p:nvPr/>
          </p:nvSpPr>
          <p:spPr>
            <a:xfrm>
              <a:off x="6499860" y="4404360"/>
              <a:ext cx="2678659"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随机截距模型曾给出 p = 0.0007，</a:t>
              </a:r>
            </a:p>
          </p:txBody>
        </p:sp>
        <p:sp>
          <p:nvSpPr>
            <p:cNvPr id="27" name="TextBox 27"/>
            <p:cNvSpPr txBox="1"/>
            <p:nvPr/>
          </p:nvSpPr>
          <p:spPr>
            <a:xfrm>
              <a:off x="6499860" y="4613910"/>
              <a:ext cx="3570732"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改随机斜率后 p = 0.068 —— 属伪重复假显著</a:t>
              </a:r>
            </a:p>
          </p:txBody>
        </p:sp>
      </p:grpSp>
      <p:sp>
        <p:nvSpPr>
          <p:cNvPr id="29" name="Rectangle 29"/>
          <p:cNvSpPr/>
          <p:nvPr/>
        </p:nvSpPr>
        <p:spPr>
          <a:xfrm>
            <a:off x="685800" y="5124450"/>
            <a:ext cx="10820400" cy="1143000"/>
          </a:xfrm>
          <a:prstGeom prst="roundRect">
            <a:avLst>
              <a:gd name="adj" fmla="val 8333"/>
            </a:avLst>
          </a:prstGeom>
          <a:solidFill>
            <a:srgbClr val="FDF4EC"/>
          </a:solidFill>
          <a:ln>
            <a:noFill/>
          </a:ln>
        </p:spPr>
      </p:sp>
      <p:sp>
        <p:nvSpPr>
          <p:cNvPr id="30" name="Rectangle 30"/>
          <p:cNvSpPr/>
          <p:nvPr/>
        </p:nvSpPr>
        <p:spPr>
          <a:xfrm>
            <a:off x="685800" y="5124450"/>
            <a:ext cx="47625" cy="1143000"/>
          </a:xfrm>
          <a:prstGeom prst="roundRect">
            <a:avLst>
              <a:gd name="adj" fmla="val 50000"/>
            </a:avLst>
          </a:prstGeom>
          <a:solidFill>
            <a:srgbClr val="D97A34"/>
          </a:solidFill>
          <a:ln>
            <a:noFill/>
          </a:ln>
        </p:spPr>
      </p:sp>
      <p:sp>
        <p:nvSpPr>
          <p:cNvPr id="31" name="TextBox 31"/>
          <p:cNvSpPr txBox="1"/>
          <p:nvPr/>
        </p:nvSpPr>
        <p:spPr>
          <a:xfrm>
            <a:off x="1048702" y="5313521"/>
            <a:ext cx="5330800" cy="289560"/>
          </a:xfrm>
          <a:prstGeom prst="rect">
            <a:avLst/>
          </a:prstGeom>
          <a:noFill/>
          <a:ln>
            <a:noFill/>
          </a:ln>
        </p:spPr>
        <p:txBody>
          <a:bodyPr wrap="none" lIns="0" tIns="0" rIns="0" bIns="0" anchor="t" anchorCtr="0">
            <a:spAutoFit/>
          </a:bodyPr>
          <a:lstStyle/>
          <a:p>
            <a:pPr algn="l"/>
            <a:r>
              <a:rPr lang="zh-CN" sz="1425" b="1" dirty="0">
                <a:solidFill>
                  <a:srgbClr val="B3611F"/>
                </a:solidFill>
                <a:latin typeface="Segoe UI"/>
                <a:ea typeface="Microsoft YaHei"/>
                <a:cs typeface="Segoe UI"/>
              </a:rPr>
              <a:t>一个必须说明的陷阱：交互项看似显著，实为选址偏倚</a:t>
            </a:r>
          </a:p>
        </p:txBody>
      </p:sp>
      <p:sp>
        <p:nvSpPr>
          <p:cNvPr id="32" name="TextBox 32"/>
          <p:cNvSpPr txBox="1"/>
          <p:nvPr/>
        </p:nvSpPr>
        <p:spPr>
          <a:xfrm>
            <a:off x="1050608" y="5634514"/>
            <a:ext cx="7594525"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高保护网格的基线物种数低 20%（64.2 vs 80.8），功能体积却最高（1.411 vs 1.379）——</a:t>
            </a:r>
          </a:p>
        </p:txBody>
      </p:sp>
      <p:sp>
        <p:nvSpPr>
          <p:cNvPr id="33" name="TextBox 33"/>
          <p:cNvSpPr txBox="1"/>
          <p:nvPr/>
        </p:nvSpPr>
        <p:spPr>
          <a:xfrm>
            <a:off x="1050608" y="5882164"/>
            <a:ext cx="8598218"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保护区建在偏远高海拔之处。未控基线的交互项因此显示更陡下降，而控制基线的匹配设计给出零效应。</a:t>
            </a:r>
          </a:p>
        </p:txBody>
      </p:sp>
      <p:sp>
        <p:nvSpPr>
          <p:cNvPr id="34" name="TextBox 34"/>
          <p:cNvSpPr txBox="1"/>
          <p:nvPr/>
        </p:nvSpPr>
        <p:spPr>
          <a:xfrm>
            <a:off x="672465" y="6497002"/>
            <a:ext cx="8576072"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来源：results_v3 匹配 ATT、速率 bootstrap、剂量-反应表 | 保护区边界覆盖 1028/3376，偏国家级大区，效应估计偏保守</a:t>
            </a:r>
          </a:p>
        </p:txBody>
      </p:sp>
      <p:sp>
        <p:nvSpPr>
          <p:cNvPr id="35" name="TextBox 35"/>
          <p:cNvSpPr txBox="1"/>
          <p:nvPr/>
        </p:nvSpPr>
        <p:spPr>
          <a:xfrm>
            <a:off x="11324177" y="64970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27</a:t>
            </a:r>
          </a:p>
        </p:txBody>
      </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9144552"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调和全球争论：局域物种数上升与群落退化可以并存</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419397" y="801052"/>
            <a:ext cx="110013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四、机制与意义</a:t>
            </a:r>
          </a:p>
        </p:txBody>
      </p:sp>
      <p:grpSp>
        <p:nvGrpSpPr>
          <p:cNvPr id="11" name="Group 11"/>
          <p:cNvGrpSpPr/>
          <p:nvPr/>
        </p:nvGrpSpPr>
        <p:grpSpPr>
          <a:xfrm>
            <a:off x="685800" y="1562100"/>
            <a:ext cx="5181600" cy="1428750"/>
            <a:chOff x="685800" y="1562100"/>
            <a:chExt cx="5181600" cy="1428750"/>
          </a:xfrm>
        </p:grpSpPr>
        <p:sp>
          <p:nvSpPr>
            <p:cNvPr id="6" name="Rectangle 6"/>
            <p:cNvSpPr/>
            <p:nvPr/>
          </p:nvSpPr>
          <p:spPr>
            <a:xfrm>
              <a:off x="685800" y="1562100"/>
              <a:ext cx="5181600" cy="1428750"/>
            </a:xfrm>
            <a:prstGeom prst="roundRect">
              <a:avLst>
                <a:gd name="adj" fmla="val 6667"/>
              </a:avLst>
            </a:prstGeom>
            <a:solidFill>
              <a:srgbClr val="F4F7FA"/>
            </a:solidFill>
            <a:ln>
              <a:noFill/>
            </a:ln>
          </p:spPr>
        </p:sp>
        <p:sp>
          <p:nvSpPr>
            <p:cNvPr id="7" name="TextBox 7"/>
            <p:cNvSpPr txBox="1"/>
            <p:nvPr/>
          </p:nvSpPr>
          <p:spPr>
            <a:xfrm>
              <a:off x="976312" y="1821656"/>
              <a:ext cx="830389"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既有解读 A</a:t>
              </a:r>
            </a:p>
          </p:txBody>
        </p:sp>
        <p:sp>
          <p:nvSpPr>
            <p:cNvPr id="8" name="TextBox 8"/>
            <p:cNvSpPr txBox="1"/>
            <p:nvPr/>
          </p:nvSpPr>
          <p:spPr>
            <a:xfrm>
              <a:off x="969645" y="2107882"/>
              <a:ext cx="1860653" cy="335280"/>
            </a:xfrm>
            <a:prstGeom prst="rect">
              <a:avLst/>
            </a:prstGeom>
            <a:noFill/>
            <a:ln>
              <a:noFill/>
            </a:ln>
          </p:spPr>
          <p:txBody>
            <a:bodyPr wrap="none" lIns="0" tIns="0" rIns="0" bIns="0" anchor="t" anchorCtr="0">
              <a:spAutoFit/>
            </a:bodyPr>
            <a:lstStyle/>
            <a:p>
              <a:pPr algn="l"/>
              <a:r>
                <a:rPr lang="zh-CN" sz="1650" b="1" dirty="0">
                  <a:solidFill>
                    <a:srgbClr val="0F2740"/>
                  </a:solidFill>
                  <a:latin typeface="Segoe UI"/>
                  <a:ea typeface="Microsoft YaHei"/>
                  <a:cs typeface="Segoe UI"/>
                </a:rPr>
                <a:t>"无系统性损失"</a:t>
              </a:r>
            </a:p>
          </p:txBody>
        </p:sp>
        <p:sp>
          <p:nvSpPr>
            <p:cNvPr id="9" name="TextBox 9"/>
            <p:cNvSpPr txBox="1"/>
            <p:nvPr/>
          </p:nvSpPr>
          <p:spPr>
            <a:xfrm>
              <a:off x="974408" y="2472214"/>
              <a:ext cx="2639377"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群落时间序列常显示组成在变，</a:t>
              </a:r>
            </a:p>
          </p:txBody>
        </p:sp>
        <p:sp>
          <p:nvSpPr>
            <p:cNvPr id="10" name="TextBox 10"/>
            <p:cNvSpPr txBox="1"/>
            <p:nvPr/>
          </p:nvSpPr>
          <p:spPr>
            <a:xfrm>
              <a:off x="974408" y="2719864"/>
              <a:ext cx="2453164"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但局域物种数并未系统性下降</a:t>
              </a:r>
            </a:p>
          </p:txBody>
        </p:sp>
      </p:grpSp>
      <p:grpSp>
        <p:nvGrpSpPr>
          <p:cNvPr id="17" name="Group 17"/>
          <p:cNvGrpSpPr/>
          <p:nvPr/>
        </p:nvGrpSpPr>
        <p:grpSpPr>
          <a:xfrm>
            <a:off x="6324600" y="1562100"/>
            <a:ext cx="5181600" cy="1428750"/>
            <a:chOff x="6324600" y="1562100"/>
            <a:chExt cx="5181600" cy="1428750"/>
          </a:xfrm>
        </p:grpSpPr>
        <p:sp>
          <p:nvSpPr>
            <p:cNvPr id="12" name="Rectangle 12"/>
            <p:cNvSpPr/>
            <p:nvPr/>
          </p:nvSpPr>
          <p:spPr>
            <a:xfrm>
              <a:off x="6324600" y="1562100"/>
              <a:ext cx="5181600" cy="1428750"/>
            </a:xfrm>
            <a:prstGeom prst="roundRect">
              <a:avLst>
                <a:gd name="adj" fmla="val 6667"/>
              </a:avLst>
            </a:prstGeom>
            <a:solidFill>
              <a:srgbClr val="F4F7FA"/>
            </a:solidFill>
            <a:ln>
              <a:noFill/>
            </a:ln>
          </p:spPr>
        </p:sp>
        <p:sp>
          <p:nvSpPr>
            <p:cNvPr id="13" name="TextBox 13"/>
            <p:cNvSpPr txBox="1"/>
            <p:nvPr/>
          </p:nvSpPr>
          <p:spPr>
            <a:xfrm>
              <a:off x="6615112" y="1821656"/>
              <a:ext cx="830389"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既有解读 B</a:t>
              </a:r>
            </a:p>
          </p:txBody>
        </p:sp>
        <p:sp>
          <p:nvSpPr>
            <p:cNvPr id="14" name="TextBox 14"/>
            <p:cNvSpPr txBox="1"/>
            <p:nvPr/>
          </p:nvSpPr>
          <p:spPr>
            <a:xfrm>
              <a:off x="6608445" y="2107882"/>
              <a:ext cx="2626977" cy="335280"/>
            </a:xfrm>
            <a:prstGeom prst="rect">
              <a:avLst/>
            </a:prstGeom>
            <a:noFill/>
            <a:ln>
              <a:noFill/>
            </a:ln>
          </p:spPr>
          <p:txBody>
            <a:bodyPr wrap="none" lIns="0" tIns="0" rIns="0" bIns="0" anchor="t" anchorCtr="0">
              <a:spAutoFit/>
            </a:bodyPr>
            <a:lstStyle/>
            <a:p>
              <a:pPr algn="l"/>
              <a:r>
                <a:rPr lang="zh-CN" sz="1650" b="1" dirty="0">
                  <a:solidFill>
                    <a:srgbClr val="0F2740"/>
                  </a:solidFill>
                  <a:latin typeface="Segoe UI"/>
                  <a:ea typeface="Microsoft YaHei"/>
                  <a:cs typeface="Segoe UI"/>
                </a:rPr>
                <a:t>"生物多样性持续退化"</a:t>
              </a:r>
            </a:p>
          </p:txBody>
        </p:sp>
        <p:sp>
          <p:nvSpPr>
            <p:cNvPr id="15" name="TextBox 15"/>
            <p:cNvSpPr txBox="1"/>
            <p:nvPr/>
          </p:nvSpPr>
          <p:spPr>
            <a:xfrm>
              <a:off x="6613208" y="2472214"/>
              <a:ext cx="1894522"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全球驱动因子在加剧，</a:t>
              </a:r>
            </a:p>
          </p:txBody>
        </p:sp>
        <p:sp>
          <p:nvSpPr>
            <p:cNvPr id="16" name="TextBox 16"/>
            <p:cNvSpPr txBox="1"/>
            <p:nvPr/>
          </p:nvSpPr>
          <p:spPr>
            <a:xfrm>
              <a:off x="6613208" y="2719864"/>
              <a:ext cx="2080736"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生物多样性丧失有目共睹</a:t>
              </a:r>
            </a:p>
          </p:txBody>
        </p:sp>
      </p:grpSp>
      <p:sp>
        <p:nvSpPr>
          <p:cNvPr id="18" name="Rectangle 18"/>
          <p:cNvSpPr/>
          <p:nvPr/>
        </p:nvSpPr>
        <p:spPr>
          <a:xfrm>
            <a:off x="685800" y="3295650"/>
            <a:ext cx="10820400" cy="1790700"/>
          </a:xfrm>
          <a:prstGeom prst="roundRect">
            <a:avLst>
              <a:gd name="adj" fmla="val 5319"/>
            </a:avLst>
          </a:prstGeom>
          <a:solidFill>
            <a:srgbClr val="12395E"/>
          </a:solidFill>
          <a:ln>
            <a:noFill/>
          </a:ln>
        </p:spPr>
      </p:sp>
      <p:sp>
        <p:nvSpPr>
          <p:cNvPr id="19" name="Rectangle 19"/>
          <p:cNvSpPr/>
          <p:nvPr/>
        </p:nvSpPr>
        <p:spPr>
          <a:xfrm>
            <a:off x="685800" y="3295650"/>
            <a:ext cx="47625" cy="1790700"/>
          </a:xfrm>
          <a:prstGeom prst="roundRect">
            <a:avLst>
              <a:gd name="adj" fmla="val 50000"/>
            </a:avLst>
          </a:prstGeom>
          <a:solidFill>
            <a:srgbClr val="D97A34"/>
          </a:solidFill>
          <a:ln>
            <a:noFill/>
          </a:ln>
        </p:spPr>
      </p:sp>
      <p:sp>
        <p:nvSpPr>
          <p:cNvPr id="20" name="TextBox 20"/>
          <p:cNvSpPr txBox="1"/>
          <p:nvPr/>
        </p:nvSpPr>
        <p:spPr>
          <a:xfrm>
            <a:off x="1052512" y="3555206"/>
            <a:ext cx="1835944" cy="228600"/>
          </a:xfrm>
          <a:prstGeom prst="rect">
            <a:avLst/>
          </a:prstGeom>
          <a:noFill/>
          <a:ln>
            <a:noFill/>
          </a:ln>
        </p:spPr>
        <p:txBody>
          <a:bodyPr wrap="none" lIns="0" tIns="0" rIns="0" bIns="0" anchor="t" anchorCtr="0">
            <a:spAutoFit/>
          </a:bodyPr>
          <a:lstStyle/>
          <a:p>
            <a:pPr algn="l"/>
            <a:r>
              <a:rPr lang="zh-CN" sz="1125" dirty="0">
                <a:solidFill>
                  <a:srgbClr val="9FC7EA"/>
                </a:solidFill>
                <a:latin typeface="Segoe UI"/>
                <a:ea typeface="Microsoft YaHei"/>
                <a:cs typeface="Segoe UI"/>
              </a:rPr>
              <a:t>本研究给出的第三种解读</a:t>
            </a:r>
          </a:p>
        </p:txBody>
      </p:sp>
      <p:sp>
        <p:nvSpPr>
          <p:cNvPr id="21" name="TextBox 21"/>
          <p:cNvSpPr txBox="1"/>
          <p:nvPr/>
        </p:nvSpPr>
        <p:spPr>
          <a:xfrm>
            <a:off x="1040130" y="3850005"/>
            <a:ext cx="6880593"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Microsoft YaHei"/>
                <a:cs typeface="Segoe UI"/>
              </a:rPr>
              <a:t>局域物种数可以上升，而功能空间并未随之扩张</a:t>
            </a:r>
          </a:p>
        </p:txBody>
      </p:sp>
      <p:sp>
        <p:nvSpPr>
          <p:cNvPr id="22" name="TextBox 22"/>
          <p:cNvSpPr txBox="1"/>
          <p:nvPr/>
        </p:nvSpPr>
        <p:spPr>
          <a:xfrm>
            <a:off x="1048702" y="4341971"/>
            <a:ext cx="7578509" cy="289560"/>
          </a:xfrm>
          <a:prstGeom prst="rect">
            <a:avLst/>
          </a:prstGeom>
          <a:noFill/>
          <a:ln>
            <a:noFill/>
          </a:ln>
        </p:spPr>
        <p:txBody>
          <a:bodyPr wrap="none" lIns="0" tIns="0" rIns="0" bIns="0" anchor="t" anchorCtr="0">
            <a:spAutoFit/>
          </a:bodyPr>
          <a:lstStyle/>
          <a:p>
            <a:pPr algn="l"/>
            <a:r>
              <a:rPr lang="zh-CN" sz="1425" dirty="0">
                <a:solidFill>
                  <a:srgbClr val="C6D8E8"/>
                </a:solidFill>
                <a:latin typeface="Segoe UI"/>
                <a:ea typeface="Microsoft YaHei"/>
                <a:cs typeface="Segoe UI"/>
              </a:rPr>
              <a:t>"无净损失"与"持续退化"不是相互矛盾的两派，而是同一个重组过程的不同侧面：</a:t>
            </a:r>
          </a:p>
        </p:txBody>
      </p:sp>
      <p:sp>
        <p:nvSpPr>
          <p:cNvPr id="23" name="TextBox 23"/>
          <p:cNvSpPr txBox="1"/>
          <p:nvPr/>
        </p:nvSpPr>
        <p:spPr>
          <a:xfrm>
            <a:off x="1048702" y="4646771"/>
            <a:ext cx="3990499" cy="289560"/>
          </a:xfrm>
          <a:prstGeom prst="rect">
            <a:avLst/>
          </a:prstGeom>
          <a:noFill/>
          <a:ln>
            <a:noFill/>
          </a:ln>
        </p:spPr>
        <p:txBody>
          <a:bodyPr wrap="none" lIns="0" tIns="0" rIns="0" bIns="0" anchor="t" anchorCtr="0">
            <a:spAutoFit/>
          </a:bodyPr>
          <a:lstStyle/>
          <a:p>
            <a:pPr algn="l"/>
            <a:r>
              <a:rPr lang="zh-CN" sz="1425" dirty="0">
                <a:solidFill>
                  <a:srgbClr val="C6D8E8"/>
                </a:solidFill>
                <a:latin typeface="Segoe UI"/>
                <a:ea typeface="Microsoft YaHei"/>
                <a:cs typeface="Segoe UI"/>
              </a:rPr>
              <a:t>它们只是被记录在了不同的多样性维度上。</a:t>
            </a:r>
          </a:p>
        </p:txBody>
      </p:sp>
      <p:sp>
        <p:nvSpPr>
          <p:cNvPr id="24" name="Rectangle 24"/>
          <p:cNvSpPr/>
          <p:nvPr/>
        </p:nvSpPr>
        <p:spPr>
          <a:xfrm>
            <a:off x="685800" y="5353050"/>
            <a:ext cx="10820400" cy="685800"/>
          </a:xfrm>
          <a:prstGeom prst="roundRect">
            <a:avLst>
              <a:gd name="adj" fmla="val 13889"/>
            </a:avLst>
          </a:prstGeom>
          <a:solidFill>
            <a:srgbClr val="FDF4EC"/>
          </a:solidFill>
          <a:ln>
            <a:noFill/>
          </a:ln>
        </p:spPr>
      </p:sp>
      <p:sp>
        <p:nvSpPr>
          <p:cNvPr id="25" name="TextBox 25"/>
          <p:cNvSpPr txBox="1"/>
          <p:nvPr/>
        </p:nvSpPr>
        <p:spPr>
          <a:xfrm>
            <a:off x="1048702" y="5523071"/>
            <a:ext cx="8219523" cy="289560"/>
          </a:xfrm>
          <a:prstGeom prst="rect">
            <a:avLst/>
          </a:prstGeom>
          <a:noFill/>
          <a:ln>
            <a:noFill/>
          </a:ln>
        </p:spPr>
        <p:txBody>
          <a:bodyPr wrap="none" lIns="0" tIns="0" rIns="0" bIns="0" anchor="t" anchorCtr="0">
            <a:spAutoFit/>
          </a:bodyPr>
          <a:lstStyle/>
          <a:p>
            <a:pPr algn="l"/>
            <a:r>
              <a:rPr lang="zh-CN" sz="1425" b="1" dirty="0">
                <a:solidFill>
                  <a:srgbClr val="B3611F"/>
                </a:solidFill>
                <a:latin typeface="Segoe UI"/>
                <a:ea typeface="Microsoft YaHei"/>
                <a:cs typeface="Segoe UI"/>
              </a:rPr>
              <a:t>概念贡献：</a:t>
            </a:r>
            <a:r>
              <a:rPr lang="zh-CN" sz="1425" dirty="0">
                <a:solidFill>
                  <a:srgbClr val="0F2740"/>
                </a:solidFill>
                <a:latin typeface="Segoe UI"/>
                <a:ea typeface="Microsoft YaHei"/>
                <a:cs typeface="Segoe UI"/>
              </a:rPr>
              <a:t xml:space="preserve"> </a:t>
            </a:r>
            <a:r>
              <a:rPr lang="zh-CN" sz="1425" dirty="0">
                <a:solidFill>
                  <a:srgbClr val="0F2740"/>
                </a:solidFill>
                <a:latin typeface="Segoe UI"/>
                <a:ea typeface="Microsoft YaHei"/>
                <a:cs typeface="Segoe UI"/>
              </a:rPr>
              <a:t>维度选择本身就是结论——只报物种数的监测，可能把功能停滞误读为恢复。</a:t>
            </a:r>
          </a:p>
        </p:txBody>
      </p:sp>
      <p:sp>
        <p:nvSpPr>
          <p:cNvPr id="26" name="TextBox 26"/>
          <p:cNvSpPr txBox="1"/>
          <p:nvPr/>
        </p:nvSpPr>
        <p:spPr>
          <a:xfrm>
            <a:off x="1051560" y="5795010"/>
            <a:ext cx="371094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这是本研究对全球变化生态学的主要理论意义。</a:t>
            </a:r>
          </a:p>
        </p:txBody>
      </p:sp>
      <p:sp>
        <p:nvSpPr>
          <p:cNvPr id="27" name="TextBox 27"/>
          <p:cNvSpPr txBox="1"/>
          <p:nvPr/>
        </p:nvSpPr>
        <p:spPr>
          <a:xfrm>
            <a:off x="672465" y="6287452"/>
            <a:ext cx="7855315"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Dornelas et al. 2014；Blowes et al. 2019；McGill et al. 2015；Jarzyna &amp; Jetz 2017, 2018；Díaz et al. 2019</a:t>
            </a:r>
          </a:p>
        </p:txBody>
      </p:sp>
      <p:sp>
        <p:nvSpPr>
          <p:cNvPr id="28" name="TextBox 28"/>
          <p:cNvSpPr txBox="1"/>
          <p:nvPr/>
        </p:nvSpPr>
        <p:spPr>
          <a:xfrm>
            <a:off x="11324177" y="655415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28</a:t>
            </a:r>
          </a:p>
        </p:txBody>
      </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8355006"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对生物多样性监测的启示：只校正物种数还不够</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419397" y="801052"/>
            <a:ext cx="110013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四、机制与意义</a:t>
            </a:r>
          </a:p>
        </p:txBody>
      </p:sp>
      <p:sp>
        <p:nvSpPr>
          <p:cNvPr id="6" name="Rectangle 6"/>
          <p:cNvSpPr/>
          <p:nvPr/>
        </p:nvSpPr>
        <p:spPr>
          <a:xfrm>
            <a:off x="685800" y="1447800"/>
            <a:ext cx="10820400" cy="838200"/>
          </a:xfrm>
          <a:prstGeom prst="roundRect">
            <a:avLst>
              <a:gd name="adj" fmla="val 11364"/>
            </a:avLst>
          </a:prstGeom>
          <a:solidFill>
            <a:srgbClr val="12395E"/>
          </a:solidFill>
          <a:ln>
            <a:noFill/>
          </a:ln>
        </p:spPr>
      </p:sp>
      <p:sp>
        <p:nvSpPr>
          <p:cNvPr id="7" name="TextBox 7"/>
          <p:cNvSpPr txBox="1"/>
          <p:nvPr/>
        </p:nvSpPr>
        <p:spPr>
          <a:xfrm>
            <a:off x="1043940" y="1634490"/>
            <a:ext cx="3668344"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Segoe UI"/>
                <a:ea typeface="Microsoft YaHei"/>
                <a:cs typeface="Segoe UI"/>
              </a:rPr>
              <a:t>检测校正是必要的，但不充分</a:t>
            </a:r>
          </a:p>
        </p:txBody>
      </p:sp>
      <p:sp>
        <p:nvSpPr>
          <p:cNvPr id="8" name="TextBox 8"/>
          <p:cNvSpPr txBox="1"/>
          <p:nvPr/>
        </p:nvSpPr>
        <p:spPr>
          <a:xfrm>
            <a:off x="1049655" y="1987868"/>
            <a:ext cx="7329488" cy="274320"/>
          </a:xfrm>
          <a:prstGeom prst="rect">
            <a:avLst/>
          </a:prstGeom>
          <a:noFill/>
          <a:ln>
            <a:noFill/>
          </a:ln>
        </p:spPr>
        <p:txBody>
          <a:bodyPr wrap="none" lIns="0" tIns="0" rIns="0" bIns="0" anchor="t" anchorCtr="0">
            <a:spAutoFit/>
          </a:bodyPr>
          <a:lstStyle/>
          <a:p>
            <a:pPr algn="l"/>
            <a:r>
              <a:rPr lang="zh-CN" sz="1350" dirty="0">
                <a:solidFill>
                  <a:srgbClr val="C6D8E8"/>
                </a:solidFill>
                <a:latin typeface="Segoe UI"/>
                <a:ea typeface="Microsoft YaHei"/>
                <a:cs typeface="Segoe UI"/>
              </a:rPr>
              <a:t>必须把校正一路传播到功能与组成维度，否则监测系统可能把功能停滞误读为恢复。</a:t>
            </a:r>
          </a:p>
        </p:txBody>
      </p:sp>
      <p:sp>
        <p:nvSpPr>
          <p:cNvPr id="9" name="TextBox 9"/>
          <p:cNvSpPr txBox="1"/>
          <p:nvPr/>
        </p:nvSpPr>
        <p:spPr>
          <a:xfrm>
            <a:off x="665798" y="2573179"/>
            <a:ext cx="2478310" cy="320040"/>
          </a:xfrm>
          <a:prstGeom prst="rect">
            <a:avLst/>
          </a:prstGeom>
          <a:noFill/>
          <a:ln>
            <a:noFill/>
          </a:ln>
        </p:spPr>
        <p:txBody>
          <a:bodyPr wrap="none" lIns="0" tIns="0" rIns="0" bIns="0" anchor="t" anchorCtr="0">
            <a:spAutoFit/>
          </a:bodyPr>
          <a:lstStyle/>
          <a:p>
            <a:pPr algn="l"/>
            <a:r>
              <a:rPr lang="zh-CN" sz="1575" b="1" dirty="0">
                <a:solidFill>
                  <a:srgbClr val="12395E"/>
                </a:solidFill>
                <a:latin typeface="Segoe UI"/>
                <a:ea typeface="Microsoft YaHei"/>
                <a:cs typeface="Segoe UI"/>
              </a:rPr>
              <a:t>三条可操作的保护启示</a:t>
            </a:r>
          </a:p>
        </p:txBody>
      </p:sp>
      <p:grpSp>
        <p:nvGrpSpPr>
          <p:cNvPr id="19" name="Group 19"/>
          <p:cNvGrpSpPr/>
          <p:nvPr/>
        </p:nvGrpSpPr>
        <p:grpSpPr>
          <a:xfrm>
            <a:off x="685800" y="2971800"/>
            <a:ext cx="3429000" cy="2190750"/>
            <a:chOff x="685800" y="2971800"/>
            <a:chExt cx="3429000" cy="2190750"/>
          </a:xfrm>
        </p:grpSpPr>
        <p:sp>
          <p:nvSpPr>
            <p:cNvPr id="10" name="Rectangle 10"/>
            <p:cNvSpPr/>
            <p:nvPr/>
          </p:nvSpPr>
          <p:spPr>
            <a:xfrm>
              <a:off x="685800" y="2971800"/>
              <a:ext cx="3429000" cy="2190750"/>
            </a:xfrm>
            <a:prstGeom prst="roundRect">
              <a:avLst>
                <a:gd name="adj" fmla="val 4348"/>
              </a:avLst>
            </a:prstGeom>
            <a:solidFill>
              <a:srgbClr val="F4F7FA"/>
            </a:solidFill>
            <a:ln>
              <a:noFill/>
            </a:ln>
          </p:spPr>
        </p:sp>
        <p:sp>
          <p:nvSpPr>
            <p:cNvPr id="11" name="Rectangle 11"/>
            <p:cNvSpPr/>
            <p:nvPr/>
          </p:nvSpPr>
          <p:spPr>
            <a:xfrm>
              <a:off x="685800" y="2971800"/>
              <a:ext cx="3429000" cy="38100"/>
            </a:xfrm>
            <a:prstGeom prst="roundRect">
              <a:avLst>
                <a:gd name="adj" fmla="val 50000"/>
              </a:avLst>
            </a:prstGeom>
            <a:solidFill>
              <a:srgbClr val="2E75B6"/>
            </a:solidFill>
            <a:ln>
              <a:noFill/>
            </a:ln>
          </p:spPr>
        </p:sp>
        <p:sp>
          <p:nvSpPr>
            <p:cNvPr id="12" name="Ellipse 12"/>
            <p:cNvSpPr/>
            <p:nvPr/>
          </p:nvSpPr>
          <p:spPr>
            <a:xfrm>
              <a:off x="895350" y="3219450"/>
              <a:ext cx="342900" cy="342900"/>
            </a:xfrm>
            <a:prstGeom prst="ellipse">
              <a:avLst/>
            </a:prstGeom>
            <a:solidFill>
              <a:srgbClr val="2E75B6"/>
            </a:solidFill>
            <a:ln>
              <a:noFill/>
            </a:ln>
          </p:spPr>
        </p:sp>
        <p:sp>
          <p:nvSpPr>
            <p:cNvPr id="13" name="TextBox 13"/>
            <p:cNvSpPr txBox="1"/>
            <p:nvPr/>
          </p:nvSpPr>
          <p:spPr>
            <a:xfrm>
              <a:off x="996326" y="3319939"/>
              <a:ext cx="140948"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a:ea typeface="Microsoft YaHei"/>
                  <a:cs typeface="Segoe UI"/>
                </a:rPr>
                <a:t>1</a:t>
              </a:r>
            </a:p>
          </p:txBody>
        </p:sp>
        <p:sp>
          <p:nvSpPr>
            <p:cNvPr id="14" name="TextBox 14"/>
            <p:cNvSpPr txBox="1"/>
            <p:nvPr/>
          </p:nvSpPr>
          <p:spPr>
            <a:xfrm>
              <a:off x="1353502" y="3303746"/>
              <a:ext cx="1359846"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优先地面验证</a:t>
              </a:r>
            </a:p>
          </p:txBody>
        </p:sp>
        <p:sp>
          <p:nvSpPr>
            <p:cNvPr id="15" name="TextBox 15"/>
            <p:cNvSpPr txBox="1"/>
            <p:nvPr/>
          </p:nvSpPr>
          <p:spPr>
            <a:xfrm>
              <a:off x="936308" y="3767614"/>
              <a:ext cx="2266950"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朴素趋势与校正趋势不一致</a:t>
              </a:r>
            </a:p>
          </p:txBody>
        </p:sp>
        <p:sp>
          <p:nvSpPr>
            <p:cNvPr id="16" name="TextBox 16"/>
            <p:cNvSpPr txBox="1"/>
            <p:nvPr/>
          </p:nvSpPr>
          <p:spPr>
            <a:xfrm>
              <a:off x="936308" y="4015264"/>
              <a:ext cx="2689655"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的格点（约 2–3%），是未校正</a:t>
              </a:r>
            </a:p>
          </p:txBody>
        </p:sp>
        <p:sp>
          <p:nvSpPr>
            <p:cNvPr id="17" name="TextBox 17"/>
            <p:cNvSpPr txBox="1"/>
            <p:nvPr/>
          </p:nvSpPr>
          <p:spPr>
            <a:xfrm>
              <a:off x="936308" y="4262914"/>
              <a:ext cx="2453164"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数据最会误导的地方，应作为</a:t>
              </a:r>
            </a:p>
          </p:txBody>
        </p:sp>
        <p:sp>
          <p:nvSpPr>
            <p:cNvPr id="18" name="TextBox 18"/>
            <p:cNvSpPr txBox="1"/>
            <p:nvPr/>
          </p:nvSpPr>
          <p:spPr>
            <a:xfrm>
              <a:off x="936308" y="4510564"/>
              <a:ext cx="1894522"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野外核查的首选目标。</a:t>
              </a:r>
            </a:p>
          </p:txBody>
        </p:sp>
      </p:grpSp>
      <p:grpSp>
        <p:nvGrpSpPr>
          <p:cNvPr id="29" name="Group 29"/>
          <p:cNvGrpSpPr/>
          <p:nvPr/>
        </p:nvGrpSpPr>
        <p:grpSpPr>
          <a:xfrm>
            <a:off x="4381500" y="2971800"/>
            <a:ext cx="3429000" cy="2190750"/>
            <a:chOff x="4381500" y="2971800"/>
            <a:chExt cx="3429000" cy="2190750"/>
          </a:xfrm>
        </p:grpSpPr>
        <p:sp>
          <p:nvSpPr>
            <p:cNvPr id="20" name="Rectangle 20"/>
            <p:cNvSpPr/>
            <p:nvPr/>
          </p:nvSpPr>
          <p:spPr>
            <a:xfrm>
              <a:off x="4381500" y="2971800"/>
              <a:ext cx="3429000" cy="2190750"/>
            </a:xfrm>
            <a:prstGeom prst="roundRect">
              <a:avLst>
                <a:gd name="adj" fmla="val 4348"/>
              </a:avLst>
            </a:prstGeom>
            <a:solidFill>
              <a:srgbClr val="F4F7FA"/>
            </a:solidFill>
            <a:ln>
              <a:noFill/>
            </a:ln>
          </p:spPr>
        </p:sp>
        <p:sp>
          <p:nvSpPr>
            <p:cNvPr id="21" name="Rectangle 21"/>
            <p:cNvSpPr/>
            <p:nvPr/>
          </p:nvSpPr>
          <p:spPr>
            <a:xfrm>
              <a:off x="4381500" y="2971800"/>
              <a:ext cx="3429000" cy="38100"/>
            </a:xfrm>
            <a:prstGeom prst="roundRect">
              <a:avLst>
                <a:gd name="adj" fmla="val 50000"/>
              </a:avLst>
            </a:prstGeom>
            <a:solidFill>
              <a:srgbClr val="D97A34"/>
            </a:solidFill>
            <a:ln>
              <a:noFill/>
            </a:ln>
          </p:spPr>
        </p:sp>
        <p:sp>
          <p:nvSpPr>
            <p:cNvPr id="22" name="Ellipse 22"/>
            <p:cNvSpPr/>
            <p:nvPr/>
          </p:nvSpPr>
          <p:spPr>
            <a:xfrm>
              <a:off x="4591050" y="3219450"/>
              <a:ext cx="342900" cy="342900"/>
            </a:xfrm>
            <a:prstGeom prst="ellipse">
              <a:avLst/>
            </a:prstGeom>
            <a:solidFill>
              <a:srgbClr val="D97A34"/>
            </a:solidFill>
            <a:ln>
              <a:noFill/>
            </a:ln>
          </p:spPr>
        </p:sp>
        <p:sp>
          <p:nvSpPr>
            <p:cNvPr id="23" name="TextBox 23"/>
            <p:cNvSpPr txBox="1"/>
            <p:nvPr/>
          </p:nvSpPr>
          <p:spPr>
            <a:xfrm>
              <a:off x="4692026" y="3319939"/>
              <a:ext cx="140948"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a:ea typeface="Microsoft YaHei"/>
                  <a:cs typeface="Segoe UI"/>
                </a:rPr>
                <a:t>2</a:t>
              </a:r>
            </a:p>
          </p:txBody>
        </p:sp>
        <p:sp>
          <p:nvSpPr>
            <p:cNvPr id="24" name="TextBox 24"/>
            <p:cNvSpPr txBox="1"/>
            <p:nvPr/>
          </p:nvSpPr>
          <p:spPr>
            <a:xfrm>
              <a:off x="5049202" y="3303746"/>
              <a:ext cx="1801063"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关注被掩盖的输家</a:t>
              </a:r>
            </a:p>
          </p:txBody>
        </p:sp>
        <p:sp>
          <p:nvSpPr>
            <p:cNvPr id="25" name="TextBox 25"/>
            <p:cNvSpPr txBox="1"/>
            <p:nvPr/>
          </p:nvSpPr>
          <p:spPr>
            <a:xfrm>
              <a:off x="4632008" y="3767614"/>
              <a:ext cx="2453164"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狭域山地森林特化种可能正被</a:t>
              </a:r>
            </a:p>
          </p:txBody>
        </p:sp>
        <p:sp>
          <p:nvSpPr>
            <p:cNvPr id="26" name="TextBox 26"/>
            <p:cNvSpPr txBox="1"/>
            <p:nvPr/>
          </p:nvSpPr>
          <p:spPr>
            <a:xfrm>
              <a:off x="4632008" y="4015264"/>
              <a:ext cx="2453164"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总量增益所掩盖。基于物种数</a:t>
              </a:r>
            </a:p>
          </p:txBody>
        </p:sp>
        <p:sp>
          <p:nvSpPr>
            <p:cNvPr id="27" name="TextBox 27"/>
            <p:cNvSpPr txBox="1"/>
            <p:nvPr/>
          </p:nvSpPr>
          <p:spPr>
            <a:xfrm>
              <a:off x="4632008" y="4262914"/>
              <a:ext cx="2103082"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的报告会让它们"消失"在</a:t>
              </a:r>
            </a:p>
          </p:txBody>
        </p:sp>
        <p:sp>
          <p:nvSpPr>
            <p:cNvPr id="28" name="TextBox 28"/>
            <p:cNvSpPr txBox="1"/>
            <p:nvPr/>
          </p:nvSpPr>
          <p:spPr>
            <a:xfrm>
              <a:off x="4632008" y="4510564"/>
              <a:ext cx="963454"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好消息里。</a:t>
              </a:r>
            </a:p>
          </p:txBody>
        </p:sp>
      </p:grpSp>
      <p:grpSp>
        <p:nvGrpSpPr>
          <p:cNvPr id="39" name="Group 39"/>
          <p:cNvGrpSpPr/>
          <p:nvPr/>
        </p:nvGrpSpPr>
        <p:grpSpPr>
          <a:xfrm>
            <a:off x="8077200" y="2971800"/>
            <a:ext cx="3429000" cy="2190750"/>
            <a:chOff x="8077200" y="2971800"/>
            <a:chExt cx="3429000" cy="2190750"/>
          </a:xfrm>
        </p:grpSpPr>
        <p:sp>
          <p:nvSpPr>
            <p:cNvPr id="30" name="Rectangle 30"/>
            <p:cNvSpPr/>
            <p:nvPr/>
          </p:nvSpPr>
          <p:spPr>
            <a:xfrm>
              <a:off x="8077200" y="2971800"/>
              <a:ext cx="3429000" cy="2190750"/>
            </a:xfrm>
            <a:prstGeom prst="roundRect">
              <a:avLst>
                <a:gd name="adj" fmla="val 4348"/>
              </a:avLst>
            </a:prstGeom>
            <a:solidFill>
              <a:srgbClr val="F4F7FA"/>
            </a:solidFill>
            <a:ln>
              <a:noFill/>
            </a:ln>
          </p:spPr>
        </p:sp>
        <p:sp>
          <p:nvSpPr>
            <p:cNvPr id="31" name="Rectangle 31"/>
            <p:cNvSpPr/>
            <p:nvPr/>
          </p:nvSpPr>
          <p:spPr>
            <a:xfrm>
              <a:off x="8077200" y="2971800"/>
              <a:ext cx="3429000" cy="38100"/>
            </a:xfrm>
            <a:prstGeom prst="roundRect">
              <a:avLst>
                <a:gd name="adj" fmla="val 50000"/>
              </a:avLst>
            </a:prstGeom>
            <a:solidFill>
              <a:srgbClr val="2E75B6"/>
            </a:solidFill>
            <a:ln>
              <a:noFill/>
            </a:ln>
          </p:spPr>
        </p:sp>
        <p:sp>
          <p:nvSpPr>
            <p:cNvPr id="32" name="Ellipse 32"/>
            <p:cNvSpPr/>
            <p:nvPr/>
          </p:nvSpPr>
          <p:spPr>
            <a:xfrm>
              <a:off x="8286750" y="3219450"/>
              <a:ext cx="342900" cy="342900"/>
            </a:xfrm>
            <a:prstGeom prst="ellipse">
              <a:avLst/>
            </a:prstGeom>
            <a:solidFill>
              <a:srgbClr val="2E75B6"/>
            </a:solidFill>
            <a:ln>
              <a:noFill/>
            </a:ln>
          </p:spPr>
        </p:sp>
        <p:sp>
          <p:nvSpPr>
            <p:cNvPr id="33" name="TextBox 33"/>
            <p:cNvSpPr txBox="1"/>
            <p:nvPr/>
          </p:nvSpPr>
          <p:spPr>
            <a:xfrm>
              <a:off x="8387726" y="3319939"/>
              <a:ext cx="140948"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a:ea typeface="Microsoft YaHei"/>
                  <a:cs typeface="Segoe UI"/>
                </a:rPr>
                <a:t>3</a:t>
              </a:r>
            </a:p>
          </p:txBody>
        </p:sp>
        <p:sp>
          <p:nvSpPr>
            <p:cNvPr id="34" name="TextBox 34"/>
            <p:cNvSpPr txBox="1"/>
            <p:nvPr/>
          </p:nvSpPr>
          <p:spPr>
            <a:xfrm>
              <a:off x="8744902" y="3303746"/>
              <a:ext cx="1359846" cy="289560"/>
            </a:xfrm>
            <a:prstGeom prst="rect">
              <a:avLst/>
            </a:prstGeom>
            <a:noFill/>
            <a:ln>
              <a:noFill/>
            </a:ln>
          </p:spPr>
          <p:txBody>
            <a:bodyPr wrap="none" lIns="0" tIns="0" rIns="0" bIns="0" anchor="t" anchorCtr="0">
              <a:spAutoFit/>
            </a:bodyPr>
            <a:lstStyle/>
            <a:p>
              <a:pPr algn="l"/>
              <a:r>
                <a:rPr lang="zh-CN" sz="1425" b="1" dirty="0">
                  <a:solidFill>
                    <a:srgbClr val="0F2740"/>
                  </a:solidFill>
                  <a:latin typeface="Segoe UI"/>
                  <a:ea typeface="Microsoft YaHei"/>
                  <a:cs typeface="Segoe UI"/>
                </a:rPr>
                <a:t>补充多维目标</a:t>
              </a:r>
            </a:p>
          </p:txBody>
        </p:sp>
        <p:sp>
          <p:nvSpPr>
            <p:cNvPr id="35" name="TextBox 35"/>
            <p:cNvSpPr txBox="1"/>
            <p:nvPr/>
          </p:nvSpPr>
          <p:spPr>
            <a:xfrm>
              <a:off x="8327708" y="3767614"/>
              <a:ext cx="2266950"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以物种数或占域面积表述的</a:t>
              </a:r>
            </a:p>
          </p:txBody>
        </p:sp>
        <p:sp>
          <p:nvSpPr>
            <p:cNvPr id="36" name="TextBox 36"/>
            <p:cNvSpPr txBox="1"/>
            <p:nvPr/>
          </p:nvSpPr>
          <p:spPr>
            <a:xfrm>
              <a:off x="8327708" y="4015264"/>
              <a:ext cx="2266950"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生物多样性目标，需要补充</a:t>
              </a:r>
            </a:p>
          </p:txBody>
        </p:sp>
        <p:sp>
          <p:nvSpPr>
            <p:cNvPr id="37" name="TextBox 37"/>
            <p:cNvSpPr txBox="1"/>
            <p:nvPr/>
          </p:nvSpPr>
          <p:spPr>
            <a:xfrm>
              <a:off x="8327708" y="4262914"/>
              <a:ext cx="2475509"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功能与组成指标，否则"达标"</a:t>
              </a:r>
            </a:p>
          </p:txBody>
        </p:sp>
        <p:sp>
          <p:nvSpPr>
            <p:cNvPr id="38" name="TextBox 38"/>
            <p:cNvSpPr txBox="1"/>
            <p:nvPr/>
          </p:nvSpPr>
          <p:spPr>
            <a:xfrm>
              <a:off x="8327708" y="4510564"/>
              <a:ext cx="2080736" cy="259080"/>
            </a:xfrm>
            <a:prstGeom prst="rect">
              <a:avLst/>
            </a:prstGeom>
            <a:noFill/>
            <a:ln>
              <a:noFill/>
            </a:ln>
          </p:spPr>
          <p:txBody>
            <a:bodyPr wrap="none" lIns="0" tIns="0" rIns="0" bIns="0" anchor="t" anchorCtr="0">
              <a:spAutoFit/>
            </a:bodyPr>
            <a:lstStyle/>
            <a:p>
              <a:pPr algn="l"/>
              <a:r>
                <a:rPr lang="zh-CN" sz="1275" dirty="0">
                  <a:solidFill>
                    <a:srgbClr val="5A6B7C"/>
                  </a:solidFill>
                  <a:latin typeface="Segoe UI"/>
                  <a:ea typeface="Microsoft YaHei"/>
                  <a:cs typeface="Segoe UI"/>
                </a:rPr>
                <a:t>可能掩盖持续的同质化。</a:t>
              </a:r>
            </a:p>
          </p:txBody>
        </p:sp>
      </p:grpSp>
      <p:sp>
        <p:nvSpPr>
          <p:cNvPr id="40" name="Rectangle 40"/>
          <p:cNvSpPr/>
          <p:nvPr/>
        </p:nvSpPr>
        <p:spPr>
          <a:xfrm>
            <a:off x="685800" y="5391150"/>
            <a:ext cx="10820400" cy="647700"/>
          </a:xfrm>
          <a:prstGeom prst="roundRect">
            <a:avLst>
              <a:gd name="adj" fmla="val 14706"/>
            </a:avLst>
          </a:prstGeom>
          <a:solidFill>
            <a:srgbClr val="FDF4EC"/>
          </a:solidFill>
          <a:ln>
            <a:noFill/>
          </a:ln>
        </p:spPr>
      </p:sp>
      <p:sp>
        <p:nvSpPr>
          <p:cNvPr id="41" name="TextBox 41"/>
          <p:cNvSpPr txBox="1"/>
          <p:nvPr/>
        </p:nvSpPr>
        <p:spPr>
          <a:xfrm>
            <a:off x="1049655" y="5569268"/>
            <a:ext cx="8796414" cy="274320"/>
          </a:xfrm>
          <a:prstGeom prst="rect">
            <a:avLst/>
          </a:prstGeom>
          <a:noFill/>
          <a:ln>
            <a:noFill/>
          </a:ln>
        </p:spPr>
        <p:txBody>
          <a:bodyPr wrap="none" lIns="0" tIns="0" rIns="0" bIns="0" anchor="t" anchorCtr="0">
            <a:spAutoFit/>
          </a:bodyPr>
          <a:lstStyle/>
          <a:p>
            <a:pPr algn="l"/>
            <a:r>
              <a:rPr lang="zh-CN" sz="1350" b="1" dirty="0">
                <a:solidFill>
                  <a:srgbClr val="B3611F"/>
                </a:solidFill>
                <a:latin typeface="Segoe UI"/>
                <a:ea typeface="Microsoft YaHei"/>
                <a:cs typeface="Segoe UI"/>
              </a:rPr>
              <a:t>普适性：</a:t>
            </a:r>
            <a:r>
              <a:rPr lang="zh-CN" sz="1350" dirty="0">
                <a:solidFill>
                  <a:srgbClr val="0F2740"/>
                </a:solidFill>
                <a:latin typeface="Segoe UI"/>
                <a:ea typeface="Microsoft YaHei"/>
                <a:cs typeface="Segoe UI"/>
              </a:rPr>
              <a:t xml:space="preserve"> </a:t>
            </a:r>
            <a:r>
              <a:rPr lang="zh-CN" sz="1350" dirty="0">
                <a:solidFill>
                  <a:srgbClr val="0F2740"/>
                </a:solidFill>
                <a:latin typeface="Segoe UI"/>
                <a:ea typeface="Microsoft YaHei"/>
                <a:cs typeface="Segoe UI"/>
              </a:rPr>
              <a:t>全球生物多样性评估与 Essential Biodiversity Variables 建立在同一类志愿者数据之上，</a:t>
            </a:r>
          </a:p>
        </p:txBody>
      </p:sp>
      <p:sp>
        <p:nvSpPr>
          <p:cNvPr id="42" name="TextBox 42"/>
          <p:cNvSpPr txBox="1"/>
          <p:nvPr/>
        </p:nvSpPr>
        <p:spPr>
          <a:xfrm>
            <a:off x="1049655" y="5797868"/>
            <a:ext cx="5886221" cy="274320"/>
          </a:xfrm>
          <a:prstGeom prst="rect">
            <a:avLst/>
          </a:prstGeom>
          <a:noFill/>
          <a:ln>
            <a:noFill/>
          </a:ln>
        </p:spPr>
        <p:txBody>
          <a:bodyPr wrap="none" lIns="0" tIns="0" rIns="0" bIns="0" anchor="t" anchorCtr="0">
            <a:spAutoFit/>
          </a:bodyPr>
          <a:lstStyle/>
          <a:p>
            <a:pPr algn="l"/>
            <a:r>
              <a:rPr lang="zh-CN" sz="1350" b="1" dirty="0">
                <a:solidFill>
                  <a:srgbClr val="B3611F"/>
                </a:solidFill>
                <a:latin typeface="Segoe UI"/>
                <a:ea typeface="Microsoft YaHei"/>
                <a:cs typeface="Segoe UI"/>
              </a:rPr>
              <a:t>同样的误读风险存在于任何依赖公民科学的国家尺度监测体系。</a:t>
            </a:r>
          </a:p>
        </p:txBody>
      </p:sp>
      <p:sp>
        <p:nvSpPr>
          <p:cNvPr id="43" name="TextBox 43"/>
          <p:cNvSpPr txBox="1"/>
          <p:nvPr/>
        </p:nvSpPr>
        <p:spPr>
          <a:xfrm>
            <a:off x="672465" y="6287452"/>
            <a:ext cx="4884877" cy="213360"/>
          </a:xfrm>
          <a:prstGeom prst="rect">
            <a:avLst/>
          </a:prstGeom>
          <a:noFill/>
          <a:ln>
            <a:noFill/>
          </a:ln>
        </p:spPr>
        <p:txBody>
          <a:bodyPr wrap="none" lIns="0" tIns="0" rIns="0" bIns="0" anchor="t" anchorCtr="0">
            <a:spAutoFit/>
          </a:bodyPr>
          <a:lstStyle/>
          <a:p>
            <a:pPr algn="l"/>
            <a:r>
              <a:rPr lang="zh-CN" sz="1050" dirty="0">
                <a:solidFill>
                  <a:srgbClr val="5A6B7C"/>
                </a:solidFill>
                <a:latin typeface="Segoe UI"/>
                <a:ea typeface="Microsoft YaHei"/>
                <a:cs typeface="Segoe UI"/>
              </a:rPr>
              <a:t>Isaac et al. 2014；Jetz et al. 2019（EBV）；Outhwaite et al. 2020</a:t>
            </a:r>
          </a:p>
        </p:txBody>
      </p:sp>
      <p:sp>
        <p:nvSpPr>
          <p:cNvPr id="44" name="TextBox 44"/>
          <p:cNvSpPr txBox="1"/>
          <p:nvPr/>
        </p:nvSpPr>
        <p:spPr>
          <a:xfrm>
            <a:off x="11324177" y="655415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29</a:t>
            </a:r>
          </a:p>
        </p:txBody>
      </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5591594"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局限，以及正在推进的三项工作</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419397" y="801052"/>
            <a:ext cx="110013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四、机制与意义</a:t>
            </a:r>
          </a:p>
        </p:txBody>
      </p:sp>
      <p:sp>
        <p:nvSpPr>
          <p:cNvPr id="6" name="TextBox 6"/>
          <p:cNvSpPr txBox="1"/>
          <p:nvPr/>
        </p:nvSpPr>
        <p:spPr>
          <a:xfrm>
            <a:off x="665798" y="1392079"/>
            <a:ext cx="1015327" cy="320040"/>
          </a:xfrm>
          <a:prstGeom prst="rect">
            <a:avLst/>
          </a:prstGeom>
          <a:noFill/>
          <a:ln>
            <a:noFill/>
          </a:ln>
        </p:spPr>
        <p:txBody>
          <a:bodyPr wrap="none" lIns="0" tIns="0" rIns="0" bIns="0" anchor="t" anchorCtr="0">
            <a:spAutoFit/>
          </a:bodyPr>
          <a:lstStyle/>
          <a:p>
            <a:pPr algn="l"/>
            <a:r>
              <a:rPr lang="zh-CN" sz="1575" b="1" dirty="0">
                <a:solidFill>
                  <a:srgbClr val="12395E"/>
                </a:solidFill>
                <a:latin typeface="Segoe UI"/>
                <a:ea typeface="Microsoft YaHei"/>
                <a:cs typeface="Segoe UI"/>
              </a:rPr>
              <a:t>研究局限</a:t>
            </a:r>
          </a:p>
        </p:txBody>
      </p:sp>
      <p:grpSp>
        <p:nvGrpSpPr>
          <p:cNvPr id="11" name="Group 11"/>
          <p:cNvGrpSpPr/>
          <p:nvPr/>
        </p:nvGrpSpPr>
        <p:grpSpPr>
          <a:xfrm>
            <a:off x="685800" y="1752600"/>
            <a:ext cx="5181600" cy="819150"/>
            <a:chOff x="685800" y="1752600"/>
            <a:chExt cx="5181600" cy="819150"/>
          </a:xfrm>
        </p:grpSpPr>
        <p:sp>
          <p:nvSpPr>
            <p:cNvPr id="7" name="Rectangle 7"/>
            <p:cNvSpPr/>
            <p:nvPr/>
          </p:nvSpPr>
          <p:spPr>
            <a:xfrm>
              <a:off x="685800" y="1752600"/>
              <a:ext cx="5181600" cy="819150"/>
            </a:xfrm>
            <a:prstGeom prst="roundRect">
              <a:avLst>
                <a:gd name="adj" fmla="val 9302"/>
              </a:avLst>
            </a:prstGeom>
            <a:solidFill>
              <a:srgbClr val="F4F7FA"/>
            </a:solidFill>
            <a:ln>
              <a:noFill/>
            </a:ln>
          </p:spPr>
        </p:sp>
        <p:sp>
          <p:nvSpPr>
            <p:cNvPr id="8" name="Rectangle 8"/>
            <p:cNvSpPr/>
            <p:nvPr/>
          </p:nvSpPr>
          <p:spPr>
            <a:xfrm>
              <a:off x="685800" y="1752600"/>
              <a:ext cx="38100" cy="819150"/>
            </a:xfrm>
            <a:prstGeom prst="roundRect">
              <a:avLst>
                <a:gd name="adj" fmla="val 50000"/>
              </a:avLst>
            </a:prstGeom>
            <a:solidFill>
              <a:srgbClr val="B7C4D1"/>
            </a:solidFill>
            <a:ln>
              <a:noFill/>
            </a:ln>
          </p:spPr>
        </p:sp>
        <p:sp>
          <p:nvSpPr>
            <p:cNvPr id="9" name="TextBox 9"/>
            <p:cNvSpPr txBox="1"/>
            <p:nvPr/>
          </p:nvSpPr>
          <p:spPr>
            <a:xfrm>
              <a:off x="935355" y="1911668"/>
              <a:ext cx="2744988" cy="274320"/>
            </a:xfrm>
            <a:prstGeom prst="rect">
              <a:avLst/>
            </a:prstGeom>
            <a:noFill/>
            <a:ln>
              <a:noFill/>
            </a:ln>
          </p:spPr>
          <p:txBody>
            <a:bodyPr wrap="none" lIns="0" tIns="0" rIns="0" bIns="0" anchor="t" anchorCtr="0">
              <a:spAutoFit/>
            </a:bodyPr>
            <a:lstStyle/>
            <a:p>
              <a:pPr algn="l"/>
              <a:r>
                <a:rPr lang="zh-CN" sz="1350" b="1" dirty="0">
                  <a:solidFill>
                    <a:srgbClr val="0F2740"/>
                  </a:solidFill>
                  <a:latin typeface="Segoe UI"/>
                  <a:ea typeface="Microsoft YaHei"/>
                  <a:cs typeface="Segoe UI"/>
                </a:rPr>
                <a:t>500 种模型是时间、非空间的</a:t>
              </a:r>
            </a:p>
          </p:txBody>
        </p:sp>
        <p:sp>
          <p:nvSpPr>
            <p:cNvPr id="10" name="TextBox 10"/>
            <p:cNvSpPr txBox="1"/>
            <p:nvPr/>
          </p:nvSpPr>
          <p:spPr>
            <a:xfrm>
              <a:off x="937260" y="2213610"/>
              <a:ext cx="3586505"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仅支撑普适性，全部空间推断依赖 200 种模型</a:t>
              </a:r>
            </a:p>
          </p:txBody>
        </p:sp>
      </p:grpSp>
      <p:grpSp>
        <p:nvGrpSpPr>
          <p:cNvPr id="16" name="Group 16"/>
          <p:cNvGrpSpPr/>
          <p:nvPr/>
        </p:nvGrpSpPr>
        <p:grpSpPr>
          <a:xfrm>
            <a:off x="685800" y="2705100"/>
            <a:ext cx="5181600" cy="819150"/>
            <a:chOff x="685800" y="2705100"/>
            <a:chExt cx="5181600" cy="819150"/>
          </a:xfrm>
        </p:grpSpPr>
        <p:sp>
          <p:nvSpPr>
            <p:cNvPr id="12" name="Rectangle 12"/>
            <p:cNvSpPr/>
            <p:nvPr/>
          </p:nvSpPr>
          <p:spPr>
            <a:xfrm>
              <a:off x="685800" y="2705100"/>
              <a:ext cx="5181600" cy="819150"/>
            </a:xfrm>
            <a:prstGeom prst="roundRect">
              <a:avLst>
                <a:gd name="adj" fmla="val 9302"/>
              </a:avLst>
            </a:prstGeom>
            <a:solidFill>
              <a:srgbClr val="F4F7FA"/>
            </a:solidFill>
            <a:ln>
              <a:noFill/>
            </a:ln>
          </p:spPr>
        </p:sp>
        <p:sp>
          <p:nvSpPr>
            <p:cNvPr id="13" name="Rectangle 13"/>
            <p:cNvSpPr/>
            <p:nvPr/>
          </p:nvSpPr>
          <p:spPr>
            <a:xfrm>
              <a:off x="685800" y="2705100"/>
              <a:ext cx="38100" cy="819150"/>
            </a:xfrm>
            <a:prstGeom prst="roundRect">
              <a:avLst>
                <a:gd name="adj" fmla="val 50000"/>
              </a:avLst>
            </a:prstGeom>
            <a:solidFill>
              <a:srgbClr val="B7C4D1"/>
            </a:solidFill>
            <a:ln>
              <a:noFill/>
            </a:ln>
          </p:spPr>
        </p:sp>
        <p:sp>
          <p:nvSpPr>
            <p:cNvPr id="14" name="TextBox 14"/>
            <p:cNvSpPr txBox="1"/>
            <p:nvPr/>
          </p:nvSpPr>
          <p:spPr>
            <a:xfrm>
              <a:off x="935355" y="2864168"/>
              <a:ext cx="3169253" cy="274320"/>
            </a:xfrm>
            <a:prstGeom prst="rect">
              <a:avLst/>
            </a:prstGeom>
            <a:noFill/>
            <a:ln>
              <a:noFill/>
            </a:ln>
          </p:spPr>
          <p:txBody>
            <a:bodyPr wrap="none" lIns="0" tIns="0" rIns="0" bIns="0" anchor="t" anchorCtr="0">
              <a:spAutoFit/>
            </a:bodyPr>
            <a:lstStyle/>
            <a:p>
              <a:pPr algn="l"/>
              <a:r>
                <a:rPr lang="zh-CN" sz="1350" b="1" dirty="0">
                  <a:solidFill>
                    <a:srgbClr val="0F2740"/>
                  </a:solidFill>
                  <a:latin typeface="Segoe UI"/>
                  <a:ea typeface="Microsoft YaHei"/>
                  <a:cs typeface="Segoe UI"/>
                </a:rPr>
                <a:t>主模型需重拟合，当前为最佳估计</a:t>
              </a:r>
            </a:p>
          </p:txBody>
        </p:sp>
        <p:sp>
          <p:nvSpPr>
            <p:cNvPr id="15" name="TextBox 15"/>
            <p:cNvSpPr txBox="1"/>
            <p:nvPr/>
          </p:nvSpPr>
          <p:spPr>
            <a:xfrm>
              <a:off x="937260" y="3166110"/>
              <a:ext cx="3318358"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坐标与先验、协变量填补、收敛（13/38）</a:t>
              </a:r>
            </a:p>
          </p:txBody>
        </p:sp>
      </p:grpSp>
      <p:grpSp>
        <p:nvGrpSpPr>
          <p:cNvPr id="21" name="Group 21"/>
          <p:cNvGrpSpPr/>
          <p:nvPr/>
        </p:nvGrpSpPr>
        <p:grpSpPr>
          <a:xfrm>
            <a:off x="685800" y="3657600"/>
            <a:ext cx="5181600" cy="819150"/>
            <a:chOff x="685800" y="3657600"/>
            <a:chExt cx="5181600" cy="819150"/>
          </a:xfrm>
        </p:grpSpPr>
        <p:sp>
          <p:nvSpPr>
            <p:cNvPr id="17" name="Rectangle 17"/>
            <p:cNvSpPr/>
            <p:nvPr/>
          </p:nvSpPr>
          <p:spPr>
            <a:xfrm>
              <a:off x="685800" y="3657600"/>
              <a:ext cx="5181600" cy="819150"/>
            </a:xfrm>
            <a:prstGeom prst="roundRect">
              <a:avLst>
                <a:gd name="adj" fmla="val 9302"/>
              </a:avLst>
            </a:prstGeom>
            <a:solidFill>
              <a:srgbClr val="F4F7FA"/>
            </a:solidFill>
            <a:ln>
              <a:noFill/>
            </a:ln>
          </p:spPr>
        </p:sp>
        <p:sp>
          <p:nvSpPr>
            <p:cNvPr id="18" name="Rectangle 18"/>
            <p:cNvSpPr/>
            <p:nvPr/>
          </p:nvSpPr>
          <p:spPr>
            <a:xfrm>
              <a:off x="685800" y="3657600"/>
              <a:ext cx="38100" cy="819150"/>
            </a:xfrm>
            <a:prstGeom prst="roundRect">
              <a:avLst>
                <a:gd name="adj" fmla="val 50000"/>
              </a:avLst>
            </a:prstGeom>
            <a:solidFill>
              <a:srgbClr val="B7C4D1"/>
            </a:solidFill>
            <a:ln>
              <a:noFill/>
            </a:ln>
          </p:spPr>
        </p:sp>
        <p:sp>
          <p:nvSpPr>
            <p:cNvPr id="19" name="TextBox 19"/>
            <p:cNvSpPr txBox="1"/>
            <p:nvPr/>
          </p:nvSpPr>
          <p:spPr>
            <a:xfrm>
              <a:off x="935355" y="3816668"/>
              <a:ext cx="2306093" cy="274320"/>
            </a:xfrm>
            <a:prstGeom prst="rect">
              <a:avLst/>
            </a:prstGeom>
            <a:noFill/>
            <a:ln>
              <a:noFill/>
            </a:ln>
          </p:spPr>
          <p:txBody>
            <a:bodyPr wrap="none" lIns="0" tIns="0" rIns="0" bIns="0" anchor="t" anchorCtr="0">
              <a:spAutoFit/>
            </a:bodyPr>
            <a:lstStyle/>
            <a:p>
              <a:pPr algn="l"/>
              <a:r>
                <a:rPr lang="zh-CN" sz="1350" b="1" dirty="0">
                  <a:solidFill>
                    <a:srgbClr val="0F2740"/>
                  </a:solidFill>
                  <a:latin typeface="Segoe UI"/>
                  <a:ea typeface="Microsoft YaHei"/>
                  <a:cs typeface="Segoe UI"/>
                </a:rPr>
                <a:t>5 年期是松弛闭合的近似</a:t>
              </a:r>
            </a:p>
          </p:txBody>
        </p:sp>
        <p:sp>
          <p:nvSpPr>
            <p:cNvPr id="20" name="TextBox 20"/>
            <p:cNvSpPr txBox="1"/>
            <p:nvPr/>
          </p:nvSpPr>
          <p:spPr>
            <a:xfrm>
              <a:off x="937260" y="4118610"/>
              <a:ext cx="1935556"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3 年窗口重拟合尚待完成</a:t>
              </a:r>
            </a:p>
          </p:txBody>
        </p:sp>
      </p:grpSp>
      <p:grpSp>
        <p:nvGrpSpPr>
          <p:cNvPr id="26" name="Group 26"/>
          <p:cNvGrpSpPr/>
          <p:nvPr/>
        </p:nvGrpSpPr>
        <p:grpSpPr>
          <a:xfrm>
            <a:off x="685800" y="4610100"/>
            <a:ext cx="5181600" cy="819150"/>
            <a:chOff x="685800" y="4610100"/>
            <a:chExt cx="5181600" cy="819150"/>
          </a:xfrm>
        </p:grpSpPr>
        <p:sp>
          <p:nvSpPr>
            <p:cNvPr id="22" name="Rectangle 22"/>
            <p:cNvSpPr/>
            <p:nvPr/>
          </p:nvSpPr>
          <p:spPr>
            <a:xfrm>
              <a:off x="685800" y="4610100"/>
              <a:ext cx="5181600" cy="819150"/>
            </a:xfrm>
            <a:prstGeom prst="roundRect">
              <a:avLst>
                <a:gd name="adj" fmla="val 9302"/>
              </a:avLst>
            </a:prstGeom>
            <a:solidFill>
              <a:srgbClr val="F4F7FA"/>
            </a:solidFill>
            <a:ln>
              <a:noFill/>
            </a:ln>
          </p:spPr>
        </p:sp>
        <p:sp>
          <p:nvSpPr>
            <p:cNvPr id="23" name="Rectangle 23"/>
            <p:cNvSpPr/>
            <p:nvPr/>
          </p:nvSpPr>
          <p:spPr>
            <a:xfrm>
              <a:off x="685800" y="4610100"/>
              <a:ext cx="38100" cy="819150"/>
            </a:xfrm>
            <a:prstGeom prst="roundRect">
              <a:avLst>
                <a:gd name="adj" fmla="val 50000"/>
              </a:avLst>
            </a:prstGeom>
            <a:solidFill>
              <a:srgbClr val="B7C4D1"/>
            </a:solidFill>
            <a:ln>
              <a:noFill/>
            </a:ln>
          </p:spPr>
        </p:sp>
        <p:sp>
          <p:nvSpPr>
            <p:cNvPr id="24" name="TextBox 24"/>
            <p:cNvSpPr txBox="1"/>
            <p:nvPr/>
          </p:nvSpPr>
          <p:spPr>
            <a:xfrm>
              <a:off x="935355" y="4769168"/>
              <a:ext cx="3169253" cy="274320"/>
            </a:xfrm>
            <a:prstGeom prst="rect">
              <a:avLst/>
            </a:prstGeom>
            <a:noFill/>
            <a:ln>
              <a:noFill/>
            </a:ln>
          </p:spPr>
          <p:txBody>
            <a:bodyPr wrap="none" lIns="0" tIns="0" rIns="0" bIns="0" anchor="t" anchorCtr="0">
              <a:spAutoFit/>
            </a:bodyPr>
            <a:lstStyle/>
            <a:p>
              <a:pPr algn="l"/>
              <a:r>
                <a:rPr lang="zh-CN" sz="1350" b="1" dirty="0">
                  <a:solidFill>
                    <a:srgbClr val="0F2740"/>
                  </a:solidFill>
                  <a:latin typeface="Segoe UI"/>
                  <a:ea typeface="Microsoft YaHei"/>
                  <a:cs typeface="Segoe UI"/>
                </a:rPr>
                <a:t>环境关联是观测性、空间结构化的</a:t>
              </a:r>
            </a:p>
          </p:txBody>
        </p:sp>
        <p:sp>
          <p:nvSpPr>
            <p:cNvPr id="25" name="TextBox 25"/>
            <p:cNvSpPr txBox="1"/>
            <p:nvPr/>
          </p:nvSpPr>
          <p:spPr>
            <a:xfrm>
              <a:off x="937260" y="5071110"/>
              <a:ext cx="143256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全文避免因果表述</a:t>
              </a:r>
            </a:p>
          </p:txBody>
        </p:sp>
      </p:grpSp>
      <p:sp>
        <p:nvSpPr>
          <p:cNvPr id="27" name="Rectangle 27"/>
          <p:cNvSpPr/>
          <p:nvPr/>
        </p:nvSpPr>
        <p:spPr>
          <a:xfrm>
            <a:off x="6248400" y="1752600"/>
            <a:ext cx="5257800" cy="3676650"/>
          </a:xfrm>
          <a:prstGeom prst="roundRect">
            <a:avLst>
              <a:gd name="adj" fmla="val 2591"/>
            </a:avLst>
          </a:prstGeom>
          <a:solidFill>
            <a:srgbClr val="12395E"/>
          </a:solidFill>
          <a:ln>
            <a:noFill/>
          </a:ln>
        </p:spPr>
      </p:sp>
      <p:sp>
        <p:nvSpPr>
          <p:cNvPr id="28" name="TextBox 28"/>
          <p:cNvSpPr txBox="1"/>
          <p:nvPr/>
        </p:nvSpPr>
        <p:spPr>
          <a:xfrm>
            <a:off x="6533198" y="1963579"/>
            <a:ext cx="1015327"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Segoe UI"/>
                <a:ea typeface="Microsoft YaHei"/>
                <a:cs typeface="Segoe UI"/>
              </a:rPr>
              <a:t>补算进度</a:t>
            </a:r>
          </a:p>
        </p:txBody>
      </p:sp>
      <p:sp>
        <p:nvSpPr>
          <p:cNvPr id="29" name="Rectangle 29"/>
          <p:cNvSpPr/>
          <p:nvPr/>
        </p:nvSpPr>
        <p:spPr>
          <a:xfrm>
            <a:off x="6553200" y="2247900"/>
            <a:ext cx="381000" cy="28575"/>
          </a:xfrm>
          <a:prstGeom prst="roundRect">
            <a:avLst>
              <a:gd name="adj" fmla="val 50000"/>
            </a:avLst>
          </a:prstGeom>
          <a:solidFill>
            <a:srgbClr val="D97A34"/>
          </a:solidFill>
          <a:ln>
            <a:noFill/>
          </a:ln>
        </p:spPr>
      </p:sp>
      <p:grpSp>
        <p:nvGrpSpPr>
          <p:cNvPr id="35" name="Group 35"/>
          <p:cNvGrpSpPr/>
          <p:nvPr/>
        </p:nvGrpSpPr>
        <p:grpSpPr>
          <a:xfrm>
            <a:off x="6553200" y="2540318"/>
            <a:ext cx="3098521" cy="736282"/>
            <a:chOff x="6553200" y="2540318"/>
            <a:chExt cx="3098521" cy="736282"/>
          </a:xfrm>
        </p:grpSpPr>
        <p:sp>
          <p:nvSpPr>
            <p:cNvPr id="30" name="Ellipse 30"/>
            <p:cNvSpPr/>
            <p:nvPr/>
          </p:nvSpPr>
          <p:spPr>
            <a:xfrm>
              <a:off x="6553200" y="2590800"/>
              <a:ext cx="266700" cy="266700"/>
            </a:xfrm>
            <a:prstGeom prst="ellipse">
              <a:avLst/>
            </a:prstGeom>
            <a:solidFill>
              <a:srgbClr val="2E75B6"/>
            </a:solidFill>
            <a:ln>
              <a:noFill/>
            </a:ln>
          </p:spPr>
        </p:sp>
        <p:sp>
          <p:nvSpPr>
            <p:cNvPr id="31" name="TextBox 31"/>
            <p:cNvSpPr txBox="1"/>
            <p:nvPr/>
          </p:nvSpPr>
          <p:spPr>
            <a:xfrm>
              <a:off x="6628513" y="2667952"/>
              <a:ext cx="11607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1</a:t>
              </a:r>
            </a:p>
          </p:txBody>
        </p:sp>
        <p:sp>
          <p:nvSpPr>
            <p:cNvPr id="32" name="TextBox 32"/>
            <p:cNvSpPr txBox="1"/>
            <p:nvPr/>
          </p:nvSpPr>
          <p:spPr>
            <a:xfrm>
              <a:off x="6936105" y="2540318"/>
              <a:ext cx="2659299"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Segoe UI"/>
                  <a:ea typeface="Microsoft YaHei"/>
                  <a:cs typeface="Segoe UI"/>
                </a:rPr>
                <a:t>空间 beta：内外对比已完成</a:t>
              </a:r>
            </a:p>
          </p:txBody>
        </p:sp>
        <p:sp>
          <p:nvSpPr>
            <p:cNvPr id="33" name="TextBox 33"/>
            <p:cNvSpPr txBox="1"/>
            <p:nvPr/>
          </p:nvSpPr>
          <p:spPr>
            <a:xfrm>
              <a:off x="6938010" y="2804160"/>
              <a:ext cx="2713711"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保护地内趋同更慢（CI 不含 0）；</a:t>
              </a:r>
            </a:p>
          </p:txBody>
        </p:sp>
        <p:sp>
          <p:nvSpPr>
            <p:cNvPr id="34" name="TextBox 34"/>
            <p:cNvSpPr txBox="1"/>
            <p:nvPr/>
          </p:nvSpPr>
          <p:spPr>
            <a:xfrm>
              <a:off x="6938010" y="3032760"/>
              <a:ext cx="1783080"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全国趋势检验仍待补算</a:t>
              </a:r>
            </a:p>
          </p:txBody>
        </p:sp>
      </p:grpSp>
      <p:grpSp>
        <p:nvGrpSpPr>
          <p:cNvPr id="41" name="Group 41"/>
          <p:cNvGrpSpPr/>
          <p:nvPr/>
        </p:nvGrpSpPr>
        <p:grpSpPr>
          <a:xfrm>
            <a:off x="6553200" y="3511868"/>
            <a:ext cx="2909240" cy="736282"/>
            <a:chOff x="6553200" y="3511868"/>
            <a:chExt cx="2909240" cy="736282"/>
          </a:xfrm>
        </p:grpSpPr>
        <p:sp>
          <p:nvSpPr>
            <p:cNvPr id="36" name="Ellipse 36"/>
            <p:cNvSpPr/>
            <p:nvPr/>
          </p:nvSpPr>
          <p:spPr>
            <a:xfrm>
              <a:off x="6553200" y="3562350"/>
              <a:ext cx="266700" cy="266700"/>
            </a:xfrm>
            <a:prstGeom prst="ellipse">
              <a:avLst/>
            </a:prstGeom>
            <a:solidFill>
              <a:srgbClr val="D97A34"/>
            </a:solidFill>
            <a:ln>
              <a:noFill/>
            </a:ln>
          </p:spPr>
        </p:sp>
        <p:sp>
          <p:nvSpPr>
            <p:cNvPr id="37" name="TextBox 37"/>
            <p:cNvSpPr txBox="1"/>
            <p:nvPr/>
          </p:nvSpPr>
          <p:spPr>
            <a:xfrm>
              <a:off x="6628513" y="3639502"/>
              <a:ext cx="11607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2</a:t>
              </a:r>
            </a:p>
          </p:txBody>
        </p:sp>
        <p:sp>
          <p:nvSpPr>
            <p:cNvPr id="38" name="TextBox 38"/>
            <p:cNvSpPr txBox="1"/>
            <p:nvPr/>
          </p:nvSpPr>
          <p:spPr>
            <a:xfrm>
              <a:off x="6936105" y="3511868"/>
              <a:ext cx="233326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Segoe UI"/>
                  <a:ea typeface="Microsoft YaHei"/>
                  <a:cs typeface="Segoe UI"/>
                </a:rPr>
                <a:t>功能指标斜率的后验概率</a:t>
              </a:r>
            </a:p>
          </p:txBody>
        </p:sp>
        <p:sp>
          <p:nvSpPr>
            <p:cNvPr id="39" name="TextBox 39"/>
            <p:cNvSpPr txBox="1"/>
            <p:nvPr/>
          </p:nvSpPr>
          <p:spPr>
            <a:xfrm>
              <a:off x="6938010" y="3775710"/>
              <a:ext cx="2524430"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P(斜率&lt;0) 将决定"功能同质化"</a:t>
              </a:r>
            </a:p>
          </p:txBody>
        </p:sp>
        <p:sp>
          <p:nvSpPr>
            <p:cNvPr id="40" name="TextBox 40"/>
            <p:cNvSpPr txBox="1"/>
            <p:nvPr/>
          </p:nvSpPr>
          <p:spPr>
            <a:xfrm>
              <a:off x="6938010" y="4004310"/>
              <a:ext cx="1607820"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这一主张的措辞强弱</a:t>
              </a:r>
            </a:p>
          </p:txBody>
        </p:sp>
      </p:grpSp>
      <p:grpSp>
        <p:nvGrpSpPr>
          <p:cNvPr id="47" name="Group 47"/>
          <p:cNvGrpSpPr/>
          <p:nvPr/>
        </p:nvGrpSpPr>
        <p:grpSpPr>
          <a:xfrm>
            <a:off x="6553200" y="4483418"/>
            <a:ext cx="2925166" cy="736282"/>
            <a:chOff x="6553200" y="4483418"/>
            <a:chExt cx="2925166" cy="736282"/>
          </a:xfrm>
        </p:grpSpPr>
        <p:sp>
          <p:nvSpPr>
            <p:cNvPr id="42" name="Ellipse 42"/>
            <p:cNvSpPr/>
            <p:nvPr/>
          </p:nvSpPr>
          <p:spPr>
            <a:xfrm>
              <a:off x="6553200" y="4533900"/>
              <a:ext cx="266700" cy="266700"/>
            </a:xfrm>
            <a:prstGeom prst="ellipse">
              <a:avLst/>
            </a:prstGeom>
            <a:solidFill>
              <a:srgbClr val="2E75B6"/>
            </a:solidFill>
            <a:ln>
              <a:noFill/>
            </a:ln>
          </p:spPr>
        </p:sp>
        <p:sp>
          <p:nvSpPr>
            <p:cNvPr id="43" name="TextBox 43"/>
            <p:cNvSpPr txBox="1"/>
            <p:nvPr/>
          </p:nvSpPr>
          <p:spPr>
            <a:xfrm>
              <a:off x="6628513" y="4611052"/>
              <a:ext cx="11607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3</a:t>
              </a:r>
            </a:p>
          </p:txBody>
        </p:sp>
        <p:sp>
          <p:nvSpPr>
            <p:cNvPr id="44" name="TextBox 44"/>
            <p:cNvSpPr txBox="1"/>
            <p:nvPr/>
          </p:nvSpPr>
          <p:spPr>
            <a:xfrm>
              <a:off x="6936105" y="4483418"/>
              <a:ext cx="2542261"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Segoe UI"/>
                  <a:ea typeface="Microsoft YaHei"/>
                  <a:cs typeface="Segoe UI"/>
                </a:rPr>
                <a:t>平台来源检测项的模型比较</a:t>
              </a:r>
            </a:p>
          </p:txBody>
        </p:sp>
        <p:sp>
          <p:nvSpPr>
            <p:cNvPr id="45" name="TextBox 45"/>
            <p:cNvSpPr txBox="1"/>
            <p:nvPr/>
          </p:nvSpPr>
          <p:spPr>
            <a:xfrm>
              <a:off x="6938010" y="4747260"/>
              <a:ext cx="2338654"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以 ΔWAIC 检验加入来源项后</a:t>
              </a:r>
            </a:p>
          </p:txBody>
        </p:sp>
        <p:sp>
          <p:nvSpPr>
            <p:cNvPr id="46" name="TextBox 46"/>
            <p:cNvSpPr txBox="1"/>
            <p:nvPr/>
          </p:nvSpPr>
          <p:spPr>
            <a:xfrm>
              <a:off x="6938010" y="4975860"/>
              <a:ext cx="1432560" cy="243840"/>
            </a:xfrm>
            <a:prstGeom prst="rect">
              <a:avLst/>
            </a:prstGeom>
            <a:noFill/>
            <a:ln>
              <a:noFill/>
            </a:ln>
          </p:spPr>
          <p:txBody>
            <a:bodyPr wrap="none" lIns="0" tIns="0" rIns="0" bIns="0" anchor="t" anchorCtr="0">
              <a:spAutoFit/>
            </a:bodyPr>
            <a:lstStyle/>
            <a:p>
              <a:pPr algn="l"/>
              <a:r>
                <a:rPr lang="zh-CN" sz="1200" dirty="0">
                  <a:solidFill>
                    <a:srgbClr val="C6D8E8"/>
                  </a:solidFill>
                  <a:latin typeface="Segoe UI"/>
                  <a:ea typeface="Microsoft YaHei"/>
                  <a:cs typeface="Segoe UI"/>
                </a:rPr>
                <a:t>群落轨迹是否改变</a:t>
              </a:r>
            </a:p>
          </p:txBody>
        </p:sp>
      </p:grpSp>
      <p:sp>
        <p:nvSpPr>
          <p:cNvPr id="48" name="TextBox 48"/>
          <p:cNvSpPr txBox="1"/>
          <p:nvPr/>
        </p:nvSpPr>
        <p:spPr>
          <a:xfrm>
            <a:off x="668655" y="5702618"/>
            <a:ext cx="6972614" cy="274320"/>
          </a:xfrm>
          <a:prstGeom prst="rect">
            <a:avLst/>
          </a:prstGeom>
          <a:noFill/>
          <a:ln>
            <a:noFill/>
          </a:ln>
        </p:spPr>
        <p:txBody>
          <a:bodyPr wrap="none" lIns="0" tIns="0" rIns="0" bIns="0" anchor="t" anchorCtr="0">
            <a:spAutoFit/>
          </a:bodyPr>
          <a:lstStyle/>
          <a:p>
            <a:pPr algn="l"/>
            <a:r>
              <a:rPr lang="zh-CN" sz="1350" b="1" dirty="0">
                <a:solidFill>
                  <a:srgbClr val="B3611F"/>
                </a:solidFill>
                <a:latin typeface="Segoe UI"/>
                <a:ea typeface="Microsoft YaHei"/>
                <a:cs typeface="Segoe UI"/>
              </a:rPr>
              <a:t>诚实交代：</a:t>
            </a:r>
            <a:r>
              <a:rPr lang="zh-CN" sz="1350" dirty="0">
                <a:solidFill>
                  <a:srgbClr val="0F2740"/>
                </a:solidFill>
                <a:latin typeface="Segoe UI"/>
                <a:ea typeface="Microsoft YaHei"/>
                <a:cs typeface="Segoe UI"/>
              </a:rPr>
              <a:t xml:space="preserve"> </a:t>
            </a:r>
            <a:r>
              <a:rPr lang="zh-CN" sz="1350" dirty="0">
                <a:solidFill>
                  <a:srgbClr val="0F2740"/>
                </a:solidFill>
                <a:latin typeface="Segoe UI"/>
                <a:ea typeface="Microsoft YaHei"/>
                <a:cs typeface="Segoe UI"/>
              </a:rPr>
              <a:t>今天呈现的功能指标下降方向一致（5 期单调），但其统计强弱表述</a:t>
            </a:r>
          </a:p>
        </p:txBody>
      </p:sp>
      <p:sp>
        <p:nvSpPr>
          <p:cNvPr id="49" name="TextBox 49"/>
          <p:cNvSpPr txBox="1"/>
          <p:nvPr/>
        </p:nvSpPr>
        <p:spPr>
          <a:xfrm>
            <a:off x="668655" y="5969318"/>
            <a:ext cx="5259229" cy="274320"/>
          </a:xfrm>
          <a:prstGeom prst="rect">
            <a:avLst/>
          </a:prstGeom>
          <a:noFill/>
          <a:ln>
            <a:noFill/>
          </a:ln>
        </p:spPr>
        <p:txBody>
          <a:bodyPr wrap="none" lIns="0" tIns="0" rIns="0" bIns="0" anchor="t" anchorCtr="0">
            <a:spAutoFit/>
          </a:bodyPr>
          <a:lstStyle/>
          <a:p>
            <a:pPr algn="l"/>
            <a:r>
              <a:rPr lang="zh-CN" sz="1350" b="1" dirty="0">
                <a:solidFill>
                  <a:srgbClr val="B3611F"/>
                </a:solidFill>
                <a:latin typeface="Segoe UI"/>
                <a:ea typeface="Microsoft YaHei"/>
                <a:cs typeface="Segoe UI"/>
              </a:rPr>
              <a:t>将严格按上述后验可信区间的结果来定档，不提前拔高。</a:t>
            </a:r>
          </a:p>
        </p:txBody>
      </p:sp>
      <p:sp>
        <p:nvSpPr>
          <p:cNvPr id="50" name="TextBox 50"/>
          <p:cNvSpPr txBox="1"/>
          <p:nvPr/>
        </p:nvSpPr>
        <p:spPr>
          <a:xfrm>
            <a:off x="11324177" y="655415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30</a:t>
            </a:r>
          </a:p>
        </p:txBody>
      </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53415" y="639128"/>
            <a:ext cx="5196821" cy="518160"/>
          </a:xfrm>
          <a:prstGeom prst="rect">
            <a:avLst/>
          </a:prstGeom>
          <a:noFill/>
          <a:ln>
            <a:noFill/>
          </a:ln>
        </p:spPr>
        <p:txBody>
          <a:bodyPr wrap="none" lIns="0" tIns="0" rIns="0" bIns="0" anchor="t" anchorCtr="0">
            <a:spAutoFit/>
          </a:bodyPr>
          <a:lstStyle/>
          <a:p>
            <a:pPr algn="l"/>
            <a:r>
              <a:rPr lang="zh-CN" sz="2550" b="1" dirty="0">
                <a:solidFill>
                  <a:srgbClr val="0F2740"/>
                </a:solidFill>
                <a:latin typeface="Segoe UI"/>
                <a:ea typeface="Microsoft YaHei"/>
                <a:cs typeface="Segoe UI"/>
              </a:rPr>
              <a:t>数据、代码与文献全部可追溯</a:t>
            </a:r>
          </a:p>
        </p:txBody>
      </p:sp>
      <p:sp>
        <p:nvSpPr>
          <p:cNvPr id="4" name="Rectangle 4"/>
          <p:cNvSpPr/>
          <p:nvPr/>
        </p:nvSpPr>
        <p:spPr>
          <a:xfrm>
            <a:off x="685800" y="1143000"/>
            <a:ext cx="10820400" cy="9525"/>
          </a:xfrm>
          <a:prstGeom prst="rect">
            <a:avLst/>
          </a:prstGeom>
          <a:solidFill>
            <a:srgbClr val="D8DFE7"/>
          </a:solidFill>
          <a:ln>
            <a:noFill/>
          </a:ln>
        </p:spPr>
      </p:sp>
      <p:sp>
        <p:nvSpPr>
          <p:cNvPr id="5" name="TextBox 5"/>
          <p:cNvSpPr txBox="1"/>
          <p:nvPr/>
        </p:nvSpPr>
        <p:spPr>
          <a:xfrm>
            <a:off x="10419397" y="801052"/>
            <a:ext cx="1100137"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四、机制与意义</a:t>
            </a:r>
          </a:p>
        </p:txBody>
      </p:sp>
      <p:grpSp>
        <p:nvGrpSpPr>
          <p:cNvPr id="13" name="Group 13"/>
          <p:cNvGrpSpPr/>
          <p:nvPr/>
        </p:nvGrpSpPr>
        <p:grpSpPr>
          <a:xfrm>
            <a:off x="685800" y="1524000"/>
            <a:ext cx="3429000" cy="1726406"/>
            <a:chOff x="685800" y="1524000"/>
            <a:chExt cx="3429000" cy="1726406"/>
          </a:xfrm>
        </p:grpSpPr>
        <p:sp>
          <p:nvSpPr>
            <p:cNvPr id="6" name="Rectangle 6"/>
            <p:cNvSpPr/>
            <p:nvPr/>
          </p:nvSpPr>
          <p:spPr>
            <a:xfrm>
              <a:off x="685800" y="1524000"/>
              <a:ext cx="3429000" cy="1714500"/>
            </a:xfrm>
            <a:prstGeom prst="roundRect">
              <a:avLst>
                <a:gd name="adj" fmla="val 5556"/>
              </a:avLst>
            </a:prstGeom>
            <a:solidFill>
              <a:srgbClr val="F4F7FA"/>
            </a:solidFill>
            <a:ln>
              <a:noFill/>
            </a:ln>
          </p:spPr>
        </p:sp>
        <p:sp>
          <p:nvSpPr>
            <p:cNvPr id="7" name="Rectangle 7"/>
            <p:cNvSpPr/>
            <p:nvPr/>
          </p:nvSpPr>
          <p:spPr>
            <a:xfrm>
              <a:off x="685800" y="1524000"/>
              <a:ext cx="3429000" cy="38100"/>
            </a:xfrm>
            <a:prstGeom prst="roundRect">
              <a:avLst>
                <a:gd name="adj" fmla="val 50000"/>
              </a:avLst>
            </a:prstGeom>
            <a:solidFill>
              <a:srgbClr val="2E75B6"/>
            </a:solidFill>
            <a:ln>
              <a:noFill/>
            </a:ln>
          </p:spPr>
        </p:sp>
        <p:sp>
          <p:nvSpPr>
            <p:cNvPr id="8" name="TextBox 8"/>
            <p:cNvSpPr txBox="1"/>
            <p:nvPr/>
          </p:nvSpPr>
          <p:spPr>
            <a:xfrm>
              <a:off x="934402" y="1789271"/>
              <a:ext cx="918629" cy="289560"/>
            </a:xfrm>
            <a:prstGeom prst="rect">
              <a:avLst/>
            </a:prstGeom>
            <a:noFill/>
            <a:ln>
              <a:noFill/>
            </a:ln>
          </p:spPr>
          <p:txBody>
            <a:bodyPr wrap="none" lIns="0" tIns="0" rIns="0" bIns="0" anchor="t" anchorCtr="0">
              <a:spAutoFit/>
            </a:bodyPr>
            <a:lstStyle/>
            <a:p>
              <a:pPr algn="l"/>
              <a:r>
                <a:rPr lang="zh-CN" sz="1425" b="1" dirty="0">
                  <a:solidFill>
                    <a:srgbClr val="12395E"/>
                  </a:solidFill>
                  <a:latin typeface="Segoe UI"/>
                  <a:ea typeface="Microsoft YaHei"/>
                  <a:cs typeface="Segoe UI"/>
                </a:rPr>
                <a:t>开源仓库</a:t>
              </a:r>
            </a:p>
          </p:txBody>
        </p:sp>
        <p:sp>
          <p:nvSpPr>
            <p:cNvPr id="9" name="TextBox 9"/>
            <p:cNvSpPr txBox="1"/>
            <p:nvPr/>
          </p:nvSpPr>
          <p:spPr>
            <a:xfrm>
              <a:off x="937260" y="2156460"/>
              <a:ext cx="2112569"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R 分析流程、结果表与图件</a:t>
              </a:r>
            </a:p>
          </p:txBody>
        </p:sp>
        <p:sp>
          <p:nvSpPr>
            <p:cNvPr id="10" name="TextBox 10"/>
            <p:cNvSpPr txBox="1"/>
            <p:nvPr/>
          </p:nvSpPr>
          <p:spPr>
            <a:xfrm>
              <a:off x="937260" y="2385060"/>
              <a:ext cx="143256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已完整归档并公开</a:t>
              </a:r>
            </a:p>
          </p:txBody>
        </p:sp>
        <p:sp>
          <p:nvSpPr>
            <p:cNvPr id="11" name="TextBox 11"/>
            <p:cNvSpPr txBox="1"/>
            <p:nvPr/>
          </p:nvSpPr>
          <p:spPr>
            <a:xfrm>
              <a:off x="938212" y="2812256"/>
              <a:ext cx="2189202" cy="228600"/>
            </a:xfrm>
            <a:prstGeom prst="rect">
              <a:avLst/>
            </a:prstGeom>
            <a:noFill/>
            <a:ln>
              <a:noFill/>
            </a:ln>
          </p:spPr>
          <p:txBody>
            <a:bodyPr wrap="none" lIns="0" tIns="0" rIns="0" bIns="0" anchor="t" anchorCtr="0">
              <a:spAutoFit/>
            </a:bodyPr>
            <a:lstStyle/>
            <a:p>
              <a:pPr algn="l"/>
              <a:r>
                <a:rPr lang="zh-CN" sz="1125" dirty="0">
                  <a:solidFill>
                    <a:srgbClr val="2E75B6"/>
                  </a:solidFill>
                  <a:latin typeface="Segoe UI"/>
                  <a:ea typeface="Microsoft YaHei"/>
                  <a:cs typeface="Segoe UI"/>
                </a:rPr>
                <a:t>github.com/dingchenchen6/</a:t>
              </a:r>
            </a:p>
          </p:txBody>
        </p:sp>
        <p:sp>
          <p:nvSpPr>
            <p:cNvPr id="12" name="TextBox 12"/>
            <p:cNvSpPr txBox="1"/>
            <p:nvPr/>
          </p:nvSpPr>
          <p:spPr>
            <a:xfrm>
              <a:off x="938212" y="3021806"/>
              <a:ext cx="2512886" cy="228600"/>
            </a:xfrm>
            <a:prstGeom prst="rect">
              <a:avLst/>
            </a:prstGeom>
            <a:noFill/>
            <a:ln>
              <a:noFill/>
            </a:ln>
          </p:spPr>
          <p:txBody>
            <a:bodyPr wrap="none" lIns="0" tIns="0" rIns="0" bIns="0" anchor="t" anchorCtr="0">
              <a:spAutoFit/>
            </a:bodyPr>
            <a:lstStyle/>
            <a:p>
              <a:pPr algn="l"/>
              <a:r>
                <a:rPr lang="zh-CN" sz="1125" dirty="0">
                  <a:solidFill>
                    <a:srgbClr val="2E75B6"/>
                  </a:solidFill>
                  <a:latin typeface="Segoe UI"/>
                  <a:ea typeface="Microsoft YaHei"/>
                  <a:cs typeface="Segoe UI"/>
                </a:rPr>
                <a:t>china-bird-community-dynamics</a:t>
              </a:r>
            </a:p>
          </p:txBody>
        </p:sp>
      </p:grpSp>
      <p:grpSp>
        <p:nvGrpSpPr>
          <p:cNvPr id="21" name="Group 21"/>
          <p:cNvGrpSpPr/>
          <p:nvPr/>
        </p:nvGrpSpPr>
        <p:grpSpPr>
          <a:xfrm>
            <a:off x="4381500" y="1524000"/>
            <a:ext cx="3429000" cy="1714500"/>
            <a:chOff x="4381500" y="1524000"/>
            <a:chExt cx="3429000" cy="1714500"/>
          </a:xfrm>
        </p:grpSpPr>
        <p:sp>
          <p:nvSpPr>
            <p:cNvPr id="14" name="Rectangle 14"/>
            <p:cNvSpPr/>
            <p:nvPr/>
          </p:nvSpPr>
          <p:spPr>
            <a:xfrm>
              <a:off x="4381500" y="1524000"/>
              <a:ext cx="3429000" cy="1714500"/>
            </a:xfrm>
            <a:prstGeom prst="roundRect">
              <a:avLst>
                <a:gd name="adj" fmla="val 5556"/>
              </a:avLst>
            </a:prstGeom>
            <a:solidFill>
              <a:srgbClr val="F4F7FA"/>
            </a:solidFill>
            <a:ln>
              <a:noFill/>
            </a:ln>
          </p:spPr>
        </p:sp>
        <p:sp>
          <p:nvSpPr>
            <p:cNvPr id="15" name="Rectangle 15"/>
            <p:cNvSpPr/>
            <p:nvPr/>
          </p:nvSpPr>
          <p:spPr>
            <a:xfrm>
              <a:off x="4381500" y="1524000"/>
              <a:ext cx="3429000" cy="38100"/>
            </a:xfrm>
            <a:prstGeom prst="roundRect">
              <a:avLst>
                <a:gd name="adj" fmla="val 50000"/>
              </a:avLst>
            </a:prstGeom>
            <a:solidFill>
              <a:srgbClr val="2E75B6"/>
            </a:solidFill>
            <a:ln>
              <a:noFill/>
            </a:ln>
          </p:spPr>
        </p:sp>
        <p:sp>
          <p:nvSpPr>
            <p:cNvPr id="16" name="TextBox 16"/>
            <p:cNvSpPr txBox="1"/>
            <p:nvPr/>
          </p:nvSpPr>
          <p:spPr>
            <a:xfrm>
              <a:off x="4630102" y="1789271"/>
              <a:ext cx="918629" cy="289560"/>
            </a:xfrm>
            <a:prstGeom prst="rect">
              <a:avLst/>
            </a:prstGeom>
            <a:noFill/>
            <a:ln>
              <a:noFill/>
            </a:ln>
          </p:spPr>
          <p:txBody>
            <a:bodyPr wrap="none" lIns="0" tIns="0" rIns="0" bIns="0" anchor="t" anchorCtr="0">
              <a:spAutoFit/>
            </a:bodyPr>
            <a:lstStyle/>
            <a:p>
              <a:pPr algn="l"/>
              <a:r>
                <a:rPr lang="zh-CN" sz="1425" b="1" dirty="0">
                  <a:solidFill>
                    <a:srgbClr val="12395E"/>
                  </a:solidFill>
                  <a:latin typeface="Segoe UI"/>
                  <a:ea typeface="Microsoft YaHei"/>
                  <a:cs typeface="Segoe UI"/>
                </a:rPr>
                <a:t>可复现性</a:t>
              </a:r>
            </a:p>
          </p:txBody>
        </p:sp>
        <p:sp>
          <p:nvSpPr>
            <p:cNvPr id="17" name="TextBox 17"/>
            <p:cNvSpPr txBox="1"/>
            <p:nvPr/>
          </p:nvSpPr>
          <p:spPr>
            <a:xfrm>
              <a:off x="4632960" y="2156460"/>
              <a:ext cx="230886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附环境说明、输入数据来源、</a:t>
              </a:r>
            </a:p>
          </p:txBody>
        </p:sp>
        <p:sp>
          <p:nvSpPr>
            <p:cNvPr id="18" name="TextBox 18"/>
            <p:cNvSpPr txBox="1"/>
            <p:nvPr/>
          </p:nvSpPr>
          <p:spPr>
            <a:xfrm>
              <a:off x="4632960" y="2385060"/>
              <a:ext cx="2382469"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14 个阶段的执行顺序与耗时、</a:t>
              </a:r>
            </a:p>
          </p:txBody>
        </p:sp>
        <p:sp>
          <p:nvSpPr>
            <p:cNvPr id="19" name="TextBox 19"/>
            <p:cNvSpPr txBox="1"/>
            <p:nvPr/>
          </p:nvSpPr>
          <p:spPr>
            <a:xfrm>
              <a:off x="4632960" y="2613660"/>
              <a:ext cx="1257300"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结果表数据字典</a:t>
              </a:r>
            </a:p>
          </p:txBody>
        </p:sp>
        <p:sp>
          <p:nvSpPr>
            <p:cNvPr id="20" name="TextBox 20"/>
            <p:cNvSpPr txBox="1"/>
            <p:nvPr/>
          </p:nvSpPr>
          <p:spPr>
            <a:xfrm>
              <a:off x="4633912" y="2945606"/>
              <a:ext cx="2493169" cy="228600"/>
            </a:xfrm>
            <a:prstGeom prst="rect">
              <a:avLst/>
            </a:prstGeom>
            <a:noFill/>
            <a:ln>
              <a:noFill/>
            </a:ln>
          </p:spPr>
          <p:txBody>
            <a:bodyPr wrap="none" lIns="0" tIns="0" rIns="0" bIns="0" anchor="t" anchorCtr="0">
              <a:spAutoFit/>
            </a:bodyPr>
            <a:lstStyle/>
            <a:p>
              <a:pPr algn="l"/>
              <a:r>
                <a:rPr lang="zh-CN" sz="1125" dirty="0">
                  <a:solidFill>
                    <a:srgbClr val="5A6B7C"/>
                  </a:solidFill>
                  <a:latin typeface="Segoe UI"/>
                  <a:ea typeface="Microsoft YaHei"/>
                  <a:cs typeface="Segoe UI"/>
                </a:rPr>
                <a:t>每个论文数字都可回溯到具体表格</a:t>
              </a:r>
            </a:p>
          </p:txBody>
        </p:sp>
      </p:grpSp>
      <p:grpSp>
        <p:nvGrpSpPr>
          <p:cNvPr id="29" name="Group 29"/>
          <p:cNvGrpSpPr/>
          <p:nvPr/>
        </p:nvGrpSpPr>
        <p:grpSpPr>
          <a:xfrm>
            <a:off x="8077200" y="1524000"/>
            <a:ext cx="3585591" cy="1714500"/>
            <a:chOff x="8077200" y="1524000"/>
            <a:chExt cx="3585591" cy="1714500"/>
          </a:xfrm>
        </p:grpSpPr>
        <p:sp>
          <p:nvSpPr>
            <p:cNvPr id="22" name="Rectangle 22"/>
            <p:cNvSpPr/>
            <p:nvPr/>
          </p:nvSpPr>
          <p:spPr>
            <a:xfrm>
              <a:off x="8077200" y="1524000"/>
              <a:ext cx="3429000" cy="1714500"/>
            </a:xfrm>
            <a:prstGeom prst="roundRect">
              <a:avLst>
                <a:gd name="adj" fmla="val 5556"/>
              </a:avLst>
            </a:prstGeom>
            <a:solidFill>
              <a:srgbClr val="F4F7FA"/>
            </a:solidFill>
            <a:ln>
              <a:noFill/>
            </a:ln>
          </p:spPr>
        </p:sp>
        <p:sp>
          <p:nvSpPr>
            <p:cNvPr id="23" name="Rectangle 23"/>
            <p:cNvSpPr/>
            <p:nvPr/>
          </p:nvSpPr>
          <p:spPr>
            <a:xfrm>
              <a:off x="8077200" y="1524000"/>
              <a:ext cx="3429000" cy="38100"/>
            </a:xfrm>
            <a:prstGeom prst="roundRect">
              <a:avLst>
                <a:gd name="adj" fmla="val 50000"/>
              </a:avLst>
            </a:prstGeom>
            <a:solidFill>
              <a:srgbClr val="2E75B6"/>
            </a:solidFill>
            <a:ln>
              <a:noFill/>
            </a:ln>
          </p:spPr>
        </p:sp>
        <p:sp>
          <p:nvSpPr>
            <p:cNvPr id="24" name="TextBox 24"/>
            <p:cNvSpPr txBox="1"/>
            <p:nvPr/>
          </p:nvSpPr>
          <p:spPr>
            <a:xfrm>
              <a:off x="8325802" y="1789271"/>
              <a:ext cx="918629" cy="289560"/>
            </a:xfrm>
            <a:prstGeom prst="rect">
              <a:avLst/>
            </a:prstGeom>
            <a:noFill/>
            <a:ln>
              <a:noFill/>
            </a:ln>
          </p:spPr>
          <p:txBody>
            <a:bodyPr wrap="none" lIns="0" tIns="0" rIns="0" bIns="0" anchor="t" anchorCtr="0">
              <a:spAutoFit/>
            </a:bodyPr>
            <a:lstStyle/>
            <a:p>
              <a:pPr algn="l"/>
              <a:r>
                <a:rPr lang="zh-CN" sz="1425" b="1" dirty="0">
                  <a:solidFill>
                    <a:srgbClr val="12395E"/>
                  </a:solidFill>
                  <a:latin typeface="Segoe UI"/>
                  <a:ea typeface="Microsoft YaHei"/>
                  <a:cs typeface="Segoe UI"/>
                </a:rPr>
                <a:t>文献核验</a:t>
              </a:r>
            </a:p>
          </p:txBody>
        </p:sp>
        <p:sp>
          <p:nvSpPr>
            <p:cNvPr id="25" name="TextBox 25"/>
            <p:cNvSpPr txBox="1"/>
            <p:nvPr/>
          </p:nvSpPr>
          <p:spPr>
            <a:xfrm>
              <a:off x="8303895" y="2060258"/>
              <a:ext cx="884651" cy="640080"/>
            </a:xfrm>
            <a:prstGeom prst="rect">
              <a:avLst/>
            </a:prstGeom>
            <a:noFill/>
            <a:ln>
              <a:noFill/>
            </a:ln>
          </p:spPr>
          <p:txBody>
            <a:bodyPr wrap="none" lIns="0" tIns="0" rIns="0" bIns="0" anchor="t" anchorCtr="0">
              <a:spAutoFit/>
            </a:bodyPr>
            <a:lstStyle/>
            <a:p>
              <a:pPr algn="l"/>
              <a:r>
                <a:rPr lang="zh-CN" sz="3150" b="1" dirty="0">
                  <a:solidFill>
                    <a:srgbClr val="12395E"/>
                  </a:solidFill>
                  <a:latin typeface="Segoe UI"/>
                  <a:ea typeface="Microsoft YaHei"/>
                  <a:cs typeface="Segoe UI"/>
                </a:rPr>
                <a:t>114</a:t>
              </a:r>
            </a:p>
          </p:txBody>
        </p:sp>
        <p:sp>
          <p:nvSpPr>
            <p:cNvPr id="26" name="TextBox 26"/>
            <p:cNvSpPr txBox="1"/>
            <p:nvPr/>
          </p:nvSpPr>
          <p:spPr>
            <a:xfrm>
              <a:off x="9145905" y="2254568"/>
              <a:ext cx="1020127" cy="274320"/>
            </a:xfrm>
            <a:prstGeom prst="rect">
              <a:avLst/>
            </a:prstGeom>
            <a:noFill/>
            <a:ln>
              <a:noFill/>
            </a:ln>
          </p:spPr>
          <p:txBody>
            <a:bodyPr wrap="none" lIns="0" tIns="0" rIns="0" bIns="0" anchor="t" anchorCtr="0">
              <a:spAutoFit/>
            </a:bodyPr>
            <a:lstStyle/>
            <a:p>
              <a:pPr algn="l"/>
              <a:r>
                <a:rPr lang="zh-CN" sz="1350" dirty="0">
                  <a:solidFill>
                    <a:srgbClr val="5A6B7C"/>
                  </a:solidFill>
                  <a:latin typeface="Segoe UI"/>
                  <a:ea typeface="Microsoft YaHei"/>
                  <a:cs typeface="Segoe UI"/>
                </a:rPr>
                <a:t>条参考文献</a:t>
              </a:r>
            </a:p>
          </p:txBody>
        </p:sp>
        <p:sp>
          <p:nvSpPr>
            <p:cNvPr id="27" name="TextBox 27"/>
            <p:cNvSpPr txBox="1"/>
            <p:nvPr/>
          </p:nvSpPr>
          <p:spPr>
            <a:xfrm>
              <a:off x="8328660" y="2651760"/>
              <a:ext cx="3334131"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113 条经 Crossref/DataCite 核验 DOI，</a:t>
              </a:r>
            </a:p>
          </p:txBody>
        </p:sp>
        <p:sp>
          <p:nvSpPr>
            <p:cNvPr id="28" name="TextBox 28"/>
            <p:cNvSpPr txBox="1"/>
            <p:nvPr/>
          </p:nvSpPr>
          <p:spPr>
            <a:xfrm>
              <a:off x="8328660" y="2880360"/>
              <a:ext cx="1234516" cy="243840"/>
            </a:xfrm>
            <a:prstGeom prst="rect">
              <a:avLst/>
            </a:prstGeom>
            <a:noFill/>
            <a:ln>
              <a:noFill/>
            </a:ln>
          </p:spPr>
          <p:txBody>
            <a:bodyPr wrap="none" lIns="0" tIns="0" rIns="0" bIns="0" anchor="t" anchorCtr="0">
              <a:spAutoFit/>
            </a:bodyPr>
            <a:lstStyle/>
            <a:p>
              <a:pPr algn="l"/>
              <a:r>
                <a:rPr lang="zh-CN" sz="1200" dirty="0">
                  <a:solidFill>
                    <a:srgbClr val="5A6B7C"/>
                  </a:solidFill>
                  <a:latin typeface="Segoe UI"/>
                  <a:ea typeface="Microsoft YaHei"/>
                  <a:cs typeface="Segoe UI"/>
                </a:rPr>
                <a:t>1 本专著无 DOI</a:t>
              </a:r>
            </a:p>
          </p:txBody>
        </p:sp>
      </p:grpSp>
      <p:sp>
        <p:nvSpPr>
          <p:cNvPr id="30" name="Rectangle 30"/>
          <p:cNvSpPr/>
          <p:nvPr/>
        </p:nvSpPr>
        <p:spPr>
          <a:xfrm>
            <a:off x="685800" y="3543300"/>
            <a:ext cx="10820400" cy="9525"/>
          </a:xfrm>
          <a:prstGeom prst="rect">
            <a:avLst/>
          </a:prstGeom>
          <a:solidFill>
            <a:srgbClr val="D8DFE7"/>
          </a:solidFill>
          <a:ln>
            <a:noFill/>
          </a:ln>
        </p:spPr>
      </p:sp>
      <p:sp>
        <p:nvSpPr>
          <p:cNvPr id="31" name="TextBox 31"/>
          <p:cNvSpPr txBox="1"/>
          <p:nvPr/>
        </p:nvSpPr>
        <p:spPr>
          <a:xfrm>
            <a:off x="665798" y="3792379"/>
            <a:ext cx="1746818" cy="320040"/>
          </a:xfrm>
          <a:prstGeom prst="rect">
            <a:avLst/>
          </a:prstGeom>
          <a:noFill/>
          <a:ln>
            <a:noFill/>
          </a:ln>
        </p:spPr>
        <p:txBody>
          <a:bodyPr wrap="none" lIns="0" tIns="0" rIns="0" bIns="0" anchor="t" anchorCtr="0">
            <a:spAutoFit/>
          </a:bodyPr>
          <a:lstStyle/>
          <a:p>
            <a:pPr algn="l"/>
            <a:r>
              <a:rPr lang="zh-CN" sz="1575" b="1" dirty="0">
                <a:solidFill>
                  <a:srgbClr val="12395E"/>
                </a:solidFill>
                <a:latin typeface="Segoe UI"/>
                <a:ea typeface="Microsoft YaHei"/>
                <a:cs typeface="Segoe UI"/>
              </a:rPr>
              <a:t>数据来源与致谢</a:t>
            </a:r>
          </a:p>
        </p:txBody>
      </p:sp>
      <p:sp>
        <p:nvSpPr>
          <p:cNvPr id="32" name="TextBox 32"/>
          <p:cNvSpPr txBox="1"/>
          <p:nvPr/>
        </p:nvSpPr>
        <p:spPr>
          <a:xfrm>
            <a:off x="669608" y="4205764"/>
            <a:ext cx="7130853"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感谢中国观鸟记录中心、eBird 与康奈尔鸟类学实验室，以及 AVONET、EltonTraits、</a:t>
            </a:r>
          </a:p>
        </p:txBody>
      </p:sp>
      <p:sp>
        <p:nvSpPr>
          <p:cNvPr id="33" name="TextBox 33"/>
          <p:cNvSpPr txBox="1"/>
          <p:nvPr/>
        </p:nvSpPr>
        <p:spPr>
          <a:xfrm>
            <a:off x="669608" y="4491514"/>
            <a:ext cx="6201647"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IUCN 红色名录、WorldClim、CLCD 与 Human Footprint 数据集的贡献者。</a:t>
            </a:r>
          </a:p>
        </p:txBody>
      </p:sp>
      <p:sp>
        <p:nvSpPr>
          <p:cNvPr id="34" name="TextBox 34"/>
          <p:cNvSpPr txBox="1"/>
          <p:nvPr/>
        </p:nvSpPr>
        <p:spPr>
          <a:xfrm>
            <a:off x="669608" y="4777264"/>
            <a:ext cx="4278058"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感谢 spOccupancy 等开源生态建模工具的开发者。</a:t>
            </a:r>
          </a:p>
        </p:txBody>
      </p:sp>
      <p:sp>
        <p:nvSpPr>
          <p:cNvPr id="35" name="Rectangle 35"/>
          <p:cNvSpPr/>
          <p:nvPr/>
        </p:nvSpPr>
        <p:spPr>
          <a:xfrm>
            <a:off x="685800" y="5295900"/>
            <a:ext cx="10820400" cy="590550"/>
          </a:xfrm>
          <a:prstGeom prst="roundRect">
            <a:avLst>
              <a:gd name="adj" fmla="val 12903"/>
            </a:avLst>
          </a:prstGeom>
          <a:solidFill>
            <a:srgbClr val="FDF4EC"/>
          </a:solidFill>
          <a:ln>
            <a:noFill/>
          </a:ln>
        </p:spPr>
      </p:sp>
      <p:sp>
        <p:nvSpPr>
          <p:cNvPr id="36" name="TextBox 36"/>
          <p:cNvSpPr txBox="1"/>
          <p:nvPr/>
        </p:nvSpPr>
        <p:spPr>
          <a:xfrm>
            <a:off x="974408" y="5520214"/>
            <a:ext cx="8099165" cy="259080"/>
          </a:xfrm>
          <a:prstGeom prst="rect">
            <a:avLst/>
          </a:prstGeom>
          <a:noFill/>
          <a:ln>
            <a:noFill/>
          </a:ln>
        </p:spPr>
        <p:txBody>
          <a:bodyPr wrap="none" lIns="0" tIns="0" rIns="0" bIns="0" anchor="t" anchorCtr="0">
            <a:spAutoFit/>
          </a:bodyPr>
          <a:lstStyle/>
          <a:p>
            <a:pPr algn="l"/>
            <a:r>
              <a:rPr lang="zh-CN" sz="1275" dirty="0">
                <a:solidFill>
                  <a:srgbClr val="0F2740"/>
                </a:solidFill>
                <a:latin typeface="Segoe UI"/>
                <a:ea typeface="Microsoft YaHei"/>
                <a:cs typeface="Segoe UI"/>
              </a:rPr>
              <a:t>原始观测记录受各数据提供方使用条款约束；派生结果表与图件将在论文接收后以 DOI 形式存档。</a:t>
            </a:r>
          </a:p>
        </p:txBody>
      </p:sp>
      <p:sp>
        <p:nvSpPr>
          <p:cNvPr id="37" name="TextBox 37"/>
          <p:cNvSpPr txBox="1"/>
          <p:nvPr/>
        </p:nvSpPr>
        <p:spPr>
          <a:xfrm>
            <a:off x="11324177" y="6458902"/>
            <a:ext cx="195358" cy="213360"/>
          </a:xfrm>
          <a:prstGeom prst="rect">
            <a:avLst/>
          </a:prstGeom>
          <a:noFill/>
          <a:ln>
            <a:noFill/>
          </a:ln>
        </p:spPr>
        <p:txBody>
          <a:bodyPr wrap="none" lIns="0" tIns="0" rIns="0" bIns="0" anchor="t" anchorCtr="0">
            <a:spAutoFit/>
          </a:bodyPr>
          <a:lstStyle/>
          <a:p>
            <a:pPr algn="r"/>
            <a:r>
              <a:rPr lang="zh-CN" sz="1050" dirty="0">
                <a:solidFill>
                  <a:srgbClr val="5A6B7C"/>
                </a:solidFill>
                <a:latin typeface="Segoe UI"/>
                <a:ea typeface="Microsoft YaHei"/>
                <a:cs typeface="Segoe UI"/>
              </a:rPr>
              <a:t>31</a:t>
            </a:r>
          </a:p>
        </p:txBody>
      </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12395E"/>
          </a:solidFill>
          <a:ln>
            <a:noFill/>
          </a:ln>
        </p:spPr>
      </p:sp>
      <p:sp>
        <p:nvSpPr>
          <p:cNvPr id="3" name="Rectangle 3"/>
          <p:cNvSpPr/>
          <p:nvPr/>
        </p:nvSpPr>
        <p:spPr>
          <a:xfrm>
            <a:off x="0" y="0"/>
            <a:ext cx="12192000" cy="6858000"/>
          </a:xfrm>
          <a:prstGeom prst="rect">
            <a:avLst/>
          </a:prstGeom>
          <a:solidFill>
            <a:srgbClr val="0F2740">
              <a:alpha val="25000"/>
            </a:srgbClr>
          </a:solidFill>
          <a:ln>
            <a:noFill/>
          </a:ln>
        </p:spPr>
      </p:sp>
      <p:sp>
        <p:nvSpPr>
          <p:cNvPr id="4" name="Rectangle 4"/>
          <p:cNvSpPr/>
          <p:nvPr/>
        </p:nvSpPr>
        <p:spPr>
          <a:xfrm>
            <a:off x="0" y="0"/>
            <a:ext cx="12192000" cy="76200"/>
          </a:xfrm>
          <a:prstGeom prst="rect">
            <a:avLst/>
          </a:prstGeom>
          <a:solidFill>
            <a:srgbClr val="D97A34"/>
          </a:solidFill>
          <a:ln>
            <a:noFill/>
          </a:ln>
        </p:spPr>
      </p:sp>
      <p:sp>
        <p:nvSpPr>
          <p:cNvPr id="5" name="TextBox 5"/>
          <p:cNvSpPr txBox="1"/>
          <p:nvPr/>
        </p:nvSpPr>
        <p:spPr>
          <a:xfrm>
            <a:off x="669608" y="1024414"/>
            <a:ext cx="404812" cy="259080"/>
          </a:xfrm>
          <a:prstGeom prst="rect">
            <a:avLst/>
          </a:prstGeom>
          <a:noFill/>
          <a:ln>
            <a:noFill/>
          </a:ln>
        </p:spPr>
        <p:txBody>
          <a:bodyPr wrap="none" lIns="0" tIns="0" rIns="0" bIns="0" anchor="t" anchorCtr="0">
            <a:spAutoFit/>
          </a:bodyPr>
          <a:lstStyle/>
          <a:p>
            <a:pPr algn="l"/>
            <a:r>
              <a:rPr lang="zh-CN" sz="1275" dirty="0">
                <a:solidFill>
                  <a:srgbClr val="9FC7EA"/>
                </a:solidFill>
                <a:latin typeface="Segoe UI"/>
                <a:ea typeface="Microsoft YaHei"/>
                <a:cs typeface="Segoe UI"/>
              </a:rPr>
              <a:t>结论</a:t>
            </a:r>
          </a:p>
        </p:txBody>
      </p:sp>
      <p:sp>
        <p:nvSpPr>
          <p:cNvPr id="6" name="TextBox 6"/>
          <p:cNvSpPr txBox="1"/>
          <p:nvPr/>
        </p:nvSpPr>
        <p:spPr>
          <a:xfrm>
            <a:off x="645795" y="1431608"/>
            <a:ext cx="7394924" cy="640080"/>
          </a:xfrm>
          <a:prstGeom prst="rect">
            <a:avLst/>
          </a:prstGeom>
          <a:noFill/>
          <a:ln>
            <a:noFill/>
          </a:ln>
        </p:spPr>
        <p:txBody>
          <a:bodyPr wrap="none" lIns="0" tIns="0" rIns="0" bIns="0" anchor="t" anchorCtr="0">
            <a:spAutoFit/>
          </a:bodyPr>
          <a:lstStyle/>
          <a:p>
            <a:pPr algn="l"/>
            <a:r>
              <a:rPr lang="zh-CN" sz="3150" b="1" dirty="0">
                <a:solidFill>
                  <a:srgbClr val="FFFFFF"/>
                </a:solidFill>
                <a:latin typeface="Segoe UI"/>
                <a:ea typeface="Microsoft YaHei"/>
                <a:cs typeface="Segoe UI"/>
              </a:rPr>
              <a:t>物种数在增长，功能空间却未扩张</a:t>
            </a:r>
          </a:p>
        </p:txBody>
      </p:sp>
      <p:sp>
        <p:nvSpPr>
          <p:cNvPr id="7" name="Rectangle 7"/>
          <p:cNvSpPr/>
          <p:nvPr/>
        </p:nvSpPr>
        <p:spPr>
          <a:xfrm>
            <a:off x="685800" y="2019300"/>
            <a:ext cx="819150" cy="47625"/>
          </a:xfrm>
          <a:prstGeom prst="roundRect">
            <a:avLst>
              <a:gd name="adj" fmla="val 50000"/>
            </a:avLst>
          </a:prstGeom>
          <a:solidFill>
            <a:srgbClr val="D97A34"/>
          </a:solidFill>
          <a:ln>
            <a:noFill/>
          </a:ln>
        </p:spPr>
      </p:sp>
      <p:grpSp>
        <p:nvGrpSpPr>
          <p:cNvPr id="11" name="Group 11"/>
          <p:cNvGrpSpPr/>
          <p:nvPr/>
        </p:nvGrpSpPr>
        <p:grpSpPr>
          <a:xfrm>
            <a:off x="828675" y="2363629"/>
            <a:ext cx="8896779" cy="577215"/>
            <a:chOff x="828675" y="2363629"/>
            <a:chExt cx="8896779" cy="577215"/>
          </a:xfrm>
        </p:grpSpPr>
        <p:sp>
          <p:nvSpPr>
            <p:cNvPr id="8" name="Ellipse 8"/>
            <p:cNvSpPr/>
            <p:nvPr/>
          </p:nvSpPr>
          <p:spPr>
            <a:xfrm>
              <a:off x="828675" y="2524125"/>
              <a:ext cx="133350" cy="133350"/>
            </a:xfrm>
            <a:prstGeom prst="ellipse">
              <a:avLst/>
            </a:prstGeom>
            <a:solidFill>
              <a:srgbClr val="2E75B6"/>
            </a:solidFill>
            <a:ln>
              <a:noFill/>
            </a:ln>
          </p:spPr>
        </p:sp>
        <p:sp>
          <p:nvSpPr>
            <p:cNvPr id="9" name="TextBox 9"/>
            <p:cNvSpPr txBox="1"/>
            <p:nvPr/>
          </p:nvSpPr>
          <p:spPr>
            <a:xfrm>
              <a:off x="1142048" y="2363629"/>
              <a:ext cx="4428954"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Segoe UI"/>
                  <a:ea typeface="Microsoft YaHei"/>
                  <a:cs typeface="Segoe UI"/>
                </a:rPr>
                <a:t>检测校正后，物种数确实上升约四分之一</a:t>
              </a:r>
            </a:p>
          </p:txBody>
        </p:sp>
        <p:sp>
          <p:nvSpPr>
            <p:cNvPr id="10" name="TextBox 10"/>
            <p:cNvSpPr txBox="1"/>
            <p:nvPr/>
          </p:nvSpPr>
          <p:spPr>
            <a:xfrm>
              <a:off x="1145858" y="2681764"/>
              <a:ext cx="8579596" cy="259080"/>
            </a:xfrm>
            <a:prstGeom prst="rect">
              <a:avLst/>
            </a:prstGeom>
            <a:noFill/>
            <a:ln>
              <a:noFill/>
            </a:ln>
          </p:spPr>
          <p:txBody>
            <a:bodyPr wrap="none" lIns="0" tIns="0" rIns="0" bIns="0" anchor="t" anchorCtr="0">
              <a:spAutoFit/>
            </a:bodyPr>
            <a:lstStyle/>
            <a:p>
              <a:pPr algn="l"/>
              <a:r>
                <a:rPr lang="zh-CN" sz="1275" dirty="0">
                  <a:solidFill>
                    <a:srgbClr val="B8CCDE"/>
                  </a:solidFill>
                  <a:latin typeface="Segoe UI"/>
                  <a:ea typeface="Microsoft YaHei"/>
                  <a:cs typeface="Segoe UI"/>
                </a:rPr>
                <a:t>79.2 → 100.8 种/格；500 种模型同向验证。增长经受住了检测校正；努力检验削弱但未排除观测解释。</a:t>
              </a:r>
            </a:p>
          </p:txBody>
        </p:sp>
      </p:grpSp>
      <p:grpSp>
        <p:nvGrpSpPr>
          <p:cNvPr id="15" name="Group 15"/>
          <p:cNvGrpSpPr/>
          <p:nvPr/>
        </p:nvGrpSpPr>
        <p:grpSpPr>
          <a:xfrm>
            <a:off x="828675" y="3125629"/>
            <a:ext cx="6105435" cy="577215"/>
            <a:chOff x="828675" y="3125629"/>
            <a:chExt cx="6105435" cy="577215"/>
          </a:xfrm>
        </p:grpSpPr>
        <p:sp>
          <p:nvSpPr>
            <p:cNvPr id="12" name="Ellipse 12"/>
            <p:cNvSpPr/>
            <p:nvPr/>
          </p:nvSpPr>
          <p:spPr>
            <a:xfrm>
              <a:off x="828675" y="3286125"/>
              <a:ext cx="133350" cy="133350"/>
            </a:xfrm>
            <a:prstGeom prst="ellipse">
              <a:avLst/>
            </a:prstGeom>
            <a:solidFill>
              <a:srgbClr val="D97A34"/>
            </a:solidFill>
            <a:ln>
              <a:noFill/>
            </a:ln>
          </p:spPr>
        </p:sp>
        <p:sp>
          <p:nvSpPr>
            <p:cNvPr id="13" name="TextBox 13"/>
            <p:cNvSpPr txBox="1"/>
            <p:nvPr/>
          </p:nvSpPr>
          <p:spPr>
            <a:xfrm>
              <a:off x="1142048" y="3125629"/>
              <a:ext cx="2722140"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Segoe UI"/>
                  <a:ea typeface="Microsoft YaHei"/>
                  <a:cs typeface="Segoe UI"/>
                </a:rPr>
                <a:t>但功能空间没有同步扩张</a:t>
              </a:r>
            </a:p>
          </p:txBody>
        </p:sp>
        <p:sp>
          <p:nvSpPr>
            <p:cNvPr id="14" name="TextBox 14"/>
            <p:cNvSpPr txBox="1"/>
            <p:nvPr/>
          </p:nvSpPr>
          <p:spPr>
            <a:xfrm>
              <a:off x="1145858" y="3443764"/>
              <a:ext cx="5788252" cy="259080"/>
            </a:xfrm>
            <a:prstGeom prst="rect">
              <a:avLst/>
            </a:prstGeom>
            <a:noFill/>
            <a:ln>
              <a:noFill/>
            </a:ln>
          </p:spPr>
          <p:txBody>
            <a:bodyPr wrap="none" lIns="0" tIns="0" rIns="0" bIns="0" anchor="t" anchorCtr="0">
              <a:spAutoFit/>
            </a:bodyPr>
            <a:lstStyle/>
            <a:p>
              <a:pPr algn="l"/>
              <a:r>
                <a:rPr lang="zh-CN" sz="1275" dirty="0">
                  <a:solidFill>
                    <a:srgbClr val="B8CCDE"/>
                  </a:solidFill>
                  <a:latin typeface="Segoe UI"/>
                  <a:ea typeface="Microsoft YaHei"/>
                  <a:cs typeface="Segoe UI"/>
                </a:rPr>
                <a:t>功能体积与 Rao's Q 5 期单调下降；分类与功能维度出现方向性解耦。</a:t>
              </a:r>
            </a:p>
          </p:txBody>
        </p:sp>
      </p:grpSp>
      <p:grpSp>
        <p:nvGrpSpPr>
          <p:cNvPr id="19" name="Group 19"/>
          <p:cNvGrpSpPr/>
          <p:nvPr/>
        </p:nvGrpSpPr>
        <p:grpSpPr>
          <a:xfrm>
            <a:off x="828675" y="3887629"/>
            <a:ext cx="9788743" cy="577215"/>
            <a:chOff x="828675" y="3887629"/>
            <a:chExt cx="9788743" cy="577215"/>
          </a:xfrm>
        </p:grpSpPr>
        <p:sp>
          <p:nvSpPr>
            <p:cNvPr id="16" name="Ellipse 16"/>
            <p:cNvSpPr/>
            <p:nvPr/>
          </p:nvSpPr>
          <p:spPr>
            <a:xfrm>
              <a:off x="828675" y="4048125"/>
              <a:ext cx="133350" cy="133350"/>
            </a:xfrm>
            <a:prstGeom prst="ellipse">
              <a:avLst/>
            </a:prstGeom>
            <a:solidFill>
              <a:srgbClr val="D97A34"/>
            </a:solidFill>
            <a:ln>
              <a:noFill/>
            </a:ln>
          </p:spPr>
        </p:sp>
        <p:sp>
          <p:nvSpPr>
            <p:cNvPr id="17" name="TextBox 17"/>
            <p:cNvSpPr txBox="1"/>
            <p:nvPr/>
          </p:nvSpPr>
          <p:spPr>
            <a:xfrm>
              <a:off x="1142048" y="3887629"/>
              <a:ext cx="4185123"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Segoe UI"/>
                  <a:ea typeface="Microsoft YaHei"/>
                  <a:cs typeface="Segoe UI"/>
                </a:rPr>
                <a:t>增长集中于湿地类群，气候追踪信号弱</a:t>
              </a:r>
            </a:p>
          </p:txBody>
        </p:sp>
        <p:sp>
          <p:nvSpPr>
            <p:cNvPr id="18" name="TextBox 18"/>
            <p:cNvSpPr txBox="1"/>
            <p:nvPr/>
          </p:nvSpPr>
          <p:spPr>
            <a:xfrm>
              <a:off x="1145858" y="4205764"/>
              <a:ext cx="9471560" cy="259080"/>
            </a:xfrm>
            <a:prstGeom prst="rect">
              <a:avLst/>
            </a:prstGeom>
            <a:noFill/>
            <a:ln>
              <a:noFill/>
            </a:ln>
          </p:spPr>
          <p:txBody>
            <a:bodyPr wrap="none" lIns="0" tIns="0" rIns="0" bIns="0" anchor="t" anchorCtr="0">
              <a:spAutoFit/>
            </a:bodyPr>
            <a:lstStyle/>
            <a:p>
              <a:pPr algn="l"/>
              <a:r>
                <a:rPr lang="zh-CN" sz="1275" dirty="0">
                  <a:solidFill>
                    <a:srgbClr val="B8CCDE"/>
                  </a:solidFill>
                  <a:latin typeface="Segoe UI"/>
                  <a:ea typeface="Microsoft YaHei"/>
                  <a:cs typeface="Segoe UI"/>
                </a:rPr>
                <a:t>21.5% 的物种贡献 38% 增量；纬度无北移、CTI 末期反低。增益集中于单一生境，可能是性状空间未撑开的原因。</a:t>
              </a:r>
            </a:p>
          </p:txBody>
        </p:sp>
      </p:grpSp>
      <p:grpSp>
        <p:nvGrpSpPr>
          <p:cNvPr id="23" name="Group 23"/>
          <p:cNvGrpSpPr/>
          <p:nvPr/>
        </p:nvGrpSpPr>
        <p:grpSpPr>
          <a:xfrm>
            <a:off x="828675" y="4649629"/>
            <a:ext cx="7053263" cy="577215"/>
            <a:chOff x="828675" y="4649629"/>
            <a:chExt cx="7053263" cy="577215"/>
          </a:xfrm>
        </p:grpSpPr>
        <p:sp>
          <p:nvSpPr>
            <p:cNvPr id="20" name="Ellipse 20"/>
            <p:cNvSpPr/>
            <p:nvPr/>
          </p:nvSpPr>
          <p:spPr>
            <a:xfrm>
              <a:off x="828675" y="4810125"/>
              <a:ext cx="133350" cy="133350"/>
            </a:xfrm>
            <a:prstGeom prst="ellipse">
              <a:avLst/>
            </a:prstGeom>
            <a:solidFill>
              <a:srgbClr val="2E75B6"/>
            </a:solidFill>
            <a:ln>
              <a:noFill/>
            </a:ln>
          </p:spPr>
        </p:sp>
        <p:sp>
          <p:nvSpPr>
            <p:cNvPr id="21" name="TextBox 21"/>
            <p:cNvSpPr txBox="1"/>
            <p:nvPr/>
          </p:nvSpPr>
          <p:spPr>
            <a:xfrm>
              <a:off x="1142048" y="4649629"/>
              <a:ext cx="2965971"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Segoe UI"/>
                  <a:ea typeface="Microsoft YaHei"/>
                  <a:cs typeface="Segoe UI"/>
                </a:rPr>
                <a:t>对公民科学时代的普适启示</a:t>
              </a:r>
            </a:p>
          </p:txBody>
        </p:sp>
        <p:sp>
          <p:nvSpPr>
            <p:cNvPr id="22" name="TextBox 22"/>
            <p:cNvSpPr txBox="1"/>
            <p:nvPr/>
          </p:nvSpPr>
          <p:spPr>
            <a:xfrm>
              <a:off x="1145858" y="4967764"/>
              <a:ext cx="6736080" cy="259080"/>
            </a:xfrm>
            <a:prstGeom prst="rect">
              <a:avLst/>
            </a:prstGeom>
            <a:noFill/>
            <a:ln>
              <a:noFill/>
            </a:ln>
          </p:spPr>
          <p:txBody>
            <a:bodyPr wrap="none" lIns="0" tIns="0" rIns="0" bIns="0" anchor="t" anchorCtr="0">
              <a:spAutoFit/>
            </a:bodyPr>
            <a:lstStyle/>
            <a:p>
              <a:pPr algn="l"/>
              <a:r>
                <a:rPr lang="zh-CN" sz="1275" dirty="0">
                  <a:solidFill>
                    <a:srgbClr val="B8CCDE"/>
                  </a:solidFill>
                  <a:latin typeface="Segoe UI"/>
                  <a:ea typeface="Microsoft YaHei"/>
                  <a:cs typeface="Segoe UI"/>
                </a:rPr>
                <a:t>先建模可探测性，再越过物种数看多维结构——否则可能把功能停滞误读为恢复。</a:t>
              </a:r>
            </a:p>
          </p:txBody>
        </p:sp>
      </p:grpSp>
      <p:sp>
        <p:nvSpPr>
          <p:cNvPr id="24" name="Rectangle 24"/>
          <p:cNvSpPr/>
          <p:nvPr/>
        </p:nvSpPr>
        <p:spPr>
          <a:xfrm>
            <a:off x="685800" y="5467350"/>
            <a:ext cx="10820400" cy="685800"/>
          </a:xfrm>
          <a:prstGeom prst="roundRect">
            <a:avLst>
              <a:gd name="adj" fmla="val 13889"/>
            </a:avLst>
          </a:prstGeom>
          <a:solidFill>
            <a:srgbClr val="1E4E7A"/>
          </a:solidFill>
          <a:ln>
            <a:noFill/>
          </a:ln>
        </p:spPr>
      </p:sp>
      <p:sp>
        <p:nvSpPr>
          <p:cNvPr id="25" name="TextBox 25"/>
          <p:cNvSpPr txBox="1"/>
          <p:nvPr/>
        </p:nvSpPr>
        <p:spPr>
          <a:xfrm>
            <a:off x="3007843" y="5711190"/>
            <a:ext cx="6176315"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Segoe UI"/>
                <a:ea typeface="Microsoft YaHei"/>
                <a:cs typeface="Segoe UI"/>
              </a:rPr>
              <a:t>不要在还没看功能维度之前，就把变化叫作恢复。</a:t>
            </a:r>
          </a:p>
        </p:txBody>
      </p:sp>
      <p:sp>
        <p:nvSpPr>
          <p:cNvPr id="26" name="TextBox 26"/>
          <p:cNvSpPr txBox="1"/>
          <p:nvPr/>
        </p:nvSpPr>
        <p:spPr>
          <a:xfrm>
            <a:off x="671512" y="6412706"/>
            <a:ext cx="4215098" cy="228600"/>
          </a:xfrm>
          <a:prstGeom prst="rect">
            <a:avLst/>
          </a:prstGeom>
          <a:noFill/>
          <a:ln>
            <a:noFill/>
          </a:ln>
        </p:spPr>
        <p:txBody>
          <a:bodyPr wrap="none" lIns="0" tIns="0" rIns="0" bIns="0" anchor="t" anchorCtr="0">
            <a:spAutoFit/>
          </a:bodyPr>
          <a:lstStyle/>
          <a:p>
            <a:pPr algn="l"/>
            <a:r>
              <a:rPr lang="zh-CN" sz="1125" dirty="0">
                <a:solidFill>
                  <a:srgbClr val="7E9BB5"/>
                </a:solidFill>
                <a:latin typeface="Segoe UI"/>
                <a:ea typeface="Microsoft YaHei"/>
                <a:cs typeface="Segoe UI"/>
              </a:rPr>
              <a:t>丁晨晨 Chenchen Ding · 北京大学 · [通讯邮箱待确认]</a:t>
            </a:r>
          </a:p>
        </p:txBody>
      </p:sp>
      <p:sp>
        <p:nvSpPr>
          <p:cNvPr id="27" name="TextBox 27"/>
          <p:cNvSpPr txBox="1"/>
          <p:nvPr/>
        </p:nvSpPr>
        <p:spPr>
          <a:xfrm>
            <a:off x="11324177" y="6420802"/>
            <a:ext cx="195358" cy="213360"/>
          </a:xfrm>
          <a:prstGeom prst="rect">
            <a:avLst/>
          </a:prstGeom>
          <a:noFill/>
          <a:ln>
            <a:noFill/>
          </a:ln>
        </p:spPr>
        <p:txBody>
          <a:bodyPr wrap="none" lIns="0" tIns="0" rIns="0" bIns="0" anchor="t" anchorCtr="0">
            <a:spAutoFit/>
          </a:bodyPr>
          <a:lstStyle/>
          <a:p>
            <a:pPr algn="r"/>
            <a:r>
              <a:rPr lang="zh-CN" sz="1050" dirty="0">
                <a:solidFill>
                  <a:srgbClr val="6E8CA8"/>
                </a:solidFill>
                <a:latin typeface="Segoe UI"/>
                <a:ea typeface="Microsoft YaHei"/>
                <a:cs typeface="Segoe UI"/>
              </a:rPr>
              <a:t>32</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Steve Canny</cp:lastModifiedBy>
  <cp:revision>1</cp:revision>
  <dcterms:created xsi:type="dcterms:W3CDTF">2013-01-27T09:14:16Z</dcterms:created>
  <dcterms:modified xsi:type="dcterms:W3CDTF">2013-01-27T09:15:58Z</dcterms:modified>
  <cp:category/>
</cp:coreProperties>
</file>