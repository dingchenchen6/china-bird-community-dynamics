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/>
          </p:nvPr>
        </p:nvSpPr>
        <p:spPr>
          <a:xfrm>
            <a:off x="320040" y="128016"/>
            <a:ext cx="11521440" cy="310896"/>
          </a:xfrm>
        </p:spPr>
        <p:txBody>
          <a:bodyPr/>
          <a:lstStyle/>
          <a:p>
            <a:r>
              <a:rPr/>
              <a:t>Fig09 trait environment mechanisms 500sp top journal editable</a:t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274320" y="502920"/>
            <a:ext cx="11658600" cy="6172200"/>
            <a:chOff x="274320" y="502920"/>
            <a:chExt cx="11658600" cy="6172200"/>
          </a:xfrm>
        </p:grpSpPr>
        <p:sp>
          <p:nvSpPr>
            <p:cNvPr id="4" name="rc3"/>
            <p:cNvSpPr/>
            <p:nvPr/>
          </p:nvSpPr>
          <p:spPr>
            <a:xfrm>
              <a:off x="274320" y="502920"/>
              <a:ext cx="11658600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74320" y="502920"/>
              <a:ext cx="11658599" cy="6172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1086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400845" y="1004322"/>
              <a:ext cx="4818976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34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5219821" y="1004322"/>
              <a:ext cx="6586572" cy="55695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034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1352529" y="1289838"/>
              <a:ext cx="3740767" cy="4917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364965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2320925" y="26310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1522564" y="2631053"/>
              <a:ext cx="798361" cy="0"/>
            </a:xfrm>
            <a:custGeom>
              <a:avLst/>
              <a:pathLst>
                <a:path w="798361" h="0">
                  <a:moveTo>
                    <a:pt x="798361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1522564" y="263105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4923261" y="4866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4081701" y="4866413"/>
              <a:ext cx="841560" cy="0"/>
            </a:xfrm>
            <a:custGeom>
              <a:avLst/>
              <a:pathLst>
                <a:path w="841560" h="0">
                  <a:moveTo>
                    <a:pt x="84156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4081701" y="486641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t15"/>
            <p:cNvSpPr/>
            <p:nvPr/>
          </p:nvSpPr>
          <p:spPr>
            <a:xfrm>
              <a:off x="1841172" y="2597806"/>
              <a:ext cx="66495" cy="6649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8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6"/>
            <p:cNvSpPr/>
            <p:nvPr/>
          </p:nvSpPr>
          <p:spPr>
            <a:xfrm>
              <a:off x="4532205" y="4833166"/>
              <a:ext cx="66495" cy="66495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6872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1352529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8"/>
            <p:cNvSpPr/>
            <p:nvPr/>
          </p:nvSpPr>
          <p:spPr>
            <a:xfrm>
              <a:off x="644962" y="4831849"/>
              <a:ext cx="659739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Habitat breadth</a:t>
              </a:r>
            </a:p>
          </p:txBody>
        </p:sp>
        <p:sp>
          <p:nvSpPr>
            <p:cNvPr id="20" name="tx19"/>
            <p:cNvSpPr/>
            <p:nvPr/>
          </p:nvSpPr>
          <p:spPr>
            <a:xfrm>
              <a:off x="527371" y="2596489"/>
              <a:ext cx="777331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Diet specialization</a:t>
              </a:r>
            </a:p>
          </p:txBody>
        </p:sp>
        <p:sp>
          <p:nvSpPr>
            <p:cNvPr id="21" name="pl20"/>
            <p:cNvSpPr/>
            <p:nvPr/>
          </p:nvSpPr>
          <p:spPr>
            <a:xfrm>
              <a:off x="1325958" y="4866413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1325958" y="2631053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1352529" y="6207629"/>
              <a:ext cx="3740767" cy="0"/>
            </a:xfrm>
            <a:custGeom>
              <a:avLst/>
              <a:pathLst>
                <a:path w="3740767" h="0">
                  <a:moveTo>
                    <a:pt x="0" y="0"/>
                  </a:moveTo>
                  <a:lnTo>
                    <a:pt x="3740767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364965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4"/>
            <p:cNvSpPr/>
            <p:nvPr/>
          </p:nvSpPr>
          <p:spPr>
            <a:xfrm>
              <a:off x="3657354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5"/>
            <p:cNvSpPr/>
            <p:nvPr/>
          </p:nvSpPr>
          <p:spPr>
            <a:xfrm>
              <a:off x="4949742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tx26"/>
            <p:cNvSpPr/>
            <p:nvPr/>
          </p:nvSpPr>
          <p:spPr>
            <a:xfrm>
              <a:off x="2297894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8" name="tx27"/>
            <p:cNvSpPr/>
            <p:nvPr/>
          </p:nvSpPr>
          <p:spPr>
            <a:xfrm>
              <a:off x="3590282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9" name="tx28"/>
            <p:cNvSpPr/>
            <p:nvPr/>
          </p:nvSpPr>
          <p:spPr>
            <a:xfrm>
              <a:off x="4882671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30" name="tx29"/>
            <p:cNvSpPr/>
            <p:nvPr/>
          </p:nvSpPr>
          <p:spPr>
            <a:xfrm>
              <a:off x="2385048" y="6372460"/>
              <a:ext cx="1675729" cy="76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4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Spearman rho with species trend</a:t>
              </a:r>
            </a:p>
          </p:txBody>
        </p:sp>
        <p:sp>
          <p:nvSpPr>
            <p:cNvPr id="31" name="tx30"/>
            <p:cNvSpPr/>
            <p:nvPr/>
          </p:nvSpPr>
          <p:spPr>
            <a:xfrm>
              <a:off x="1352529" y="1105542"/>
              <a:ext cx="1208196" cy="102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Trait associations</a:t>
              </a:r>
            </a:p>
          </p:txBody>
        </p:sp>
        <p:sp>
          <p:nvSpPr>
            <p:cNvPr id="32" name="rc31"/>
            <p:cNvSpPr/>
            <p:nvPr/>
          </p:nvSpPr>
          <p:spPr>
            <a:xfrm>
              <a:off x="6954689" y="1289838"/>
              <a:ext cx="4725179" cy="491779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2"/>
            <p:cNvSpPr/>
            <p:nvPr/>
          </p:nvSpPr>
          <p:spPr>
            <a:xfrm>
              <a:off x="7032151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9EA8B1">
                  <a:alpha val="100000"/>
                </a:srgbClr>
              </a:solidFill>
              <a:custDash>
                <a:ds d="0" sp="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7032151" y="3874677"/>
              <a:ext cx="3600121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7032151" y="2675215"/>
              <a:ext cx="3784423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7032151" y="5074138"/>
              <a:ext cx="3534746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7032151" y="3274946"/>
              <a:ext cx="3772072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7032151" y="2075485"/>
              <a:ext cx="3854820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7032151" y="4474408"/>
              <a:ext cx="3594903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7032151" y="5673869"/>
              <a:ext cx="3404961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7032151" y="1475754"/>
              <a:ext cx="3873098" cy="347843"/>
            </a:xfrm>
            <a:prstGeom prst="rect">
              <a:avLst/>
            </a:prstGeom>
            <a:solidFill>
              <a:srgbClr val="0072B2">
                <a:alpha val="87843"/>
              </a:srgbClr>
            </a:solidFill>
          </p:spPr>
          <p:txBody>
            <a:bodyPr/>
            <a:lstStyle/>
            <a:p/>
          </p:txBody>
        </p:sp>
        <p:sp>
          <p:nvSpPr>
            <p:cNvPr id="42" name="tx41"/>
            <p:cNvSpPr/>
            <p:nvPr/>
          </p:nvSpPr>
          <p:spPr>
            <a:xfrm>
              <a:off x="10662639" y="4016183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10846941" y="2816722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10597264" y="5215645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10834590" y="3416453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10917338" y="2216991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7" name="tx46"/>
            <p:cNvSpPr/>
            <p:nvPr/>
          </p:nvSpPr>
          <p:spPr>
            <a:xfrm>
              <a:off x="10657421" y="4615914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10467479" y="5815375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49" name="tx48"/>
            <p:cNvSpPr/>
            <p:nvPr/>
          </p:nvSpPr>
          <p:spPr>
            <a:xfrm>
              <a:off x="10935616" y="1617260"/>
              <a:ext cx="303672" cy="6483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50" name="pl49"/>
            <p:cNvSpPr/>
            <p:nvPr/>
          </p:nvSpPr>
          <p:spPr>
            <a:xfrm>
              <a:off x="6954689" y="1289838"/>
              <a:ext cx="0" cy="4917791"/>
            </a:xfrm>
            <a:custGeom>
              <a:avLst/>
              <a:pathLst>
                <a:path w="0" h="4917791">
                  <a:moveTo>
                    <a:pt x="0" y="4917791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0"/>
            <p:cNvSpPr/>
            <p:nvPr/>
          </p:nvSpPr>
          <p:spPr>
            <a:xfrm>
              <a:off x="6252609" y="5813227"/>
              <a:ext cx="654253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Landcover built</a:t>
              </a:r>
            </a:p>
          </p:txBody>
        </p:sp>
        <p:sp>
          <p:nvSpPr>
            <p:cNvPr id="52" name="tx51"/>
            <p:cNvSpPr/>
            <p:nvPr/>
          </p:nvSpPr>
          <p:spPr>
            <a:xfrm>
              <a:off x="5346347" y="5213496"/>
              <a:ext cx="1560515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Mean temperature of coldest quarter</a:t>
              </a:r>
            </a:p>
          </p:txBody>
        </p:sp>
        <p:sp>
          <p:nvSpPr>
            <p:cNvPr id="53" name="tx52"/>
            <p:cNvSpPr/>
            <p:nvPr/>
          </p:nvSpPr>
          <p:spPr>
            <a:xfrm>
              <a:off x="6520802" y="4613765"/>
              <a:ext cx="386059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Hfi mean</a:t>
              </a:r>
            </a:p>
          </p:txBody>
        </p:sp>
        <p:sp>
          <p:nvSpPr>
            <p:cNvPr id="54" name="tx53"/>
            <p:cNvSpPr/>
            <p:nvPr/>
          </p:nvSpPr>
          <p:spPr>
            <a:xfrm>
              <a:off x="5845244" y="4014034"/>
              <a:ext cx="1061618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Temperature seasonality</a:t>
              </a:r>
            </a:p>
          </p:txBody>
        </p:sp>
        <p:sp>
          <p:nvSpPr>
            <p:cNvPr id="55" name="tx54"/>
            <p:cNvSpPr/>
            <p:nvPr/>
          </p:nvSpPr>
          <p:spPr>
            <a:xfrm>
              <a:off x="5641515" y="3414304"/>
              <a:ext cx="1265346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Precipitation of wettest month</a:t>
              </a:r>
            </a:p>
          </p:txBody>
        </p:sp>
        <p:sp>
          <p:nvSpPr>
            <p:cNvPr id="56" name="tx55"/>
            <p:cNvSpPr/>
            <p:nvPr/>
          </p:nvSpPr>
          <p:spPr>
            <a:xfrm>
              <a:off x="5764411" y="2814573"/>
              <a:ext cx="1142451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Temperature annual range</a:t>
              </a:r>
            </a:p>
          </p:txBody>
        </p:sp>
        <p:sp>
          <p:nvSpPr>
            <p:cNvPr id="57" name="tx56"/>
            <p:cNvSpPr/>
            <p:nvPr/>
          </p:nvSpPr>
          <p:spPr>
            <a:xfrm>
              <a:off x="6510104" y="2214842"/>
              <a:ext cx="396758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Elevation</a:t>
              </a:r>
            </a:p>
          </p:txBody>
        </p:sp>
        <p:sp>
          <p:nvSpPr>
            <p:cNvPr id="58" name="tx57"/>
            <p:cNvSpPr/>
            <p:nvPr/>
          </p:nvSpPr>
          <p:spPr>
            <a:xfrm>
              <a:off x="6059488" y="1615112"/>
              <a:ext cx="847374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Landcover cropland</a:t>
              </a:r>
            </a:p>
          </p:txBody>
        </p:sp>
        <p:sp>
          <p:nvSpPr>
            <p:cNvPr id="59" name="pl58"/>
            <p:cNvSpPr/>
            <p:nvPr/>
          </p:nvSpPr>
          <p:spPr>
            <a:xfrm>
              <a:off x="6928118" y="5847791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59"/>
            <p:cNvSpPr/>
            <p:nvPr/>
          </p:nvSpPr>
          <p:spPr>
            <a:xfrm>
              <a:off x="6928118" y="5248060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0"/>
            <p:cNvSpPr/>
            <p:nvPr/>
          </p:nvSpPr>
          <p:spPr>
            <a:xfrm>
              <a:off x="6928118" y="4648329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1"/>
            <p:cNvSpPr/>
            <p:nvPr/>
          </p:nvSpPr>
          <p:spPr>
            <a:xfrm>
              <a:off x="6928118" y="4048599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2"/>
            <p:cNvSpPr/>
            <p:nvPr/>
          </p:nvSpPr>
          <p:spPr>
            <a:xfrm>
              <a:off x="6928118" y="3448868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3"/>
            <p:cNvSpPr/>
            <p:nvPr/>
          </p:nvSpPr>
          <p:spPr>
            <a:xfrm>
              <a:off x="6928118" y="2849137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4"/>
            <p:cNvSpPr/>
            <p:nvPr/>
          </p:nvSpPr>
          <p:spPr>
            <a:xfrm>
              <a:off x="6928118" y="2249407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5"/>
            <p:cNvSpPr/>
            <p:nvPr/>
          </p:nvSpPr>
          <p:spPr>
            <a:xfrm>
              <a:off x="6928118" y="1649676"/>
              <a:ext cx="26570" cy="0"/>
            </a:xfrm>
            <a:custGeom>
              <a:avLst/>
              <a:pathLst>
                <a:path w="26570" h="0">
                  <a:moveTo>
                    <a:pt x="0" y="0"/>
                  </a:moveTo>
                  <a:lnTo>
                    <a:pt x="2657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6"/>
            <p:cNvSpPr/>
            <p:nvPr/>
          </p:nvSpPr>
          <p:spPr>
            <a:xfrm>
              <a:off x="6954689" y="6207629"/>
              <a:ext cx="4725179" cy="0"/>
            </a:xfrm>
            <a:custGeom>
              <a:avLst/>
              <a:pathLst>
                <a:path w="4725179" h="0">
                  <a:moveTo>
                    <a:pt x="0" y="0"/>
                  </a:moveTo>
                  <a:lnTo>
                    <a:pt x="4725179" y="0"/>
                  </a:lnTo>
                </a:path>
              </a:pathLst>
            </a:custGeom>
            <a:ln w="9485" cap="sq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7"/>
            <p:cNvSpPr/>
            <p:nvPr/>
          </p:nvSpPr>
          <p:spPr>
            <a:xfrm>
              <a:off x="7032151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8"/>
            <p:cNvSpPr/>
            <p:nvPr/>
          </p:nvSpPr>
          <p:spPr>
            <a:xfrm>
              <a:off x="8037509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69"/>
            <p:cNvSpPr/>
            <p:nvPr/>
          </p:nvSpPr>
          <p:spPr>
            <a:xfrm>
              <a:off x="9042867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0"/>
            <p:cNvSpPr/>
            <p:nvPr/>
          </p:nvSpPr>
          <p:spPr>
            <a:xfrm>
              <a:off x="10048225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1"/>
            <p:cNvSpPr/>
            <p:nvPr/>
          </p:nvSpPr>
          <p:spPr>
            <a:xfrm>
              <a:off x="11053583" y="6207629"/>
              <a:ext cx="0" cy="26570"/>
            </a:xfrm>
            <a:custGeom>
              <a:avLst/>
              <a:pathLst>
                <a:path w="0" h="26570">
                  <a:moveTo>
                    <a:pt x="0" y="26570"/>
                  </a:moveTo>
                  <a:lnTo>
                    <a:pt x="0" y="0"/>
                  </a:lnTo>
                </a:path>
              </a:pathLst>
            </a:custGeom>
            <a:ln w="9485" cap="flat">
              <a:solidFill>
                <a:srgbClr val="2634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2"/>
            <p:cNvSpPr/>
            <p:nvPr/>
          </p:nvSpPr>
          <p:spPr>
            <a:xfrm>
              <a:off x="6965079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74" name="tx73"/>
            <p:cNvSpPr/>
            <p:nvPr/>
          </p:nvSpPr>
          <p:spPr>
            <a:xfrm>
              <a:off x="7970438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75" name="tx74"/>
            <p:cNvSpPr/>
            <p:nvPr/>
          </p:nvSpPr>
          <p:spPr>
            <a:xfrm>
              <a:off x="8975796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76" name="tx75"/>
            <p:cNvSpPr/>
            <p:nvPr/>
          </p:nvSpPr>
          <p:spPr>
            <a:xfrm>
              <a:off x="9981154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77" name="tx76"/>
            <p:cNvSpPr/>
            <p:nvPr/>
          </p:nvSpPr>
          <p:spPr>
            <a:xfrm>
              <a:off x="10986512" y="6255456"/>
              <a:ext cx="134142" cy="691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60" i="0" b="0">
                  <a:solidFill>
                    <a:srgbClr val="35424A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78" name="tx77"/>
            <p:cNvSpPr/>
            <p:nvPr/>
          </p:nvSpPr>
          <p:spPr>
            <a:xfrm>
              <a:off x="8479414" y="6372460"/>
              <a:ext cx="1675729" cy="766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4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Spearman rho with species trend</a:t>
              </a:r>
            </a:p>
          </p:txBody>
        </p:sp>
        <p:sp>
          <p:nvSpPr>
            <p:cNvPr id="79" name="tx78"/>
            <p:cNvSpPr/>
            <p:nvPr/>
          </p:nvSpPr>
          <p:spPr>
            <a:xfrm>
              <a:off x="6954689" y="1105542"/>
              <a:ext cx="2021464" cy="1022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2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Climate-gradient associations</a:t>
              </a:r>
            </a:p>
          </p:txBody>
        </p:sp>
        <p:sp>
          <p:nvSpPr>
            <p:cNvPr id="80" name="tx79"/>
            <p:cNvSpPr/>
            <p:nvPr/>
          </p:nvSpPr>
          <p:spPr>
            <a:xfrm>
              <a:off x="527371" y="795751"/>
              <a:ext cx="452865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52616B">
                      <a:alpha val="100000"/>
                    </a:srgbClr>
                  </a:solidFill>
                  <a:latin typeface="Helvetica"/>
                  <a:cs typeface="Helvetica"/>
                </a:rPr>
                <a:t>Complete-case trait and environmental screens; interpret as association, not causal effect</a:t>
              </a:r>
            </a:p>
          </p:txBody>
        </p:sp>
        <p:sp>
          <p:nvSpPr>
            <p:cNvPr id="81" name="tx80"/>
            <p:cNvSpPr/>
            <p:nvPr/>
          </p:nvSpPr>
          <p:spPr>
            <a:xfrm>
              <a:off x="527371" y="604140"/>
              <a:ext cx="3771168" cy="1078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80" i="0" b="1">
                  <a:solidFill>
                    <a:srgbClr val="1E2A32">
                      <a:alpha val="100000"/>
                    </a:srgbClr>
                  </a:solidFill>
                  <a:latin typeface="Helvetica"/>
                  <a:cs typeface="Helvetica"/>
                </a:rPr>
                <a:t>Ecological mechanisms in the 500-species extension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2026-07-14T22:16:11Z</dcterms:modified>
  <cp:category/>
</cp:coreProperties>
</file>