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20040" y="128016"/>
            <a:ext cx="11521440" cy="310896"/>
          </a:xfrm>
        </p:spPr>
        <p:txBody>
          <a:bodyPr/>
          <a:lstStyle/>
          <a:p>
            <a:r>
              <a:rPr/>
              <a:t>Fig05 species trend classes 500sp top journal editable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274320" y="502920"/>
            <a:ext cx="11658600" cy="6172200"/>
            <a:chOff x="274320" y="502920"/>
            <a:chExt cx="11658600" cy="6172200"/>
          </a:xfrm>
        </p:grpSpPr>
        <p:sp>
          <p:nvSpPr>
            <p:cNvPr id="4" name="rc3"/>
            <p:cNvSpPr/>
            <p:nvPr/>
          </p:nvSpPr>
          <p:spPr>
            <a:xfrm>
              <a:off x="274320" y="502920"/>
              <a:ext cx="11658600" cy="6172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74320" y="502920"/>
              <a:ext cx="11658600" cy="6172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400845" y="1004322"/>
              <a:ext cx="4254173" cy="55695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0101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4655019" y="1004322"/>
              <a:ext cx="7151375" cy="55695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0101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937867" y="1287643"/>
              <a:ext cx="3590625" cy="449946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411177" y="1375868"/>
              <a:ext cx="1011903" cy="44112"/>
            </a:xfrm>
            <a:prstGeom prst="rect">
              <a:avLst/>
            </a:prstGeom>
            <a:solidFill>
              <a:srgbClr val="D55E00">
                <a:alpha val="100000"/>
              </a:srgbClr>
            </a:solidFill>
            <a:ln w="677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411177" y="2787464"/>
              <a:ext cx="1011903" cy="2999642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  <a:ln w="677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411177" y="1419980"/>
              <a:ext cx="1011903" cy="1367483"/>
            </a:xfrm>
            <a:prstGeom prst="rect">
              <a:avLst/>
            </a:prstGeom>
            <a:solidFill>
              <a:srgbClr val="8C96A3">
                <a:alpha val="100000"/>
              </a:srgbClr>
            </a:solidFill>
            <a:ln w="677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3043280" y="1375868"/>
              <a:ext cx="1011903" cy="132337"/>
            </a:xfrm>
            <a:prstGeom prst="rect">
              <a:avLst/>
            </a:prstGeom>
            <a:solidFill>
              <a:srgbClr val="D55E00">
                <a:alpha val="100000"/>
              </a:srgbClr>
            </a:solidFill>
            <a:ln w="677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3043280" y="3510907"/>
              <a:ext cx="1011903" cy="2276199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  <a:ln w="677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3043280" y="1508205"/>
              <a:ext cx="1011903" cy="2002702"/>
            </a:xfrm>
            <a:prstGeom prst="rect">
              <a:avLst/>
            </a:prstGeom>
            <a:solidFill>
              <a:srgbClr val="8C96A3">
                <a:alpha val="100000"/>
              </a:srgbClr>
            </a:solidFill>
            <a:ln w="677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1892028" y="1315642"/>
              <a:ext cx="5020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1814259" y="1415375"/>
              <a:ext cx="20574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1.0%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1841828" y="4205003"/>
              <a:ext cx="150601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136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1789158" y="4304736"/>
              <a:ext cx="25594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68.0%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1866928" y="2021440"/>
              <a:ext cx="100401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62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1789158" y="2121173"/>
              <a:ext cx="25594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31.0%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3499031" y="1359755"/>
              <a:ext cx="100401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15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3446361" y="1459487"/>
              <a:ext cx="20574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3.0%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473931" y="4566725"/>
              <a:ext cx="150601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258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421261" y="4666457"/>
              <a:ext cx="25594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51.6%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3473931" y="2427274"/>
              <a:ext cx="150601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227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3421261" y="2527007"/>
              <a:ext cx="25594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45.4%</a:t>
              </a:r>
            </a:p>
          </p:txBody>
        </p:sp>
        <p:sp>
          <p:nvSpPr>
            <p:cNvPr id="27" name="pl26"/>
            <p:cNvSpPr/>
            <p:nvPr/>
          </p:nvSpPr>
          <p:spPr>
            <a:xfrm>
              <a:off x="937867" y="1287643"/>
              <a:ext cx="0" cy="4499463"/>
            </a:xfrm>
            <a:custGeom>
              <a:avLst/>
              <a:pathLst>
                <a:path w="0" h="4499463">
                  <a:moveTo>
                    <a:pt x="0" y="4499463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7"/>
            <p:cNvSpPr/>
            <p:nvPr/>
          </p:nvSpPr>
          <p:spPr>
            <a:xfrm>
              <a:off x="755482" y="5753456"/>
              <a:ext cx="135696" cy="672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703270" y="4650647"/>
              <a:ext cx="187909" cy="672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703270" y="3547837"/>
              <a:ext cx="187909" cy="672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703270" y="2445027"/>
              <a:ext cx="187909" cy="672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651058" y="1342218"/>
              <a:ext cx="240121" cy="672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33" name="pl32"/>
            <p:cNvSpPr/>
            <p:nvPr/>
          </p:nvSpPr>
          <p:spPr>
            <a:xfrm>
              <a:off x="911929" y="5787106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911929" y="4684297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911929" y="3581487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911929" y="2478677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911929" y="1375868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937867" y="5787106"/>
              <a:ext cx="3590625" cy="0"/>
            </a:xfrm>
            <a:custGeom>
              <a:avLst/>
              <a:pathLst>
                <a:path w="3590625" h="0">
                  <a:moveTo>
                    <a:pt x="0" y="0"/>
                  </a:moveTo>
                  <a:lnTo>
                    <a:pt x="3590625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1917129" y="5787106"/>
              <a:ext cx="0" cy="25937"/>
            </a:xfrm>
            <a:custGeom>
              <a:avLst/>
              <a:pathLst>
                <a:path w="0" h="25937">
                  <a:moveTo>
                    <a:pt x="0" y="25937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3549231" y="5787106"/>
              <a:ext cx="0" cy="25937"/>
            </a:xfrm>
            <a:custGeom>
              <a:avLst/>
              <a:pathLst>
                <a:path w="0" h="25937">
                  <a:moveTo>
                    <a:pt x="0" y="25937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0"/>
            <p:cNvSpPr/>
            <p:nvPr/>
          </p:nvSpPr>
          <p:spPr>
            <a:xfrm>
              <a:off x="1491841" y="5833794"/>
              <a:ext cx="850574" cy="674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1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200 spatial species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074475" y="5833794"/>
              <a:ext cx="949512" cy="674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1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500 temporal species</a:t>
              </a:r>
            </a:p>
          </p:txBody>
        </p:sp>
        <p:sp>
          <p:nvSpPr>
            <p:cNvPr id="43" name="tx42"/>
            <p:cNvSpPr/>
            <p:nvPr/>
          </p:nvSpPr>
          <p:spPr>
            <a:xfrm rot="-5400000">
              <a:off x="215194" y="3499976"/>
              <a:ext cx="699150" cy="747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9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Species share</a:t>
              </a:r>
            </a:p>
          </p:txBody>
        </p:sp>
        <p:sp>
          <p:nvSpPr>
            <p:cNvPr id="44" name="rc43"/>
            <p:cNvSpPr/>
            <p:nvPr/>
          </p:nvSpPr>
          <p:spPr>
            <a:xfrm>
              <a:off x="1679781" y="6149472"/>
              <a:ext cx="2106797" cy="32320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4"/>
            <p:cNvSpPr/>
            <p:nvPr/>
          </p:nvSpPr>
          <p:spPr>
            <a:xfrm>
              <a:off x="1731657" y="620134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1736157" y="6205847"/>
              <a:ext cx="210455" cy="210456"/>
            </a:xfrm>
            <a:prstGeom prst="rect">
              <a:avLst/>
            </a:prstGeom>
            <a:solidFill>
              <a:srgbClr val="D55E00">
                <a:alpha val="100000"/>
              </a:srgbClr>
            </a:solidFill>
            <a:ln w="677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2440923" y="6201347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7"/>
            <p:cNvSpPr/>
            <p:nvPr/>
          </p:nvSpPr>
          <p:spPr>
            <a:xfrm>
              <a:off x="2445423" y="6205847"/>
              <a:ext cx="210455" cy="210456"/>
            </a:xfrm>
            <a:prstGeom prst="rect">
              <a:avLst/>
            </a:prstGeom>
            <a:solidFill>
              <a:srgbClr val="8C96A3">
                <a:alpha val="100000"/>
              </a:srgbClr>
            </a:solidFill>
            <a:ln w="677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3030312" y="6201347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3034812" y="6205847"/>
              <a:ext cx="210455" cy="210456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  <a:ln w="677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tx50"/>
            <p:cNvSpPr/>
            <p:nvPr/>
          </p:nvSpPr>
          <p:spPr>
            <a:xfrm>
              <a:off x="2002988" y="6277425"/>
              <a:ext cx="386059" cy="672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Declining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2712255" y="6277425"/>
              <a:ext cx="266181" cy="672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Stable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3301644" y="6277425"/>
              <a:ext cx="433059" cy="672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Increasing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937867" y="1105542"/>
              <a:ext cx="932139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Trend classes</a:t>
              </a:r>
            </a:p>
          </p:txBody>
        </p:sp>
        <p:sp>
          <p:nvSpPr>
            <p:cNvPr id="55" name="rc54"/>
            <p:cNvSpPr/>
            <p:nvPr/>
          </p:nvSpPr>
          <p:spPr>
            <a:xfrm>
              <a:off x="5894971" y="1287643"/>
              <a:ext cx="5784897" cy="449946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8160420" y="1287643"/>
              <a:ext cx="0" cy="4499463"/>
            </a:xfrm>
            <a:custGeom>
              <a:avLst/>
              <a:pathLst>
                <a:path w="0" h="4499463">
                  <a:moveTo>
                    <a:pt x="0" y="449946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AAB4B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11416919" y="146525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10165790" y="1465253"/>
              <a:ext cx="1251128" cy="0"/>
            </a:xfrm>
            <a:custGeom>
              <a:avLst/>
              <a:pathLst>
                <a:path w="1251128" h="0">
                  <a:moveTo>
                    <a:pt x="1251128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10165790" y="146525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11311712" y="176127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9323322" y="1761271"/>
              <a:ext cx="1988389" cy="0"/>
            </a:xfrm>
            <a:custGeom>
              <a:avLst/>
              <a:pathLst>
                <a:path w="1988389" h="0">
                  <a:moveTo>
                    <a:pt x="1988389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9323322" y="176127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10831455" y="205728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9291628" y="2057288"/>
              <a:ext cx="1539826" cy="0"/>
            </a:xfrm>
            <a:custGeom>
              <a:avLst/>
              <a:pathLst>
                <a:path w="1539826" h="0">
                  <a:moveTo>
                    <a:pt x="1539826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9291628" y="205728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10632189" y="235330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9434652" y="2353305"/>
              <a:ext cx="1197536" cy="0"/>
            </a:xfrm>
            <a:custGeom>
              <a:avLst/>
              <a:pathLst>
                <a:path w="1197536" h="0">
                  <a:moveTo>
                    <a:pt x="1197536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9434652" y="235330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10598961" y="26493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9351146" y="2649323"/>
              <a:ext cx="1247815" cy="0"/>
            </a:xfrm>
            <a:custGeom>
              <a:avLst/>
              <a:pathLst>
                <a:path w="1247815" h="0">
                  <a:moveTo>
                    <a:pt x="1247815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9351146" y="26493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10885721" y="294534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9068801" y="2945340"/>
              <a:ext cx="1816920" cy="0"/>
            </a:xfrm>
            <a:custGeom>
              <a:avLst/>
              <a:pathLst>
                <a:path w="1816920" h="0">
                  <a:moveTo>
                    <a:pt x="181692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9068801" y="294534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10513653" y="324135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9411075" y="3241357"/>
              <a:ext cx="1102578" cy="0"/>
            </a:xfrm>
            <a:custGeom>
              <a:avLst/>
              <a:pathLst>
                <a:path w="1102578" h="0">
                  <a:moveTo>
                    <a:pt x="1102578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9411075" y="324135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10887071" y="353737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8799370" y="3537375"/>
              <a:ext cx="2087700" cy="0"/>
            </a:xfrm>
            <a:custGeom>
              <a:avLst/>
              <a:pathLst>
                <a:path w="2087700" h="0">
                  <a:moveTo>
                    <a:pt x="208770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79"/>
            <p:cNvSpPr/>
            <p:nvPr/>
          </p:nvSpPr>
          <p:spPr>
            <a:xfrm>
              <a:off x="8799370" y="353737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0"/>
            <p:cNvSpPr/>
            <p:nvPr/>
          </p:nvSpPr>
          <p:spPr>
            <a:xfrm>
              <a:off x="10590220" y="383339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9259511" y="3833392"/>
              <a:ext cx="1330708" cy="0"/>
            </a:xfrm>
            <a:custGeom>
              <a:avLst/>
              <a:pathLst>
                <a:path w="1330708" h="0">
                  <a:moveTo>
                    <a:pt x="1330708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2"/>
            <p:cNvSpPr/>
            <p:nvPr/>
          </p:nvSpPr>
          <p:spPr>
            <a:xfrm>
              <a:off x="9259511" y="383339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3"/>
            <p:cNvSpPr/>
            <p:nvPr/>
          </p:nvSpPr>
          <p:spPr>
            <a:xfrm>
              <a:off x="10598548" y="412940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4"/>
            <p:cNvSpPr/>
            <p:nvPr/>
          </p:nvSpPr>
          <p:spPr>
            <a:xfrm>
              <a:off x="9191040" y="4129409"/>
              <a:ext cx="1407507" cy="0"/>
            </a:xfrm>
            <a:custGeom>
              <a:avLst/>
              <a:pathLst>
                <a:path w="1407507" h="0">
                  <a:moveTo>
                    <a:pt x="1407507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9191040" y="412940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6"/>
            <p:cNvSpPr/>
            <p:nvPr/>
          </p:nvSpPr>
          <p:spPr>
            <a:xfrm>
              <a:off x="7120900" y="56094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7"/>
            <p:cNvSpPr/>
            <p:nvPr/>
          </p:nvSpPr>
          <p:spPr>
            <a:xfrm>
              <a:off x="6157921" y="5609496"/>
              <a:ext cx="962979" cy="0"/>
            </a:xfrm>
            <a:custGeom>
              <a:avLst/>
              <a:pathLst>
                <a:path w="962979" h="0">
                  <a:moveTo>
                    <a:pt x="962979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8"/>
            <p:cNvSpPr/>
            <p:nvPr/>
          </p:nvSpPr>
          <p:spPr>
            <a:xfrm>
              <a:off x="6157921" y="56094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89"/>
            <p:cNvSpPr/>
            <p:nvPr/>
          </p:nvSpPr>
          <p:spPr>
            <a:xfrm>
              <a:off x="7928056" y="531347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6693009" y="5313478"/>
              <a:ext cx="1235046" cy="0"/>
            </a:xfrm>
            <a:custGeom>
              <a:avLst/>
              <a:pathLst>
                <a:path w="1235046" h="0">
                  <a:moveTo>
                    <a:pt x="1235046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6693009" y="531347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8099040" y="501746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3"/>
            <p:cNvSpPr/>
            <p:nvPr/>
          </p:nvSpPr>
          <p:spPr>
            <a:xfrm>
              <a:off x="6511756" y="5017461"/>
              <a:ext cx="1587283" cy="0"/>
            </a:xfrm>
            <a:custGeom>
              <a:avLst/>
              <a:pathLst>
                <a:path w="1587283" h="0">
                  <a:moveTo>
                    <a:pt x="1587283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4"/>
            <p:cNvSpPr/>
            <p:nvPr/>
          </p:nvSpPr>
          <p:spPr>
            <a:xfrm>
              <a:off x="6511756" y="501746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5"/>
            <p:cNvSpPr/>
            <p:nvPr/>
          </p:nvSpPr>
          <p:spPr>
            <a:xfrm>
              <a:off x="8009777" y="472144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6"/>
            <p:cNvSpPr/>
            <p:nvPr/>
          </p:nvSpPr>
          <p:spPr>
            <a:xfrm>
              <a:off x="6845264" y="4721444"/>
              <a:ext cx="1164513" cy="0"/>
            </a:xfrm>
            <a:custGeom>
              <a:avLst/>
              <a:pathLst>
                <a:path w="1164513" h="0">
                  <a:moveTo>
                    <a:pt x="1164513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7"/>
            <p:cNvSpPr/>
            <p:nvPr/>
          </p:nvSpPr>
          <p:spPr>
            <a:xfrm>
              <a:off x="6845264" y="472144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8"/>
            <p:cNvSpPr/>
            <p:nvPr/>
          </p:nvSpPr>
          <p:spPr>
            <a:xfrm>
              <a:off x="8110167" y="442542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99"/>
            <p:cNvSpPr/>
            <p:nvPr/>
          </p:nvSpPr>
          <p:spPr>
            <a:xfrm>
              <a:off x="6496483" y="4425427"/>
              <a:ext cx="1613684" cy="0"/>
            </a:xfrm>
            <a:custGeom>
              <a:avLst/>
              <a:pathLst>
                <a:path w="1613684" h="0">
                  <a:moveTo>
                    <a:pt x="1613684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0"/>
            <p:cNvSpPr/>
            <p:nvPr/>
          </p:nvSpPr>
          <p:spPr>
            <a:xfrm>
              <a:off x="6496483" y="442542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1"/>
            <p:cNvSpPr/>
            <p:nvPr/>
          </p:nvSpPr>
          <p:spPr>
            <a:xfrm>
              <a:off x="10777113" y="1436153"/>
              <a:ext cx="58201" cy="58201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709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2"/>
            <p:cNvSpPr/>
            <p:nvPr/>
          </p:nvSpPr>
          <p:spPr>
            <a:xfrm>
              <a:off x="10344707" y="1732170"/>
              <a:ext cx="58201" cy="58201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709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3"/>
            <p:cNvSpPr/>
            <p:nvPr/>
          </p:nvSpPr>
          <p:spPr>
            <a:xfrm>
              <a:off x="10130458" y="2028187"/>
              <a:ext cx="58201" cy="58201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709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4"/>
            <p:cNvSpPr/>
            <p:nvPr/>
          </p:nvSpPr>
          <p:spPr>
            <a:xfrm>
              <a:off x="10033005" y="2324205"/>
              <a:ext cx="58201" cy="58201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709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5"/>
            <p:cNvSpPr/>
            <p:nvPr/>
          </p:nvSpPr>
          <p:spPr>
            <a:xfrm>
              <a:off x="10009440" y="2620222"/>
              <a:ext cx="58201" cy="58201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709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6"/>
            <p:cNvSpPr/>
            <p:nvPr/>
          </p:nvSpPr>
          <p:spPr>
            <a:xfrm>
              <a:off x="10008908" y="2916239"/>
              <a:ext cx="58201" cy="58201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709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7"/>
            <p:cNvSpPr/>
            <p:nvPr/>
          </p:nvSpPr>
          <p:spPr>
            <a:xfrm>
              <a:off x="10007363" y="3212257"/>
              <a:ext cx="58201" cy="58201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709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8"/>
            <p:cNvSpPr/>
            <p:nvPr/>
          </p:nvSpPr>
          <p:spPr>
            <a:xfrm>
              <a:off x="9975634" y="3508274"/>
              <a:ext cx="58201" cy="58201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709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09"/>
            <p:cNvSpPr/>
            <p:nvPr/>
          </p:nvSpPr>
          <p:spPr>
            <a:xfrm>
              <a:off x="9917253" y="3804291"/>
              <a:ext cx="58201" cy="58201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709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0"/>
            <p:cNvSpPr/>
            <p:nvPr/>
          </p:nvSpPr>
          <p:spPr>
            <a:xfrm>
              <a:off x="9877757" y="4100308"/>
              <a:ext cx="58201" cy="58201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709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1"/>
            <p:cNvSpPr/>
            <p:nvPr/>
          </p:nvSpPr>
          <p:spPr>
            <a:xfrm>
              <a:off x="6569997" y="5580395"/>
              <a:ext cx="58201" cy="58201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709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2"/>
            <p:cNvSpPr/>
            <p:nvPr/>
          </p:nvSpPr>
          <p:spPr>
            <a:xfrm>
              <a:off x="7318750" y="5284378"/>
              <a:ext cx="58201" cy="58201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709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3"/>
            <p:cNvSpPr/>
            <p:nvPr/>
          </p:nvSpPr>
          <p:spPr>
            <a:xfrm>
              <a:off x="7370436" y="4988360"/>
              <a:ext cx="58201" cy="58201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709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4"/>
            <p:cNvSpPr/>
            <p:nvPr/>
          </p:nvSpPr>
          <p:spPr>
            <a:xfrm>
              <a:off x="7377973" y="4692343"/>
              <a:ext cx="58201" cy="58201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709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5"/>
            <p:cNvSpPr/>
            <p:nvPr/>
          </p:nvSpPr>
          <p:spPr>
            <a:xfrm>
              <a:off x="7421049" y="4396326"/>
              <a:ext cx="58201" cy="58201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709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6"/>
            <p:cNvSpPr/>
            <p:nvPr/>
          </p:nvSpPr>
          <p:spPr>
            <a:xfrm>
              <a:off x="5894971" y="1287643"/>
              <a:ext cx="0" cy="4499463"/>
            </a:xfrm>
            <a:custGeom>
              <a:avLst/>
              <a:pathLst>
                <a:path w="0" h="4499463">
                  <a:moveTo>
                    <a:pt x="0" y="4499463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tx117"/>
            <p:cNvSpPr/>
            <p:nvPr/>
          </p:nvSpPr>
          <p:spPr>
            <a:xfrm>
              <a:off x="5291871" y="5576257"/>
              <a:ext cx="556412" cy="66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1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Columba livia</a:t>
              </a:r>
            </a:p>
          </p:txBody>
        </p:sp>
        <p:sp>
          <p:nvSpPr>
            <p:cNvPr id="119" name="tx118"/>
            <p:cNvSpPr/>
            <p:nvPr/>
          </p:nvSpPr>
          <p:spPr>
            <a:xfrm>
              <a:off x="5075341" y="5280240"/>
              <a:ext cx="772942" cy="66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1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Seicercus valentini</a:t>
              </a:r>
            </a:p>
          </p:txBody>
        </p:sp>
        <p:sp>
          <p:nvSpPr>
            <p:cNvPr id="120" name="tx119"/>
            <p:cNvSpPr/>
            <p:nvPr/>
          </p:nvSpPr>
          <p:spPr>
            <a:xfrm>
              <a:off x="4781544" y="4984223"/>
              <a:ext cx="1066739" cy="66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1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Phylloscopus ogilviegranti</a:t>
              </a:r>
            </a:p>
          </p:txBody>
        </p:sp>
        <p:sp>
          <p:nvSpPr>
            <p:cNvPr id="121" name="tx120"/>
            <p:cNvSpPr/>
            <p:nvPr/>
          </p:nvSpPr>
          <p:spPr>
            <a:xfrm>
              <a:off x="5080370" y="4688205"/>
              <a:ext cx="767913" cy="66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1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Coloeus dauuricus</a:t>
              </a:r>
            </a:p>
          </p:txBody>
        </p:sp>
        <p:sp>
          <p:nvSpPr>
            <p:cNvPr id="122" name="tx121"/>
            <p:cNvSpPr/>
            <p:nvPr/>
          </p:nvSpPr>
          <p:spPr>
            <a:xfrm>
              <a:off x="5250448" y="4392188"/>
              <a:ext cx="597834" cy="66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1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Lanius tigrinus</a:t>
              </a:r>
            </a:p>
          </p:txBody>
        </p:sp>
        <p:sp>
          <p:nvSpPr>
            <p:cNvPr id="123" name="tx122"/>
            <p:cNvSpPr/>
            <p:nvPr/>
          </p:nvSpPr>
          <p:spPr>
            <a:xfrm>
              <a:off x="5183606" y="4096171"/>
              <a:ext cx="664677" cy="66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1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Sturnus vulgaris</a:t>
              </a:r>
            </a:p>
          </p:txBody>
        </p:sp>
        <p:sp>
          <p:nvSpPr>
            <p:cNvPr id="124" name="tx123"/>
            <p:cNvSpPr/>
            <p:nvPr/>
          </p:nvSpPr>
          <p:spPr>
            <a:xfrm>
              <a:off x="5173182" y="3800153"/>
              <a:ext cx="675101" cy="66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1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Luscinia svecica</a:t>
              </a:r>
            </a:p>
          </p:txBody>
        </p:sp>
        <p:sp>
          <p:nvSpPr>
            <p:cNvPr id="125" name="tx124"/>
            <p:cNvSpPr/>
            <p:nvPr/>
          </p:nvSpPr>
          <p:spPr>
            <a:xfrm>
              <a:off x="5126913" y="3504136"/>
              <a:ext cx="721370" cy="66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1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Corvus dauuricus</a:t>
              </a:r>
            </a:p>
          </p:txBody>
        </p:sp>
        <p:sp>
          <p:nvSpPr>
            <p:cNvPr id="126" name="tx125"/>
            <p:cNvSpPr/>
            <p:nvPr/>
          </p:nvSpPr>
          <p:spPr>
            <a:xfrm>
              <a:off x="4848478" y="3208119"/>
              <a:ext cx="999804" cy="66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1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Himantopus himantopus</a:t>
              </a:r>
            </a:p>
          </p:txBody>
        </p:sp>
        <p:sp>
          <p:nvSpPr>
            <p:cNvPr id="127" name="tx126"/>
            <p:cNvSpPr/>
            <p:nvPr/>
          </p:nvSpPr>
          <p:spPr>
            <a:xfrm>
              <a:off x="5142366" y="2912101"/>
              <a:ext cx="705916" cy="66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1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Ardea intermedia</a:t>
              </a:r>
            </a:p>
          </p:txBody>
        </p:sp>
        <p:sp>
          <p:nvSpPr>
            <p:cNvPr id="128" name="tx127"/>
            <p:cNvSpPr/>
            <p:nvPr/>
          </p:nvSpPr>
          <p:spPr>
            <a:xfrm>
              <a:off x="5085582" y="2616084"/>
              <a:ext cx="762701" cy="66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1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Chlidonias hybrida</a:t>
              </a:r>
            </a:p>
          </p:txBody>
        </p:sp>
        <p:sp>
          <p:nvSpPr>
            <p:cNvPr id="129" name="tx128"/>
            <p:cNvSpPr/>
            <p:nvPr/>
          </p:nvSpPr>
          <p:spPr>
            <a:xfrm>
              <a:off x="5116489" y="2320067"/>
              <a:ext cx="731794" cy="66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1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Vanellus cinereus</a:t>
              </a:r>
            </a:p>
          </p:txBody>
        </p:sp>
        <p:sp>
          <p:nvSpPr>
            <p:cNvPr id="130" name="tx129"/>
            <p:cNvSpPr/>
            <p:nvPr/>
          </p:nvSpPr>
          <p:spPr>
            <a:xfrm>
              <a:off x="4992862" y="2024050"/>
              <a:ext cx="855421" cy="66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1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Picoides canicapillus</a:t>
              </a:r>
            </a:p>
          </p:txBody>
        </p:sp>
        <p:sp>
          <p:nvSpPr>
            <p:cNvPr id="131" name="tx130"/>
            <p:cNvSpPr/>
            <p:nvPr/>
          </p:nvSpPr>
          <p:spPr>
            <a:xfrm>
              <a:off x="5013527" y="1728032"/>
              <a:ext cx="834755" cy="66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1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Pernis ptilorhynchus</a:t>
              </a:r>
            </a:p>
          </p:txBody>
        </p:sp>
        <p:sp>
          <p:nvSpPr>
            <p:cNvPr id="132" name="tx131"/>
            <p:cNvSpPr/>
            <p:nvPr/>
          </p:nvSpPr>
          <p:spPr>
            <a:xfrm>
              <a:off x="5415498" y="1432015"/>
              <a:ext cx="432785" cy="66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1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Fulica atra</a:t>
              </a:r>
            </a:p>
          </p:txBody>
        </p:sp>
        <p:sp>
          <p:nvSpPr>
            <p:cNvPr id="133" name="pl132"/>
            <p:cNvSpPr/>
            <p:nvPr/>
          </p:nvSpPr>
          <p:spPr>
            <a:xfrm>
              <a:off x="5869033" y="5609496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3"/>
            <p:cNvSpPr/>
            <p:nvPr/>
          </p:nvSpPr>
          <p:spPr>
            <a:xfrm>
              <a:off x="5869033" y="5313478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4"/>
            <p:cNvSpPr/>
            <p:nvPr/>
          </p:nvSpPr>
          <p:spPr>
            <a:xfrm>
              <a:off x="5869033" y="5017461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5"/>
            <p:cNvSpPr/>
            <p:nvPr/>
          </p:nvSpPr>
          <p:spPr>
            <a:xfrm>
              <a:off x="5869033" y="4721444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5869033" y="4425427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7"/>
            <p:cNvSpPr/>
            <p:nvPr/>
          </p:nvSpPr>
          <p:spPr>
            <a:xfrm>
              <a:off x="5869033" y="4129409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5869033" y="3833392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5869033" y="3537375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5869033" y="3241357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5869033" y="2945340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5869033" y="2649323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5869033" y="2353305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5869033" y="2057288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5"/>
            <p:cNvSpPr/>
            <p:nvPr/>
          </p:nvSpPr>
          <p:spPr>
            <a:xfrm>
              <a:off x="5869033" y="1761271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6"/>
            <p:cNvSpPr/>
            <p:nvPr/>
          </p:nvSpPr>
          <p:spPr>
            <a:xfrm>
              <a:off x="5869033" y="1465253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7"/>
            <p:cNvSpPr/>
            <p:nvPr/>
          </p:nvSpPr>
          <p:spPr>
            <a:xfrm>
              <a:off x="5894971" y="5787106"/>
              <a:ext cx="5784897" cy="0"/>
            </a:xfrm>
            <a:custGeom>
              <a:avLst/>
              <a:pathLst>
                <a:path w="5784897" h="0">
                  <a:moveTo>
                    <a:pt x="0" y="0"/>
                  </a:moveTo>
                  <a:lnTo>
                    <a:pt x="5784897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6938927" y="5787106"/>
              <a:ext cx="0" cy="25937"/>
            </a:xfrm>
            <a:custGeom>
              <a:avLst/>
              <a:pathLst>
                <a:path w="0" h="25937">
                  <a:moveTo>
                    <a:pt x="0" y="25937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8160420" y="5787106"/>
              <a:ext cx="0" cy="25937"/>
            </a:xfrm>
            <a:custGeom>
              <a:avLst/>
              <a:pathLst>
                <a:path w="0" h="25937">
                  <a:moveTo>
                    <a:pt x="0" y="25937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9381913" y="5787106"/>
              <a:ext cx="0" cy="25937"/>
            </a:xfrm>
            <a:custGeom>
              <a:avLst/>
              <a:pathLst>
                <a:path w="0" h="25937">
                  <a:moveTo>
                    <a:pt x="0" y="25937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10603405" y="5787106"/>
              <a:ext cx="0" cy="25937"/>
            </a:xfrm>
            <a:custGeom>
              <a:avLst/>
              <a:pathLst>
                <a:path w="0" h="25937">
                  <a:moveTo>
                    <a:pt x="0" y="25937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tx152"/>
            <p:cNvSpPr/>
            <p:nvPr/>
          </p:nvSpPr>
          <p:spPr>
            <a:xfrm>
              <a:off x="6831942" y="5833794"/>
              <a:ext cx="213969" cy="672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-0.05</a:t>
              </a:r>
            </a:p>
          </p:txBody>
        </p:sp>
        <p:sp>
          <p:nvSpPr>
            <p:cNvPr id="154" name="tx153"/>
            <p:cNvSpPr/>
            <p:nvPr/>
          </p:nvSpPr>
          <p:spPr>
            <a:xfrm>
              <a:off x="8069071" y="5833794"/>
              <a:ext cx="182697" cy="672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155" name="tx154"/>
            <p:cNvSpPr/>
            <p:nvPr/>
          </p:nvSpPr>
          <p:spPr>
            <a:xfrm>
              <a:off x="9290564" y="5833794"/>
              <a:ext cx="182697" cy="672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0.05</a:t>
              </a:r>
            </a:p>
          </p:txBody>
        </p:sp>
        <p:sp>
          <p:nvSpPr>
            <p:cNvPr id="156" name="tx155"/>
            <p:cNvSpPr/>
            <p:nvPr/>
          </p:nvSpPr>
          <p:spPr>
            <a:xfrm>
              <a:off x="10512057" y="5833794"/>
              <a:ext cx="182697" cy="672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0.10</a:t>
              </a:r>
            </a:p>
          </p:txBody>
        </p:sp>
        <p:sp>
          <p:nvSpPr>
            <p:cNvPr id="157" name="tx156"/>
            <p:cNvSpPr/>
            <p:nvPr/>
          </p:nvSpPr>
          <p:spPr>
            <a:xfrm>
              <a:off x="8160507" y="5947971"/>
              <a:ext cx="1253825" cy="747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9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Species occupancy trend</a:t>
              </a:r>
            </a:p>
          </p:txBody>
        </p:sp>
        <p:sp>
          <p:nvSpPr>
            <p:cNvPr id="158" name="rc157"/>
            <p:cNvSpPr/>
            <p:nvPr/>
          </p:nvSpPr>
          <p:spPr>
            <a:xfrm>
              <a:off x="8028715" y="6149472"/>
              <a:ext cx="1517408" cy="32320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rc158"/>
            <p:cNvSpPr/>
            <p:nvPr/>
          </p:nvSpPr>
          <p:spPr>
            <a:xfrm>
              <a:off x="8080591" y="620134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pl159"/>
            <p:cNvSpPr/>
            <p:nvPr/>
          </p:nvSpPr>
          <p:spPr>
            <a:xfrm>
              <a:off x="8102536" y="631107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0"/>
            <p:cNvSpPr/>
            <p:nvPr/>
          </p:nvSpPr>
          <p:spPr>
            <a:xfrm>
              <a:off x="8161218" y="6281974"/>
              <a:ext cx="58201" cy="58201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709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rc161"/>
            <p:cNvSpPr/>
            <p:nvPr/>
          </p:nvSpPr>
          <p:spPr>
            <a:xfrm>
              <a:off x="8789857" y="620134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pl162"/>
            <p:cNvSpPr/>
            <p:nvPr/>
          </p:nvSpPr>
          <p:spPr>
            <a:xfrm>
              <a:off x="8811803" y="631107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3"/>
            <p:cNvSpPr/>
            <p:nvPr/>
          </p:nvSpPr>
          <p:spPr>
            <a:xfrm>
              <a:off x="8870485" y="6281974"/>
              <a:ext cx="58201" cy="58201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709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tx164"/>
            <p:cNvSpPr/>
            <p:nvPr/>
          </p:nvSpPr>
          <p:spPr>
            <a:xfrm>
              <a:off x="8351922" y="6277425"/>
              <a:ext cx="386059" cy="672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Declining</a:t>
              </a:r>
            </a:p>
          </p:txBody>
        </p:sp>
        <p:sp>
          <p:nvSpPr>
            <p:cNvPr id="166" name="tx165"/>
            <p:cNvSpPr/>
            <p:nvPr/>
          </p:nvSpPr>
          <p:spPr>
            <a:xfrm>
              <a:off x="9061189" y="6277425"/>
              <a:ext cx="433059" cy="672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Increasing</a:t>
              </a:r>
            </a:p>
          </p:txBody>
        </p:sp>
        <p:sp>
          <p:nvSpPr>
            <p:cNvPr id="167" name="tx166"/>
            <p:cNvSpPr/>
            <p:nvPr/>
          </p:nvSpPr>
          <p:spPr>
            <a:xfrm>
              <a:off x="5894971" y="1105542"/>
              <a:ext cx="3308482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Most shifted species in the 500-species extension</a:t>
              </a:r>
            </a:p>
          </p:txBody>
        </p:sp>
        <p:sp>
          <p:nvSpPr>
            <p:cNvPr id="168" name="tx167"/>
            <p:cNvSpPr/>
            <p:nvPr/>
          </p:nvSpPr>
          <p:spPr>
            <a:xfrm>
              <a:off x="527371" y="795751"/>
              <a:ext cx="331561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Trend classification and the strongest 500-species temporal shifts</a:t>
              </a:r>
            </a:p>
          </p:txBody>
        </p:sp>
        <p:sp>
          <p:nvSpPr>
            <p:cNvPr id="169" name="tx168"/>
            <p:cNvSpPr/>
            <p:nvPr/>
          </p:nvSpPr>
          <p:spPr>
            <a:xfrm>
              <a:off x="527371" y="604140"/>
              <a:ext cx="2347722" cy="1078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8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Species-level winners and losers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2026-07-14T22:16:10Z</dcterms:modified>
  <cp:category/>
</cp:coreProperties>
</file>