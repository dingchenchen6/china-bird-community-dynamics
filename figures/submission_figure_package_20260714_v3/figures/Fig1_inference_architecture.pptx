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132515" y="228600"/>
            <a:ext cx="9926664" cy="6400800"/>
            <a:chOff x="1132515" y="228600"/>
            <a:chExt cx="9926664" cy="6400800"/>
          </a:xfrm>
        </p:grpSpPr>
        <p:sp>
          <p:nvSpPr>
            <p:cNvPr id="3" name="rc3"/>
            <p:cNvSpPr/>
            <p:nvPr/>
          </p:nvSpPr>
          <p:spPr>
            <a:xfrm>
              <a:off x="1132515" y="228600"/>
              <a:ext cx="9926664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1059179" y="228600"/>
              <a:ext cx="0" cy="6400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202104" y="298189"/>
              <a:ext cx="9787486" cy="4185645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202104" y="4483834"/>
              <a:ext cx="9787486" cy="20759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8007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577205" y="1474067"/>
              <a:ext cx="1370965" cy="1973021"/>
            </a:xfrm>
            <a:prstGeom prst="rect">
              <a:avLst/>
            </a:prstGeom>
            <a:solidFill>
              <a:srgbClr val="E7F1F7">
                <a:alpha val="100000"/>
              </a:srgbClr>
            </a:solidFill>
            <a:ln w="9485" cap="flat">
              <a:solidFill>
                <a:srgbClr val="6F7B8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2815134" y="1639502"/>
              <a:ext cx="895106" cy="637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7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Occurrence evidence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2941779" y="2415841"/>
              <a:ext cx="641817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7.49 million records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2877954" y="2509177"/>
              <a:ext cx="769467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1,426 recorded species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2655800" y="2602514"/>
              <a:ext cx="1213774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3.15 million breeding-season records</a:t>
              </a:r>
            </a:p>
          </p:txBody>
        </p:sp>
        <p:sp>
          <p:nvSpPr>
            <p:cNvPr id="12" name="rc12"/>
            <p:cNvSpPr/>
            <p:nvPr/>
          </p:nvSpPr>
          <p:spPr>
            <a:xfrm>
              <a:off x="4270750" y="1474067"/>
              <a:ext cx="1370965" cy="1973021"/>
            </a:xfrm>
            <a:prstGeom prst="rect">
              <a:avLst/>
            </a:prstGeom>
            <a:solidFill>
              <a:srgbClr val="F0ECF7">
                <a:alpha val="100000"/>
              </a:srgbClr>
            </a:solidFill>
            <a:ln w="9485" cap="flat">
              <a:solidFill>
                <a:srgbClr val="6F7B8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tx13"/>
            <p:cNvSpPr/>
            <p:nvPr/>
          </p:nvSpPr>
          <p:spPr>
            <a:xfrm>
              <a:off x="4653795" y="1639502"/>
              <a:ext cx="604875" cy="637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7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Survey design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4573602" y="2415841"/>
              <a:ext cx="765261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1,247 100-km grid cells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4557143" y="2509177"/>
              <a:ext cx="798179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Five periods, 2000-2024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4472744" y="2602514"/>
              <a:ext cx="966978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Effort and duration covariates</a:t>
              </a:r>
            </a:p>
          </p:txBody>
        </p:sp>
        <p:sp>
          <p:nvSpPr>
            <p:cNvPr id="17" name="rc17"/>
            <p:cNvSpPr/>
            <p:nvPr/>
          </p:nvSpPr>
          <p:spPr>
            <a:xfrm>
              <a:off x="6044940" y="910347"/>
              <a:ext cx="1693545" cy="1409301"/>
            </a:xfrm>
            <a:prstGeom prst="rect">
              <a:avLst/>
            </a:prstGeom>
            <a:solidFill>
              <a:srgbClr val="F6E8DD">
                <a:alpha val="100000"/>
              </a:srgbClr>
            </a:solidFill>
            <a:ln w="9485" cap="flat">
              <a:solidFill>
                <a:srgbClr val="6F7B8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6431815" y="1075782"/>
              <a:ext cx="919794" cy="637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7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Primary spatial model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6484393" y="1570260"/>
              <a:ext cx="814638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200-species stMsPGOcc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491571" y="1663597"/>
              <a:ext cx="800282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NNGP + temporal AR(1)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369270" y="1756933"/>
              <a:ext cx="1044884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4 chains; maximum R-hat 1.039</a:t>
              </a:r>
            </a:p>
          </p:txBody>
        </p:sp>
        <p:sp>
          <p:nvSpPr>
            <p:cNvPr id="22" name="rc22"/>
            <p:cNvSpPr/>
            <p:nvPr/>
          </p:nvSpPr>
          <p:spPr>
            <a:xfrm>
              <a:off x="6044940" y="2695462"/>
              <a:ext cx="1693545" cy="1409301"/>
            </a:xfrm>
            <a:prstGeom prst="rect">
              <a:avLst/>
            </a:prstGeom>
            <a:solidFill>
              <a:srgbClr val="FBEEE6">
                <a:alpha val="100000"/>
              </a:srgbClr>
            </a:solidFill>
            <a:ln w="9485" cap="flat">
              <a:solidFill>
                <a:srgbClr val="6F7B8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tx23"/>
            <p:cNvSpPr/>
            <p:nvPr/>
          </p:nvSpPr>
          <p:spPr>
            <a:xfrm>
              <a:off x="6505790" y="2860897"/>
              <a:ext cx="771845" cy="637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7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Breadth extension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6502910" y="3355375"/>
              <a:ext cx="777605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500-species tMsPGOcc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6426832" y="3448712"/>
              <a:ext cx="929761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Temporal AR(1), non-spatial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603677" y="3542048"/>
              <a:ext cx="576072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R-hat unavailable</a:t>
              </a:r>
            </a:p>
          </p:txBody>
        </p:sp>
        <p:sp>
          <p:nvSpPr>
            <p:cNvPr id="27" name="rc27"/>
            <p:cNvSpPr/>
            <p:nvPr/>
          </p:nvSpPr>
          <p:spPr>
            <a:xfrm>
              <a:off x="8141710" y="1474067"/>
              <a:ext cx="2258060" cy="1973021"/>
            </a:xfrm>
            <a:prstGeom prst="rect">
              <a:avLst/>
            </a:prstGeom>
            <a:solidFill>
              <a:srgbClr val="E7F2EA">
                <a:alpha val="100000"/>
              </a:srgbClr>
            </a:solidFill>
            <a:ln w="9485" cap="flat">
              <a:solidFill>
                <a:srgbClr val="6F7B8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tx28"/>
            <p:cNvSpPr/>
            <p:nvPr/>
          </p:nvSpPr>
          <p:spPr>
            <a:xfrm>
              <a:off x="8646205" y="1639502"/>
              <a:ext cx="1249070" cy="637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7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Posterior ecological evidence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8474618" y="2415841"/>
              <a:ext cx="1592244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Taxonomic, functional and phylogenetic diversity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462319" y="2509177"/>
              <a:ext cx="1616842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Temporal beta decomposition and species trends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8546535" y="2602514"/>
              <a:ext cx="1448409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Detection bias, traits and driver associations</a:t>
              </a:r>
            </a:p>
          </p:txBody>
        </p:sp>
        <p:sp>
          <p:nvSpPr>
            <p:cNvPr id="32" name="pl32"/>
            <p:cNvSpPr/>
            <p:nvPr/>
          </p:nvSpPr>
          <p:spPr>
            <a:xfrm>
              <a:off x="4012686" y="2460578"/>
              <a:ext cx="193548" cy="0"/>
            </a:xfrm>
            <a:custGeom>
              <a:avLst/>
              <a:pathLst>
                <a:path w="193548" h="0">
                  <a:moveTo>
                    <a:pt x="0" y="0"/>
                  </a:moveTo>
                  <a:lnTo>
                    <a:pt x="193548" y="0"/>
                  </a:lnTo>
                </a:path>
              </a:pathLst>
            </a:custGeom>
            <a:ln w="14905" cap="flat">
              <a:solidFill>
                <a:srgbClr val="667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156351" y="2431778"/>
              <a:ext cx="49883" cy="57599"/>
            </a:xfrm>
            <a:custGeom>
              <a:avLst/>
              <a:pathLst>
                <a:path w="49883" h="57599">
                  <a:moveTo>
                    <a:pt x="0" y="57599"/>
                  </a:moveTo>
                  <a:lnTo>
                    <a:pt x="49883" y="28799"/>
                  </a:lnTo>
                  <a:lnTo>
                    <a:pt x="0" y="0"/>
                  </a:lnTo>
                </a:path>
              </a:pathLst>
            </a:custGeom>
            <a:ln w="14905" cap="flat">
              <a:solidFill>
                <a:srgbClr val="667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06231" y="1661974"/>
              <a:ext cx="274193" cy="469767"/>
            </a:xfrm>
            <a:custGeom>
              <a:avLst/>
              <a:pathLst>
                <a:path w="274193" h="469767">
                  <a:moveTo>
                    <a:pt x="0" y="469767"/>
                  </a:moveTo>
                  <a:lnTo>
                    <a:pt x="274193" y="0"/>
                  </a:lnTo>
                </a:path>
              </a:pathLst>
            </a:custGeom>
            <a:ln w="14905" cap="flat">
              <a:solidFill>
                <a:srgbClr val="667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930405" y="1661974"/>
              <a:ext cx="50018" cy="57599"/>
            </a:xfrm>
            <a:custGeom>
              <a:avLst/>
              <a:pathLst>
                <a:path w="50018" h="57599">
                  <a:moveTo>
                    <a:pt x="49746" y="57599"/>
                  </a:moveTo>
                  <a:lnTo>
                    <a:pt x="50018" y="0"/>
                  </a:lnTo>
                  <a:lnTo>
                    <a:pt x="0" y="28563"/>
                  </a:lnTo>
                </a:path>
              </a:pathLst>
            </a:custGeom>
            <a:ln w="14905" cap="flat">
              <a:solidFill>
                <a:srgbClr val="667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706231" y="2789415"/>
              <a:ext cx="274193" cy="610697"/>
            </a:xfrm>
            <a:custGeom>
              <a:avLst/>
              <a:pathLst>
                <a:path w="274193" h="610697">
                  <a:moveTo>
                    <a:pt x="0" y="0"/>
                  </a:moveTo>
                  <a:lnTo>
                    <a:pt x="274193" y="610697"/>
                  </a:lnTo>
                </a:path>
              </a:pathLst>
            </a:custGeom>
            <a:ln w="14905" cap="flat">
              <a:solidFill>
                <a:srgbClr val="667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933719" y="3342809"/>
              <a:ext cx="52546" cy="57303"/>
            </a:xfrm>
            <a:custGeom>
              <a:avLst/>
              <a:pathLst>
                <a:path w="52546" h="57303">
                  <a:moveTo>
                    <a:pt x="0" y="23592"/>
                  </a:moveTo>
                  <a:lnTo>
                    <a:pt x="46705" y="57303"/>
                  </a:lnTo>
                  <a:lnTo>
                    <a:pt x="52546" y="0"/>
                  </a:lnTo>
                </a:path>
              </a:pathLst>
            </a:custGeom>
            <a:ln w="14905" cap="flat">
              <a:solidFill>
                <a:srgbClr val="667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7803001" y="1661974"/>
              <a:ext cx="274193" cy="469767"/>
            </a:xfrm>
            <a:custGeom>
              <a:avLst/>
              <a:pathLst>
                <a:path w="274193" h="469767">
                  <a:moveTo>
                    <a:pt x="0" y="0"/>
                  </a:moveTo>
                  <a:lnTo>
                    <a:pt x="274193" y="469767"/>
                  </a:lnTo>
                </a:path>
              </a:pathLst>
            </a:custGeom>
            <a:ln w="14905" cap="flat">
              <a:solidFill>
                <a:srgbClr val="667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027175" y="2074142"/>
              <a:ext cx="50018" cy="57599"/>
            </a:xfrm>
            <a:custGeom>
              <a:avLst/>
              <a:pathLst>
                <a:path w="50018" h="57599">
                  <a:moveTo>
                    <a:pt x="0" y="29035"/>
                  </a:moveTo>
                  <a:lnTo>
                    <a:pt x="50018" y="57599"/>
                  </a:lnTo>
                  <a:lnTo>
                    <a:pt x="49746" y="0"/>
                  </a:lnTo>
                </a:path>
              </a:pathLst>
            </a:custGeom>
            <a:ln w="14905" cap="flat">
              <a:solidFill>
                <a:srgbClr val="667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7803001" y="2789415"/>
              <a:ext cx="274193" cy="610697"/>
            </a:xfrm>
            <a:custGeom>
              <a:avLst/>
              <a:pathLst>
                <a:path w="274193" h="610697">
                  <a:moveTo>
                    <a:pt x="0" y="610697"/>
                  </a:moveTo>
                  <a:lnTo>
                    <a:pt x="274193" y="0"/>
                  </a:lnTo>
                </a:path>
              </a:pathLst>
            </a:custGeom>
            <a:ln w="14905" cap="flat">
              <a:solidFill>
                <a:srgbClr val="667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030489" y="2789415"/>
              <a:ext cx="52546" cy="57303"/>
            </a:xfrm>
            <a:custGeom>
              <a:avLst/>
              <a:pathLst>
                <a:path w="52546" h="57303">
                  <a:moveTo>
                    <a:pt x="52546" y="57303"/>
                  </a:moveTo>
                  <a:lnTo>
                    <a:pt x="46705" y="0"/>
                  </a:lnTo>
                  <a:lnTo>
                    <a:pt x="0" y="33710"/>
                  </a:lnTo>
                </a:path>
              </a:pathLst>
            </a:custGeom>
            <a:ln w="14905" cap="flat">
              <a:solidFill>
                <a:srgbClr val="66737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tx42"/>
            <p:cNvSpPr/>
            <p:nvPr/>
          </p:nvSpPr>
          <p:spPr>
            <a:xfrm>
              <a:off x="2093335" y="460261"/>
              <a:ext cx="924184" cy="640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Evidence architecture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30198" y="334741"/>
              <a:ext cx="56509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4" name="rc44"/>
            <p:cNvSpPr/>
            <p:nvPr/>
          </p:nvSpPr>
          <p:spPr>
            <a:xfrm>
              <a:off x="2093335" y="4699825"/>
              <a:ext cx="8870950" cy="17454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2304548" y="4779164"/>
              <a:ext cx="2112130" cy="793384"/>
            </a:xfrm>
            <a:prstGeom prst="rect">
              <a:avLst/>
            </a:prstGeom>
            <a:solidFill>
              <a:srgbClr val="B8D8EB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4416679" y="4779164"/>
              <a:ext cx="2112130" cy="793384"/>
            </a:xfrm>
            <a:prstGeom prst="rect">
              <a:avLst/>
            </a:prstGeom>
            <a:solidFill>
              <a:srgbClr val="B8D8EB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6528810" y="4779164"/>
              <a:ext cx="2112130" cy="793384"/>
            </a:xfrm>
            <a:prstGeom prst="rect">
              <a:avLst/>
            </a:prstGeom>
            <a:solidFill>
              <a:srgbClr val="B8D8EB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8640941" y="4779164"/>
              <a:ext cx="2112130" cy="793384"/>
            </a:xfrm>
            <a:prstGeom prst="rect">
              <a:avLst/>
            </a:prstGeom>
            <a:solidFill>
              <a:srgbClr val="F6DFC2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2304548" y="5572548"/>
              <a:ext cx="2112130" cy="793384"/>
            </a:xfrm>
            <a:prstGeom prst="rect">
              <a:avLst/>
            </a:prstGeom>
            <a:solidFill>
              <a:srgbClr val="E5E7E9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4416679" y="5572548"/>
              <a:ext cx="2112130" cy="793384"/>
            </a:xfrm>
            <a:prstGeom prst="rect">
              <a:avLst/>
            </a:prstGeom>
            <a:solidFill>
              <a:srgbClr val="E7D5E2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528810" y="5572548"/>
              <a:ext cx="2112130" cy="793384"/>
            </a:xfrm>
            <a:prstGeom prst="rect">
              <a:avLst/>
            </a:prstGeom>
            <a:solidFill>
              <a:srgbClr val="E7D5E2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8640941" y="5572548"/>
              <a:ext cx="2112130" cy="793384"/>
            </a:xfrm>
            <a:prstGeom prst="rect">
              <a:avLst/>
            </a:prstGeom>
            <a:solidFill>
              <a:srgbClr val="F6DFC2">
                <a:alpha val="100000"/>
              </a:srgbClr>
            </a:solidFill>
            <a:ln w="21681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tx53"/>
            <p:cNvSpPr/>
            <p:nvPr/>
          </p:nvSpPr>
          <p:spPr>
            <a:xfrm>
              <a:off x="3233100" y="5149292"/>
              <a:ext cx="255026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5345231" y="5149292"/>
              <a:ext cx="255026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7457362" y="5149292"/>
              <a:ext cx="255026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Primary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9448107" y="5149292"/>
              <a:ext cx="497799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Complete-case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3099324" y="5942677"/>
              <a:ext cx="522579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Descriptive only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209397" y="5942677"/>
              <a:ext cx="526694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Breadth support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321528" y="5942677"/>
              <a:ext cx="526694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Breadth support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9572511" y="5942677"/>
              <a:ext cx="248991" cy="531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583" i="0" b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 = 200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1289497" y="5941397"/>
              <a:ext cx="787389" cy="556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500-species temporal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1371061" y="5148012"/>
              <a:ext cx="705825" cy="556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200-species spatial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3070292" y="6461719"/>
              <a:ext cx="580644" cy="556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Spatial patterns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100675" y="6461719"/>
              <a:ext cx="744138" cy="556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National trajectories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7309550" y="6461719"/>
              <a:ext cx="550651" cy="556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Species trends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9367914" y="6461719"/>
              <a:ext cx="658185" cy="556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1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Trait associations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2093335" y="4592133"/>
              <a:ext cx="812170" cy="630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90" i="0" b="1">
                  <a:solidFill>
                    <a:srgbClr val="202A33">
                      <a:alpha val="100000"/>
                    </a:srgbClr>
                  </a:solidFill>
                  <a:latin typeface="Helvetica"/>
                  <a:cs typeface="Helvetica"/>
                </a:rPr>
                <a:t>Inference boundary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1227409" y="4507733"/>
              <a:ext cx="62087" cy="73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2026-07-14T22:13:44Z</dcterms:modified>
  <cp:category/>
</cp:coreProperties>
</file>